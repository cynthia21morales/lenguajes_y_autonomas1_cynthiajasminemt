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6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82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33D1D-1C4A-433E-AACA-DB651184C345}" type="datetimeFigureOut">
              <a:rPr lang="es-MX" smtClean="0"/>
              <a:t>16/03/2026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569DD-773E-4932-8176-44FE926139A2}" type="slidenum">
              <a:rPr lang="es-MX" smtClean="0"/>
              <a:t>‹Nº›</a:t>
            </a:fld>
            <a:endParaRPr lang="es-MX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1024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33D1D-1C4A-433E-AACA-DB651184C345}" type="datetimeFigureOut">
              <a:rPr lang="es-MX" smtClean="0"/>
              <a:t>16/03/2026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569DD-773E-4932-8176-44FE926139A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170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33D1D-1C4A-433E-AACA-DB651184C345}" type="datetimeFigureOut">
              <a:rPr lang="es-MX" smtClean="0"/>
              <a:t>16/03/2026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569DD-773E-4932-8176-44FE926139A2}" type="slidenum">
              <a:rPr lang="es-MX" smtClean="0"/>
              <a:t>‹Nº›</a:t>
            </a:fld>
            <a:endParaRPr lang="es-MX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0881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33D1D-1C4A-433E-AACA-DB651184C345}" type="datetimeFigureOut">
              <a:rPr lang="es-MX" smtClean="0"/>
              <a:t>16/03/2026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569DD-773E-4932-8176-44FE926139A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44476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33D1D-1C4A-433E-AACA-DB651184C345}" type="datetimeFigureOut">
              <a:rPr lang="es-MX" smtClean="0"/>
              <a:t>16/03/2026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569DD-773E-4932-8176-44FE926139A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49190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33D1D-1C4A-433E-AACA-DB651184C345}" type="datetimeFigureOut">
              <a:rPr lang="es-MX" smtClean="0"/>
              <a:t>16/03/2026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569DD-773E-4932-8176-44FE926139A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6957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33D1D-1C4A-433E-AACA-DB651184C345}" type="datetimeFigureOut">
              <a:rPr lang="es-MX" smtClean="0"/>
              <a:t>16/03/2026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569DD-773E-4932-8176-44FE926139A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41749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C533D1D-1C4A-433E-AACA-DB651184C345}" type="datetimeFigureOut">
              <a:rPr lang="es-MX" smtClean="0"/>
              <a:t>16/03/2026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9569DD-773E-4932-8176-44FE926139A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19546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33D1D-1C4A-433E-AACA-DB651184C345}" type="datetimeFigureOut">
              <a:rPr lang="es-MX" smtClean="0"/>
              <a:t>16/03/2026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569DD-773E-4932-8176-44FE926139A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77379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33D1D-1C4A-433E-AACA-DB651184C345}" type="datetimeFigureOut">
              <a:rPr lang="es-MX" smtClean="0"/>
              <a:t>16/03/2026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569DD-773E-4932-8176-44FE926139A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33050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33D1D-1C4A-433E-AACA-DB651184C345}" type="datetimeFigureOut">
              <a:rPr lang="es-MX" smtClean="0"/>
              <a:t>16/03/2026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569DD-773E-4932-8176-44FE926139A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73648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C533D1D-1C4A-433E-AACA-DB651184C345}" type="datetimeFigureOut">
              <a:rPr lang="es-MX" smtClean="0"/>
              <a:t>16/03/2026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D9569DD-773E-4932-8176-44FE926139A2}" type="slidenum">
              <a:rPr lang="es-MX" smtClean="0"/>
              <a:t>‹Nº›</a:t>
            </a:fld>
            <a:endParaRPr lang="es-MX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641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6C26A55-A5C7-5675-67B2-C14C8391B2A3}"/>
              </a:ext>
            </a:extLst>
          </p:cNvPr>
          <p:cNvSpPr txBox="1"/>
          <p:nvPr/>
        </p:nvSpPr>
        <p:spPr>
          <a:xfrm>
            <a:off x="1014544" y="1961844"/>
            <a:ext cx="4288099" cy="3456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Nombre del alumno: </a:t>
            </a:r>
            <a:endParaRPr lang="es-MX" sz="16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Cynthia Jasmine Morales Torres</a:t>
            </a:r>
            <a:endParaRPr lang="es-MX" sz="16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Numero de control</a:t>
            </a:r>
            <a:r>
              <a:rPr lang="es-MX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s-MX" sz="16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231260014</a:t>
            </a:r>
            <a:endParaRPr lang="es-MX" sz="16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Semestre:  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Sexto semestre 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Especialidad: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Ingeniería en Sistemas Computacionales.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C5E26DF-37B8-4C93-1F7D-859661DB35A8}"/>
              </a:ext>
            </a:extLst>
          </p:cNvPr>
          <p:cNvSpPr txBox="1"/>
          <p:nvPr/>
        </p:nvSpPr>
        <p:spPr>
          <a:xfrm>
            <a:off x="5899884" y="1995262"/>
            <a:ext cx="6110859" cy="3425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Nombre del docente: 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Ing. Francisco Javier Mingo Velázquez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Materia: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Lenguajes y Autómatas 1</a:t>
            </a:r>
            <a:endParaRPr lang="es-MX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Nombre del trabajo: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2.3 Ejercicios (operaciones con lenguajes operaciones como la unión, concatenación de cadenas) 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Fecha de entrega: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19/02/2026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01BBC7D-9677-0854-B161-E583DC45866E}"/>
              </a:ext>
            </a:extLst>
          </p:cNvPr>
          <p:cNvSpPr txBox="1"/>
          <p:nvPr/>
        </p:nvSpPr>
        <p:spPr>
          <a:xfrm>
            <a:off x="3046476" y="5423776"/>
            <a:ext cx="5908838" cy="76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Frontera Comalapa, Chiapas. A 19 de Febrero del 2026.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EB28AB3-8463-5692-4A21-B828054F24E7}"/>
              </a:ext>
            </a:extLst>
          </p:cNvPr>
          <p:cNvSpPr txBox="1"/>
          <p:nvPr/>
        </p:nvSpPr>
        <p:spPr>
          <a:xfrm>
            <a:off x="3132886" y="825717"/>
            <a:ext cx="5658085" cy="76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Instituto Tecnológico de Frontera Comalapa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Modalidad Mixta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C2AB2D82-F674-42A0-1115-4FEE9FAE8C3A}"/>
              </a:ext>
            </a:extLst>
          </p:cNvPr>
          <p:cNvGrpSpPr/>
          <p:nvPr/>
        </p:nvGrpSpPr>
        <p:grpSpPr>
          <a:xfrm>
            <a:off x="2860812" y="103962"/>
            <a:ext cx="5897944" cy="637319"/>
            <a:chOff x="0" y="0"/>
            <a:chExt cx="5454045" cy="554990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F10303F2-9C9B-4BED-A3BC-49E6BB5DA5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0" r="98790">
                          <a14:foregroundMark x1="69758" y1="22660" x2="69758" y2="22660"/>
                          <a14:foregroundMark x1="74194" y1="18227" x2="74194" y2="18227"/>
                          <a14:foregroundMark x1="84274" y1="16256" x2="84274" y2="16256"/>
                          <a14:foregroundMark x1="92339" y1="19704" x2="92339" y2="19704"/>
                          <a14:foregroundMark x1="95968" y1="25123" x2="95968" y2="25123"/>
                          <a14:foregroundMark x1="90323" y1="27094" x2="90323" y2="27094"/>
                          <a14:foregroundMark x1="80645" y1="21182" x2="80645" y2="21182"/>
                          <a14:foregroundMark x1="75806" y1="30542" x2="75806" y2="30542"/>
                          <a14:foregroundMark x1="75806" y1="36946" x2="75806" y2="36946"/>
                          <a14:foregroundMark x1="80242" y1="36453" x2="80242" y2="36453"/>
                          <a14:foregroundMark x1="80645" y1="30542" x2="80645" y2="30542"/>
                          <a14:foregroundMark x1="84677" y1="30049" x2="84677" y2="30049"/>
                          <a14:foregroundMark x1="84677" y1="36946" x2="84677" y2="36946"/>
                          <a14:foregroundMark x1="75403" y1="42857" x2="75403" y2="42857"/>
                          <a14:foregroundMark x1="81048" y1="46305" x2="81048" y2="46305"/>
                          <a14:foregroundMark x1="70161" y1="52217" x2="70161" y2="52217"/>
                          <a14:foregroundMark x1="77419" y1="51724" x2="77419" y2="51724"/>
                          <a14:foregroundMark x1="81452" y1="52217" x2="81452" y2="52217"/>
                          <a14:foregroundMark x1="85484" y1="51232" x2="85484" y2="51232"/>
                          <a14:foregroundMark x1="90323" y1="42365" x2="90323" y2="4236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873"/>
            <a:stretch/>
          </p:blipFill>
          <p:spPr bwMode="auto">
            <a:xfrm>
              <a:off x="4486940" y="0"/>
              <a:ext cx="967105" cy="55499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479B5B4E-2C21-E992-59AA-DB9817F50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3442" y="0"/>
              <a:ext cx="1221740" cy="539115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31B1D237-4290-377F-2FB3-07DCC2DE9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2615565" cy="541655"/>
            </a:xfrm>
            <a:prstGeom prst="rect">
              <a:avLst/>
            </a:prstGeom>
          </p:spPr>
        </p:pic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271E8372-B731-D7C9-19FC-3F607DB6FAE1}"/>
                </a:ext>
              </a:extLst>
            </p:cNvPr>
            <p:cNvCxnSpPr/>
            <p:nvPr/>
          </p:nvCxnSpPr>
          <p:spPr>
            <a:xfrm>
              <a:off x="2849526" y="53163"/>
              <a:ext cx="0" cy="43593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51001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75A5F9-6750-4D8B-C804-1552B7A6C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C1277F-B8DB-FC2E-5796-BCAB63AE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En esta sección se resolvieron ejercicios complementarios con el propósito de reforzar los conceptos previamente estudiados. Se trabajaron casos adicionales de concatenación, potencias y cerraduras, incluyendo situaciones especiales como el uso del lenguaje vacío y la potencia cero.</a:t>
            </a:r>
          </a:p>
          <a:p>
            <a:pPr marL="0" indent="0" algn="just">
              <a:buNone/>
            </a:pPr>
            <a:r>
              <a:rPr lang="es-MX" dirty="0"/>
              <a:t>Estos ejercicios permitieron profundizar en la aplicación práctica de las definiciones formales.</a:t>
            </a:r>
          </a:p>
          <a:p>
            <a:pPr marL="0" indent="0" algn="just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55503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DC531-B9EC-2679-C11E-4CCB3DCF1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Justificación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7121EEE-DA02-1B30-75CA-B2C04858B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Resolver ejercicios adicionales ayuda a desarrollar mayor seguridad y precisión al momento de aplicar las operaciones sobre lenguajes. La práctica constante favorece el razonamiento lógico y la correcta interpretación de los resultados, especialmente cuando intervienen casos particulares que pueden generar dudas si no se analizan con cuidado.</a:t>
            </a:r>
          </a:p>
        </p:txBody>
      </p:sp>
    </p:spTree>
    <p:extLst>
      <p:ext uri="{BB962C8B-B14F-4D97-AF65-F5344CB8AC3E}">
        <p14:creationId xmlns:p14="http://schemas.microsoft.com/office/powerpoint/2010/main" val="2598786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E1CD86-F6E6-83BB-9F02-50DDACEDF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Ejercicio 1: Concatenación de lenguajes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EC3DC9E-CB75-EA65-9A53-A19C0E05DF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MX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s-MX" i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nor/>
                      </m:rPr>
                      <a:rPr lang="es-MX" smtClean="0"/>
                      <m:t>​={</m:t>
                    </m:r>
                    <m:r>
                      <m:rPr>
                        <m:nor/>
                      </m:rPr>
                      <a:rPr lang="es-MX" smtClean="0"/>
                      <m:t>a</m:t>
                    </m:r>
                    <m:r>
                      <m:rPr>
                        <m:nor/>
                      </m:rPr>
                      <a:rPr lang="es-MX" smtClean="0"/>
                      <m:t>,</m:t>
                    </m:r>
                    <m:r>
                      <m:rPr>
                        <m:nor/>
                      </m:rPr>
                      <a:rPr lang="es-MX" smtClean="0"/>
                      <m:t>aa</m:t>
                    </m:r>
                    <m:r>
                      <m:rPr>
                        <m:nor/>
                      </m:rPr>
                      <a:rPr lang="es-MX" smtClean="0"/>
                      <m:t>}</m:t>
                    </m:r>
                  </m:oMath>
                </a14:m>
                <a:endParaRPr lang="es-MX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MX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s-MX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MX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MX"/>
                      <m:t>={</m:t>
                    </m:r>
                    <m:r>
                      <m:rPr>
                        <m:nor/>
                      </m:rPr>
                      <a:rPr lang="es-MX"/>
                      <m:t>b</m:t>
                    </m:r>
                    <m:r>
                      <m:rPr>
                        <m:nor/>
                      </m:rPr>
                      <a:rPr lang="es-MX"/>
                      <m:t>}</m:t>
                    </m:r>
                  </m:oMath>
                </a14:m>
                <a:endParaRPr lang="es-MX" dirty="0"/>
              </a:p>
              <a:p>
                <a14:m>
                  <m:oMath xmlns:m="http://schemas.openxmlformats.org/officeDocument/2006/math">
                    <m:r>
                      <a:rPr lang="es-MX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MX" b="1"/>
                      <m:t>Resultado</m:t>
                    </m:r>
                    <m:r>
                      <m:rPr>
                        <m:nor/>
                      </m:rPr>
                      <a:rPr lang="es-MX" b="1"/>
                      <m:t>:</m:t>
                    </m:r>
                  </m:oMath>
                </a14:m>
                <a:endParaRPr lang="es-MX" b="1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MX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s-MX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s-MX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s-MX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lang="es-MX"/>
                      <m:t>={</m:t>
                    </m:r>
                    <m:r>
                      <m:rPr>
                        <m:nor/>
                      </m:rPr>
                      <a:rPr lang="es-MX"/>
                      <m:t>ab</m:t>
                    </m:r>
                    <m:r>
                      <m:rPr>
                        <m:nor/>
                      </m:rPr>
                      <a:rPr lang="es-MX"/>
                      <m:t>,</m:t>
                    </m:r>
                    <m:r>
                      <m:rPr>
                        <m:nor/>
                      </m:rPr>
                      <a:rPr lang="es-MX"/>
                      <m:t>aab</m:t>
                    </m:r>
                    <m:r>
                      <m:rPr>
                        <m:nor/>
                      </m:rPr>
                      <a:rPr lang="es-MX"/>
                      <m:t>}</m:t>
                    </m:r>
                  </m:oMath>
                </a14:m>
                <a:endParaRPr lang="es-MX" dirty="0"/>
              </a:p>
              <a:p>
                <a14:m>
                  <m:oMath xmlns:m="http://schemas.openxmlformats.org/officeDocument/2006/math">
                    <m:r>
                      <a:rPr lang="es-MX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es-MX" dirty="0"/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MX"/>
                      <m:t>Se</m:t>
                    </m:r>
                    <m:r>
                      <m:rPr>
                        <m:nor/>
                      </m:rPr>
                      <a:rPr lang="es-MX"/>
                      <m:t> </m:t>
                    </m:r>
                    <m:r>
                      <m:rPr>
                        <m:nor/>
                      </m:rPr>
                      <a:rPr lang="es-MX"/>
                      <m:t>concatena</m:t>
                    </m:r>
                    <m:r>
                      <m:rPr>
                        <m:nor/>
                      </m:rPr>
                      <a:rPr lang="es-MX"/>
                      <m:t> </m:t>
                    </m:r>
                    <m:r>
                      <m:rPr>
                        <m:nor/>
                      </m:rPr>
                      <a:rPr lang="es-MX"/>
                      <m:t>cada</m:t>
                    </m:r>
                    <m:r>
                      <m:rPr>
                        <m:nor/>
                      </m:rPr>
                      <a:rPr lang="es-MX"/>
                      <m:t> </m:t>
                    </m:r>
                    <m:r>
                      <m:rPr>
                        <m:nor/>
                      </m:rPr>
                      <a:rPr lang="es-MX"/>
                      <m:t>elemento</m:t>
                    </m:r>
                    <m:r>
                      <m:rPr>
                        <m:nor/>
                      </m:rPr>
                      <a:rPr lang="es-MX"/>
                      <m:t> </m:t>
                    </m:r>
                    <m:r>
                      <m:rPr>
                        <m:nor/>
                      </m:rPr>
                      <a:rPr lang="es-MX"/>
                      <m:t>de</m:t>
                    </m:r>
                    <m:r>
                      <m:rPr>
                        <m:nor/>
                      </m:rPr>
                      <a:rPr lang="es-MX" b="0" i="0" smtClean="0"/>
                      <m:t> </m:t>
                    </m:r>
                    <m:sSup>
                      <m:sSupPr>
                        <m:ctrlPr>
                          <a:rPr lang="es-MX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s-MX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nor/>
                      </m:rPr>
                      <a:rPr lang="es-MX"/>
                      <m:t>​ </m:t>
                    </m:r>
                    <m:r>
                      <m:rPr>
                        <m:nor/>
                      </m:rPr>
                      <a:rPr lang="es-MX"/>
                      <m:t>con</m:t>
                    </m:r>
                    <m:r>
                      <m:rPr>
                        <m:nor/>
                      </m:rPr>
                      <a:rPr lang="es-MX"/>
                      <m:t> </m:t>
                    </m:r>
                    <m:r>
                      <m:rPr>
                        <m:nor/>
                      </m:rPr>
                      <a:rPr lang="es-MX"/>
                      <m:t>el</m:t>
                    </m:r>
                    <m:r>
                      <m:rPr>
                        <m:nor/>
                      </m:rPr>
                      <a:rPr lang="es-MX"/>
                      <m:t> ú</m:t>
                    </m:r>
                    <m:r>
                      <m:rPr>
                        <m:nor/>
                      </m:rPr>
                      <a:rPr lang="es-MX"/>
                      <m:t>nico</m:t>
                    </m:r>
                    <m:r>
                      <m:rPr>
                        <m:nor/>
                      </m:rPr>
                      <a:rPr lang="es-MX"/>
                      <m:t> </m:t>
                    </m:r>
                    <m:r>
                      <m:rPr>
                        <m:nor/>
                      </m:rPr>
                      <a:rPr lang="es-MX"/>
                      <m:t>elemento</m:t>
                    </m:r>
                    <m:r>
                      <m:rPr>
                        <m:nor/>
                      </m:rPr>
                      <a:rPr lang="es-MX"/>
                      <m:t> </m:t>
                    </m:r>
                    <m:r>
                      <m:rPr>
                        <m:nor/>
                      </m:rPr>
                      <a:rPr lang="es-MX"/>
                      <m:t>de</m:t>
                    </m:r>
                    <m:r>
                      <m:rPr>
                        <m:nor/>
                      </m:rPr>
                      <a:rPr lang="es-MX" b="0" i="0" smtClean="0"/>
                      <m:t> </m:t>
                    </m:r>
                    <m:sSup>
                      <m:sSupPr>
                        <m:ctrlPr>
                          <a:rPr lang="es-MX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s-MX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lang="es-MX"/>
                      <m:t>​. </m:t>
                    </m:r>
                    <m:r>
                      <m:rPr>
                        <m:nor/>
                      </m:rPr>
                      <a:rPr lang="es-MX"/>
                      <m:t>Por</m:t>
                    </m:r>
                    <m:r>
                      <m:rPr>
                        <m:nor/>
                      </m:rPr>
                      <a:rPr lang="es-MX"/>
                      <m:t> </m:t>
                    </m:r>
                    <m:r>
                      <m:rPr>
                        <m:nor/>
                      </m:rPr>
                      <a:rPr lang="es-MX"/>
                      <m:t>eso</m:t>
                    </m:r>
                    <m:r>
                      <m:rPr>
                        <m:nor/>
                      </m:rPr>
                      <a:rPr lang="es-MX"/>
                      <m:t> </m:t>
                    </m:r>
                    <m:r>
                      <m:rPr>
                        <m:nor/>
                      </m:rPr>
                      <a:rPr lang="es-MX"/>
                      <m:t>se</m:t>
                    </m:r>
                    <m:r>
                      <m:rPr>
                        <m:nor/>
                      </m:rPr>
                      <a:rPr lang="es-MX"/>
                      <m:t> </m:t>
                    </m:r>
                    <m:r>
                      <m:rPr>
                        <m:nor/>
                      </m:rPr>
                      <a:rPr lang="es-MX"/>
                      <m:t>obtienen</m:t>
                    </m:r>
                    <m:r>
                      <m:rPr>
                        <m:nor/>
                      </m:rPr>
                      <a:rPr lang="es-MX"/>
                      <m:t> </m:t>
                    </m:r>
                    <m:r>
                      <m:rPr>
                        <m:nor/>
                      </m:rPr>
                      <a:rPr lang="es-MX"/>
                      <m:t>dos</m:t>
                    </m:r>
                    <m:r>
                      <m:rPr>
                        <m:nor/>
                      </m:rPr>
                      <a:rPr lang="es-MX"/>
                      <m:t> </m:t>
                    </m:r>
                    <m:r>
                      <m:rPr>
                        <m:nor/>
                      </m:rPr>
                      <a:rPr lang="es-MX"/>
                      <m:t>cadenas</m:t>
                    </m:r>
                    <m:r>
                      <m:rPr>
                        <m:nor/>
                      </m:rPr>
                      <a:rPr lang="es-MX"/>
                      <m:t>: “</m:t>
                    </m:r>
                    <m:r>
                      <m:rPr>
                        <m:nor/>
                      </m:rPr>
                      <a:rPr lang="es-MX"/>
                      <m:t>ab</m:t>
                    </m:r>
                    <m:r>
                      <m:rPr>
                        <m:nor/>
                      </m:rPr>
                      <a:rPr lang="es-MX"/>
                      <m:t>” </m:t>
                    </m:r>
                    <m:r>
                      <m:rPr>
                        <m:nor/>
                      </m:rPr>
                      <a:rPr lang="es-MX"/>
                      <m:t>y</m:t>
                    </m:r>
                    <m:r>
                      <m:rPr>
                        <m:nor/>
                      </m:rPr>
                      <a:rPr lang="es-MX"/>
                      <m:t> “</m:t>
                    </m:r>
                    <m:r>
                      <m:rPr>
                        <m:nor/>
                      </m:rPr>
                      <a:rPr lang="es-MX"/>
                      <m:t>aab</m:t>
                    </m:r>
                    <m:r>
                      <m:rPr>
                        <m:nor/>
                      </m:rPr>
                      <a:rPr lang="es-MX"/>
                      <m:t>”.</m:t>
                    </m:r>
                  </m:oMath>
                </a14:m>
                <a:endParaRPr lang="es-MX" dirty="0"/>
              </a:p>
              <a:p>
                <a:endParaRPr lang="es-MX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EC3DC9E-CB75-EA65-9A53-A19C0E05DF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1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5786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5C5352-D13E-C8DD-5A71-7EE62A236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Ejercicio 2: Concatenación de lenguajes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29E47C-06FC-9694-5FD6-0B4DA4967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33600"/>
            <a:ext cx="7528560" cy="2590800"/>
          </a:xfrm>
        </p:spPr>
        <p:txBody>
          <a:bodyPr/>
          <a:lstStyle/>
          <a:p>
            <a:r>
              <a:rPr lang="es-MX" dirty="0"/>
              <a:t>Sean</a:t>
            </a:r>
            <a:br>
              <a:rPr lang="es-MX" dirty="0"/>
            </a:br>
            <a:r>
              <a:rPr lang="es-MX" dirty="0"/>
              <a:t>L</a:t>
            </a:r>
            <a:r>
              <a:rPr lang="es-MX" sz="1100" dirty="0"/>
              <a:t>1</a:t>
            </a:r>
            <a:r>
              <a:rPr lang="es-MX" dirty="0"/>
              <a:t>={0,1</a:t>
            </a:r>
            <a:br>
              <a:rPr lang="es-MX" dirty="0"/>
            </a:br>
            <a:r>
              <a:rPr lang="es-MX" dirty="0"/>
              <a:t>L</a:t>
            </a:r>
            <a:r>
              <a:rPr lang="es-MX" sz="1100" dirty="0"/>
              <a:t>2</a:t>
            </a:r>
            <a:r>
              <a:rPr lang="es-MX" dirty="0"/>
              <a:t>={00}</a:t>
            </a:r>
          </a:p>
          <a:p>
            <a:r>
              <a:rPr lang="es-MX" dirty="0"/>
              <a:t> </a:t>
            </a:r>
            <a:r>
              <a:rPr lang="es-MX" b="1" dirty="0"/>
              <a:t>Resultado:</a:t>
            </a:r>
            <a:br>
              <a:rPr lang="es-MX" dirty="0"/>
            </a:br>
            <a:r>
              <a:rPr lang="es-MX" dirty="0"/>
              <a:t>L</a:t>
            </a:r>
            <a:r>
              <a:rPr lang="es-MX" sz="1100" dirty="0"/>
              <a:t>2 </a:t>
            </a:r>
            <a:r>
              <a:rPr lang="es-MX" dirty="0"/>
              <a:t>L</a:t>
            </a:r>
            <a:r>
              <a:rPr lang="es-MX" sz="1100" dirty="0"/>
              <a:t>1 </a:t>
            </a:r>
            <a:r>
              <a:rPr lang="es-MX" dirty="0"/>
              <a:t>={000,001} </a:t>
            </a:r>
          </a:p>
          <a:p>
            <a:r>
              <a:rPr lang="es-MX" b="1" dirty="0"/>
              <a:t>Explicación:</a:t>
            </a:r>
            <a:br>
              <a:rPr lang="es-MX" dirty="0"/>
            </a:br>
            <a:r>
              <a:rPr lang="es-MX" dirty="0"/>
              <a:t>Primero se coloca “00” (porque es L</a:t>
            </a:r>
            <a:r>
              <a:rPr lang="es-MX" sz="1100" dirty="0"/>
              <a:t>2 </a:t>
            </a:r>
            <a:r>
              <a:rPr lang="es-MX" dirty="0"/>
              <a:t>L</a:t>
            </a:r>
            <a:r>
              <a:rPr lang="es-MX" sz="1100" dirty="0"/>
              <a:t>1 </a:t>
            </a:r>
            <a:r>
              <a:rPr lang="es-MX" dirty="0"/>
              <a:t>​) y después cada elemento de L</a:t>
            </a:r>
            <a:r>
              <a:rPr lang="es-MX" sz="1100" dirty="0"/>
              <a:t>1</a:t>
            </a:r>
            <a:r>
              <a:rPr lang="es-MX" dirty="0"/>
              <a:t>​.</a:t>
            </a:r>
          </a:p>
        </p:txBody>
      </p:sp>
    </p:spTree>
    <p:extLst>
      <p:ext uri="{BB962C8B-B14F-4D97-AF65-F5344CB8AC3E}">
        <p14:creationId xmlns:p14="http://schemas.microsoft.com/office/powerpoint/2010/main" val="1853946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71220F-674B-8A5C-0523-9E84FB287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Ejercicio 3: Potencia de un lenguaje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134894A-5F70-7DD7-CB0E-B0A2D7EFC0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9723120" cy="2756746"/>
              </a:xfrm>
            </p:spPr>
            <p:txBody>
              <a:bodyPr>
                <a:normAutofit/>
              </a:bodyPr>
              <a:lstStyle/>
              <a:p>
                <a:r>
                  <a:rPr lang="es-MX" dirty="0"/>
                  <a:t>Sea</a:t>
                </a:r>
                <a:br>
                  <a:rPr lang="es-MX" dirty="0"/>
                </a:br>
                <a:r>
                  <a:rPr lang="es-MX" dirty="0"/>
                  <a:t>L={ab} </a:t>
                </a:r>
              </a:p>
              <a:p>
                <a:r>
                  <a:rPr lang="es-MX" b="1" dirty="0"/>
                  <a:t>Resultado:</a:t>
                </a:r>
                <a:br>
                  <a:rPr lang="es-MX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s-MX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s-MX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s-MX" dirty="0"/>
                  <a:t>={</a:t>
                </a:r>
                <a:r>
                  <a:rPr lang="es-MX" dirty="0" err="1"/>
                  <a:t>ababab</a:t>
                </a:r>
                <a:r>
                  <a:rPr lang="es-MX" dirty="0"/>
                  <a:t>} </a:t>
                </a:r>
              </a:p>
              <a:p>
                <a:r>
                  <a:rPr lang="es-MX" b="1" dirty="0"/>
                  <a:t>Explicación:</a:t>
                </a:r>
                <a:br>
                  <a:rPr lang="es-MX" dirty="0"/>
                </a:br>
                <a:r>
                  <a:rPr lang="es-MX" dirty="0"/>
                  <a:t>La potencia 3 significa concatenar el lenguaje tres veces:</a:t>
                </a:r>
                <a:br>
                  <a:rPr lang="es-MX" dirty="0"/>
                </a:br>
                <a:r>
                  <a:rPr lang="es-MX" dirty="0"/>
                  <a:t>ab · ab · ab.</a:t>
                </a:r>
              </a:p>
              <a:p>
                <a:endParaRPr lang="es-MX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134894A-5F70-7DD7-CB0E-B0A2D7EFC0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9723120" cy="2756746"/>
              </a:xfrm>
              <a:blipFill>
                <a:blip r:embed="rId2"/>
                <a:stretch>
                  <a:fillRect l="-627" t="-243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4236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C8D57C-BE3F-7010-909E-CE5C384AA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Ejercicio 4: Potencia cero de un lenguaje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E228E74-20A1-D0E5-4078-3A17A2527C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MX" dirty="0"/>
                  <a:t>Sea</a:t>
                </a:r>
                <a:br>
                  <a:rPr lang="es-MX" dirty="0"/>
                </a:br>
                <a:r>
                  <a:rPr lang="es-MX" dirty="0"/>
                  <a:t>L={</a:t>
                </a:r>
                <a:r>
                  <a:rPr lang="es-MX" dirty="0" err="1"/>
                  <a:t>a,b</a:t>
                </a:r>
                <a:r>
                  <a:rPr lang="es-MX" dirty="0"/>
                  <a:t>} </a:t>
                </a:r>
              </a:p>
              <a:p>
                <a:r>
                  <a:rPr lang="es-MX" b="1" dirty="0"/>
                  <a:t>Resultado:</a:t>
                </a:r>
                <a:br>
                  <a:rPr lang="es-MX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s-MX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s-MX" b="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s-MX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MX" dirty="0"/>
                  <a:t>={ε}</a:t>
                </a:r>
              </a:p>
              <a:p>
                <a:br>
                  <a:rPr lang="es-MX" dirty="0"/>
                </a:br>
                <a:r>
                  <a:rPr lang="es-MX" dirty="0"/>
                  <a:t>Por definición, cualquier lenguaje elevado a la potencia cero da como resultado la cadena vacía.</a:t>
                </a:r>
              </a:p>
              <a:p>
                <a:endParaRPr lang="es-MX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E228E74-20A1-D0E5-4078-3A17A2527C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6" t="-1667" r="-54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0252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7BA7EE-3072-52D4-6473-EFA3C16D5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Ejercicio 5: Cerradura de Kleene (Estrella)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31599BA-2B14-2835-943A-75A0E45B62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6705600" cy="4023360"/>
              </a:xfrm>
            </p:spPr>
            <p:txBody>
              <a:bodyPr/>
              <a:lstStyle/>
              <a:p>
                <a:r>
                  <a:rPr lang="es-MX" dirty="0"/>
                  <a:t>Sea</a:t>
                </a:r>
                <a:br>
                  <a:rPr lang="es-MX" dirty="0"/>
                </a:br>
                <a:r>
                  <a:rPr lang="es-MX" dirty="0"/>
                  <a:t>L={</a:t>
                </a:r>
                <a:r>
                  <a:rPr lang="es-MX" dirty="0" err="1"/>
                  <a:t>aa</a:t>
                </a:r>
                <a:r>
                  <a:rPr lang="es-MX" dirty="0"/>
                  <a:t>} </a:t>
                </a:r>
              </a:p>
              <a:p>
                <a:r>
                  <a:rPr lang="es-MX" b="1" dirty="0"/>
                  <a:t>Resultado (primeros elementos):</a:t>
                </a:r>
                <a:br>
                  <a:rPr lang="es-MX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s-MX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s-MX" i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s-MX" dirty="0"/>
                  <a:t>={</a:t>
                </a:r>
                <a:r>
                  <a:rPr lang="el-GR" dirty="0"/>
                  <a:t>ε,</a:t>
                </a:r>
                <a:r>
                  <a:rPr lang="es-MX" dirty="0" err="1"/>
                  <a:t>aa,aaaa,aaaaaa</a:t>
                </a:r>
                <a:r>
                  <a:rPr lang="es-MX" dirty="0"/>
                  <a:t>,… }</a:t>
                </a:r>
              </a:p>
              <a:p>
                <a:br>
                  <a:rPr lang="es-MX" dirty="0"/>
                </a:br>
                <a:r>
                  <a:rPr lang="es-MX" dirty="0"/>
                  <a:t>La cerradura estrella permite concatenar el lenguaje cero o más veces, por eso incluye </a:t>
                </a:r>
                <a:r>
                  <a:rPr lang="el-GR" dirty="0"/>
                  <a:t>ε.</a:t>
                </a:r>
              </a:p>
              <a:p>
                <a:endParaRPr lang="es-MX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31599BA-2B14-2835-943A-75A0E45B62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6705600" cy="4023360"/>
              </a:xfrm>
              <a:blipFill>
                <a:blip r:embed="rId2"/>
                <a:stretch>
                  <a:fillRect l="-909" t="-1667" r="-236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0167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163155-6B77-BD0F-93BD-2840F9E05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Ejercicio 6: Intersección de lenguajes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13C878-792D-1FFF-B5E6-2B42B8367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998720" cy="4023360"/>
          </a:xfrm>
        </p:spPr>
        <p:txBody>
          <a:bodyPr/>
          <a:lstStyle/>
          <a:p>
            <a:r>
              <a:rPr lang="es-MX" sz="2800" dirty="0"/>
              <a:t>Sean</a:t>
            </a:r>
            <a:br>
              <a:rPr lang="es-MX" sz="2800" dirty="0"/>
            </a:br>
            <a:r>
              <a:rPr lang="es-MX" sz="2800" dirty="0"/>
              <a:t>A={</a:t>
            </a:r>
            <a:r>
              <a:rPr lang="el-GR" sz="2800" dirty="0"/>
              <a:t>ε,</a:t>
            </a:r>
            <a:r>
              <a:rPr lang="es-MX" sz="2800" dirty="0"/>
              <a:t>a} </a:t>
            </a:r>
          </a:p>
          <a:p>
            <a:r>
              <a:rPr lang="es-MX" sz="2800" dirty="0"/>
              <a:t>B={a}</a:t>
            </a:r>
          </a:p>
          <a:p>
            <a:r>
              <a:rPr lang="es-MX" sz="2800" b="1" dirty="0"/>
              <a:t>Resultado:</a:t>
            </a:r>
            <a:br>
              <a:rPr lang="es-MX" sz="2800" dirty="0"/>
            </a:br>
            <a:r>
              <a:rPr lang="es-MX" sz="2800" dirty="0"/>
              <a:t>A∩B={a}A</a:t>
            </a:r>
          </a:p>
          <a:p>
            <a:br>
              <a:rPr lang="es-MX" dirty="0"/>
            </a:br>
            <a:r>
              <a:rPr lang="es-MX" dirty="0"/>
              <a:t>La intersección contiene únicamente los elementos que aparecen en ambos conjuntos.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20525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96CD0D-7533-B552-FCF7-CBCA6EB35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Ejercicio 7: Diferencia de lenguajes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C39420-760E-6D74-4CB8-8ECA74CD1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sz="2800" dirty="0"/>
              <a:t>Sean</a:t>
            </a:r>
            <a:br>
              <a:rPr lang="es-MX" sz="2800" dirty="0"/>
            </a:br>
            <a:r>
              <a:rPr lang="es-MX" sz="2800" dirty="0"/>
              <a:t>A={</a:t>
            </a:r>
            <a:r>
              <a:rPr lang="es-MX" sz="2800" dirty="0" err="1"/>
              <a:t>a,b</a:t>
            </a:r>
            <a:r>
              <a:rPr lang="es-MX" sz="2800" dirty="0"/>
              <a:t>}</a:t>
            </a:r>
            <a:br>
              <a:rPr lang="es-MX" sz="2800" dirty="0"/>
            </a:br>
            <a:r>
              <a:rPr lang="es-MX" sz="2800" dirty="0"/>
              <a:t>B={b} </a:t>
            </a:r>
          </a:p>
          <a:p>
            <a:r>
              <a:rPr lang="es-MX" sz="2800" b="1" dirty="0"/>
              <a:t>Resultado:</a:t>
            </a:r>
            <a:br>
              <a:rPr lang="es-MX" sz="2800" dirty="0"/>
            </a:br>
            <a:r>
              <a:rPr lang="es-MX" sz="2800" dirty="0"/>
              <a:t>A−B={a}</a:t>
            </a:r>
          </a:p>
          <a:p>
            <a:br>
              <a:rPr lang="es-MX" dirty="0"/>
            </a:br>
            <a:r>
              <a:rPr lang="es-MX" dirty="0"/>
              <a:t>La diferencia conserva los elementos que están en A pero no en B.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35973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CA45F5-BFB0-6395-F2AE-E81E64DAB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Ejercicio 8: Concatenación de lenguajes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FB89C5-CA12-DEBB-B5A0-BB5A98BA9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Sean</a:t>
            </a:r>
            <a:br>
              <a:rPr lang="es-MX" dirty="0"/>
            </a:br>
            <a:r>
              <a:rPr lang="es-MX" dirty="0"/>
              <a:t>L</a:t>
            </a:r>
            <a:r>
              <a:rPr lang="es-MX" sz="1100" dirty="0"/>
              <a:t>1</a:t>
            </a:r>
            <a:r>
              <a:rPr lang="es-MX" dirty="0"/>
              <a:t>={x} </a:t>
            </a:r>
          </a:p>
          <a:p>
            <a:r>
              <a:rPr lang="es-MX" dirty="0"/>
              <a:t>L</a:t>
            </a:r>
            <a:r>
              <a:rPr lang="es-MX" sz="1100" dirty="0"/>
              <a:t>2</a:t>
            </a:r>
            <a:r>
              <a:rPr lang="es-MX" dirty="0"/>
              <a:t>={</a:t>
            </a:r>
            <a:r>
              <a:rPr lang="es-MX" dirty="0" err="1"/>
              <a:t>y,z</a:t>
            </a:r>
            <a:r>
              <a:rPr lang="es-MX" dirty="0"/>
              <a:t>} </a:t>
            </a:r>
          </a:p>
          <a:p>
            <a:r>
              <a:rPr lang="es-MX" b="1" dirty="0"/>
              <a:t>Resultado:</a:t>
            </a:r>
            <a:br>
              <a:rPr lang="es-MX" dirty="0"/>
            </a:br>
            <a:r>
              <a:rPr lang="es-MX" dirty="0"/>
              <a:t>L</a:t>
            </a:r>
            <a:r>
              <a:rPr lang="es-MX" sz="1100" dirty="0"/>
              <a:t>2</a:t>
            </a:r>
            <a:r>
              <a:rPr lang="es-MX" dirty="0"/>
              <a:t>L</a:t>
            </a:r>
            <a:r>
              <a:rPr lang="es-MX" sz="1100" dirty="0"/>
              <a:t>1</a:t>
            </a:r>
            <a:r>
              <a:rPr lang="es-MX" dirty="0"/>
              <a:t>={</a:t>
            </a:r>
            <a:r>
              <a:rPr lang="es-MX" dirty="0" err="1"/>
              <a:t>yx,zx</a:t>
            </a:r>
            <a:r>
              <a:rPr lang="es-MX" dirty="0"/>
              <a:t>}</a:t>
            </a:r>
          </a:p>
          <a:p>
            <a:br>
              <a:rPr lang="es-MX" dirty="0"/>
            </a:br>
            <a:r>
              <a:rPr lang="es-MX" dirty="0"/>
              <a:t>Se toma cada elemento de L</a:t>
            </a:r>
            <a:r>
              <a:rPr lang="es-MX" sz="1600" dirty="0"/>
              <a:t>2</a:t>
            </a:r>
            <a:r>
              <a:rPr lang="es-MX" dirty="0"/>
              <a:t>​ y se concatena con “x”.</a:t>
            </a:r>
          </a:p>
          <a:p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819110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037EB7-70C4-009C-7AEB-7CC9F6A78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Ejercicio 9: Cerradura de Kleene del lenguaje vacío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87D5872-93F5-D80A-AC6B-AAE6A1E6CD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4998720" cy="4023360"/>
              </a:xfrm>
            </p:spPr>
            <p:txBody>
              <a:bodyPr>
                <a:normAutofit/>
              </a:bodyPr>
              <a:lstStyle/>
              <a:p>
                <a:r>
                  <a:rPr lang="es-MX" sz="2400" dirty="0"/>
                  <a:t>Sea</a:t>
                </a:r>
                <a:br>
                  <a:rPr lang="es-MX" sz="2400" dirty="0"/>
                </a:br>
                <a:r>
                  <a:rPr lang="es-MX" sz="2400" dirty="0"/>
                  <a:t>L=∅</a:t>
                </a:r>
              </a:p>
              <a:p>
                <a:r>
                  <a:rPr lang="es-MX" sz="2400" b="1" dirty="0"/>
                  <a:t>Resultado:</a:t>
                </a:r>
                <a:br>
                  <a:rPr lang="es-MX" sz="2400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s-MX" sz="24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240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s-MX" sz="2400" i="0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s-MX" sz="2400" dirty="0"/>
                  <a:t>={ε} </a:t>
                </a:r>
              </a:p>
              <a:p>
                <a:br>
                  <a:rPr lang="es-MX" sz="2400" dirty="0"/>
                </a:br>
                <a:r>
                  <a:rPr lang="es-MX" sz="2400" dirty="0"/>
                  <a:t>Aunque el lenguaje esté vacío, la cerradura estrella siempre incluye la potencia cero, que es ε.</a:t>
                </a:r>
              </a:p>
              <a:p>
                <a:endParaRPr lang="es-MX" sz="24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87D5872-93F5-D80A-AC6B-AAE6A1E6CD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4998720" cy="4023360"/>
              </a:xfrm>
              <a:blipFill>
                <a:blip r:embed="rId2"/>
                <a:stretch>
                  <a:fillRect l="-1829" t="-212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0356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205695-2984-BE8B-AFA5-6AB4F78A5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Ejercicio 10: Cerradura positiva del lenguaje vacío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0062CDF-E137-BC1F-B030-AA34727AFE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03960" y="1737360"/>
                <a:ext cx="7909560" cy="3007360"/>
              </a:xfrm>
            </p:spPr>
            <p:txBody>
              <a:bodyPr/>
              <a:lstStyle/>
              <a:p>
                <a:r>
                  <a:rPr lang="es-MX" dirty="0"/>
                  <a:t>Sea</a:t>
                </a:r>
                <a:br>
                  <a:rPr lang="es-MX" dirty="0"/>
                </a:br>
                <a:r>
                  <a:rPr lang="es-MX" dirty="0"/>
                  <a:t>L=∅</a:t>
                </a:r>
              </a:p>
              <a:p>
                <a:r>
                  <a:rPr lang="es-MX" b="1" dirty="0"/>
                  <a:t>Resultado:</a:t>
                </a:r>
                <a:br>
                  <a:rPr lang="es-MX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s-MX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s-MX" i="0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s-MX" dirty="0"/>
                  <a:t>∅</a:t>
                </a:r>
              </a:p>
              <a:p>
                <a:br>
                  <a:rPr lang="es-MX" dirty="0"/>
                </a:br>
                <a:r>
                  <a:rPr lang="es-MX" dirty="0"/>
                  <a:t>La cerradura positiva requiere al menos una concatenación, pero como el lenguaje no tiene elementos, no se puede formar ninguna cadena.</a:t>
                </a:r>
              </a:p>
              <a:p>
                <a:endParaRPr lang="es-MX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0062CDF-E137-BC1F-B030-AA34727AFE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03960" y="1737360"/>
                <a:ext cx="7909560" cy="3007360"/>
              </a:xfrm>
              <a:blipFill>
                <a:blip r:embed="rId2"/>
                <a:stretch>
                  <a:fillRect l="-848" t="-202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2006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ACBB19-AED4-631F-1C2F-DF628004B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EC316A-3028-1B32-662D-D014B6F13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El trabajo realizado en esta parte permitió reafirmar la comprensión de las operaciones fundamentales sobre lenguajes formales. Se observó cómo pequeñas variaciones en los conjuntos iniciales pueden producir resultados distintos y cómo cada definición influye directamente en el resultado final.</a:t>
            </a:r>
          </a:p>
          <a:p>
            <a:pPr marL="0" indent="0" algn="just">
              <a:buNone/>
            </a:pPr>
            <a:r>
              <a:rPr lang="es-MX" dirty="0"/>
              <a:t>En general, estos ejercicios fortalecieron la habilidad para trabajar con lenguajes formales de manera estructurada y correcta.</a:t>
            </a:r>
          </a:p>
          <a:p>
            <a:pPr marL="0" indent="0" algn="just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3838061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113</TotalTime>
  <Words>701</Words>
  <Application>Microsoft Office PowerPoint</Application>
  <PresentationFormat>Panorámica</PresentationFormat>
  <Paragraphs>72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Retrospección</vt:lpstr>
      <vt:lpstr>Presentación de PowerPoint</vt:lpstr>
      <vt:lpstr>Introducción </vt:lpstr>
      <vt:lpstr>Justificación </vt:lpstr>
      <vt:lpstr>Ejercicio 1: Concatenación de lenguajes</vt:lpstr>
      <vt:lpstr>Ejercicio 2: Concatenación de lenguajes</vt:lpstr>
      <vt:lpstr>Ejercicio 3: Potencia de un lenguaje</vt:lpstr>
      <vt:lpstr>Ejercicio 4: Potencia cero de un lenguaje</vt:lpstr>
      <vt:lpstr>Ejercicio 5: Cerradura de Kleene (Estrella)</vt:lpstr>
      <vt:lpstr>Ejercicio 6: Intersección de lenguajes</vt:lpstr>
      <vt:lpstr>Ejercicio 7: Diferencia de lenguajes</vt:lpstr>
      <vt:lpstr>Ejercicio 8: Concatenación de lenguajes</vt:lpstr>
      <vt:lpstr>Ejercicio 9: Cerradura de Kleene del lenguaje vacío</vt:lpstr>
      <vt:lpstr>Ejercicio 10: Cerradura positiva del lenguaje vacío</vt:lpstr>
      <vt:lpstr>Conclusión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 840 G5</dc:creator>
  <cp:lastModifiedBy>HP 840 G5</cp:lastModifiedBy>
  <cp:revision>4</cp:revision>
  <dcterms:created xsi:type="dcterms:W3CDTF">2026-02-26T02:19:41Z</dcterms:created>
  <dcterms:modified xsi:type="dcterms:W3CDTF">2026-03-16T13:22:03Z</dcterms:modified>
</cp:coreProperties>
</file>