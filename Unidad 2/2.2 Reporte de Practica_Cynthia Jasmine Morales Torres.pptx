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6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82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36A6-BB3A-45D0-A165-5063B583E143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66FF7C-E10D-49C0-8DF1-F5139276E96F}" type="slidenum">
              <a:rPr lang="es-MX" smtClean="0"/>
              <a:t>‹Nº›</a:t>
            </a:fld>
            <a:endParaRPr lang="es-MX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937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36A6-BB3A-45D0-A165-5063B583E143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FF7C-E10D-49C0-8DF1-F5139276E96F}" type="slidenum">
              <a:rPr lang="es-MX" smtClean="0"/>
              <a:t>‹Nº›</a:t>
            </a:fld>
            <a:endParaRPr lang="es-MX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8504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36A6-BB3A-45D0-A165-5063B583E143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FF7C-E10D-49C0-8DF1-F5139276E96F}" type="slidenum">
              <a:rPr lang="es-MX" smtClean="0"/>
              <a:t>‹Nº›</a:t>
            </a:fld>
            <a:endParaRPr lang="es-MX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508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36A6-BB3A-45D0-A165-5063B583E143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FF7C-E10D-49C0-8DF1-F5139276E96F}" type="slidenum">
              <a:rPr lang="es-MX" smtClean="0"/>
              <a:t>‹Nº›</a:t>
            </a:fld>
            <a:endParaRPr lang="es-MX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7367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36A6-BB3A-45D0-A165-5063B583E143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FF7C-E10D-49C0-8DF1-F5139276E96F}" type="slidenum">
              <a:rPr lang="es-MX" smtClean="0"/>
              <a:t>‹Nº›</a:t>
            </a:fld>
            <a:endParaRPr lang="es-MX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399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36A6-BB3A-45D0-A165-5063B583E143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FF7C-E10D-49C0-8DF1-F5139276E96F}" type="slidenum">
              <a:rPr lang="es-MX" smtClean="0"/>
              <a:t>‹Nº›</a:t>
            </a:fld>
            <a:endParaRPr lang="es-MX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3266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36A6-BB3A-45D0-A165-5063B583E143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FF7C-E10D-49C0-8DF1-F5139276E96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2755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36A6-BB3A-45D0-A165-5063B583E143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FF7C-E10D-49C0-8DF1-F5139276E96F}" type="slidenum">
              <a:rPr lang="es-MX" smtClean="0"/>
              <a:t>‹Nº›</a:t>
            </a:fld>
            <a:endParaRPr lang="es-MX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690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CC836A6-BB3A-45D0-A165-5063B583E143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FF7C-E10D-49C0-8DF1-F5139276E96F}" type="slidenum">
              <a:rPr lang="es-MX" smtClean="0"/>
              <a:t>‹Nº›</a:t>
            </a:fld>
            <a:endParaRPr lang="es-MX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509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36A6-BB3A-45D0-A165-5063B583E143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FF7C-E10D-49C0-8DF1-F5139276E96F}" type="slidenum">
              <a:rPr lang="es-MX" smtClean="0"/>
              <a:t>‹Nº›</a:t>
            </a:fld>
            <a:endParaRPr lang="es-MX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51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36A6-BB3A-45D0-A165-5063B583E143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FF7C-E10D-49C0-8DF1-F5139276E96F}" type="slidenum">
              <a:rPr lang="es-MX" smtClean="0"/>
              <a:t>‹Nº›</a:t>
            </a:fld>
            <a:endParaRPr lang="es-MX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2730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836A6-BB3A-45D0-A165-5063B583E143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66FF7C-E10D-49C0-8DF1-F5139276E96F}" type="slidenum">
              <a:rPr lang="es-MX" smtClean="0"/>
              <a:t>‹Nº›</a:t>
            </a:fld>
            <a:endParaRPr lang="es-MX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875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0AFD361-E982-565E-B749-9EF447F4DCE0}"/>
              </a:ext>
            </a:extLst>
          </p:cNvPr>
          <p:cNvSpPr txBox="1"/>
          <p:nvPr/>
        </p:nvSpPr>
        <p:spPr>
          <a:xfrm>
            <a:off x="1014544" y="1961844"/>
            <a:ext cx="4622292" cy="3159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Nombre del alumno: </a:t>
            </a:r>
            <a:endParaRPr lang="es-MX" sz="16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Cynthia Jasmine Morales Torres</a:t>
            </a:r>
            <a:endParaRPr lang="es-MX" sz="16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Numero de control</a:t>
            </a:r>
            <a:r>
              <a:rPr lang="es-MX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s-MX" sz="16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231260014</a:t>
            </a:r>
            <a:endParaRPr lang="es-MX" sz="16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Semestre:  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Sexto semestre 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Especialidad: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Ingeniería en Sistemas Computacionales.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DCA1067-A3D1-B7FB-5BBF-73E41C1EFE8F}"/>
              </a:ext>
            </a:extLst>
          </p:cNvPr>
          <p:cNvSpPr txBox="1"/>
          <p:nvPr/>
        </p:nvSpPr>
        <p:spPr>
          <a:xfrm>
            <a:off x="5909691" y="1961844"/>
            <a:ext cx="6587109" cy="3425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Nombre del docente: 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Ing. Francisco Javier Mingo Velázquez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Materia: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Lenguajes y Autómatas 1</a:t>
            </a:r>
            <a:endParaRPr lang="es-MX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Nombre del trabajo: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2.2 Reporte de Practica (operaciones con lenguajes operaciones como la unión, concatenación de cadenas) 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Fecha de entrega: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14/02/2026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A36F2BE-C1F2-4584-CE8D-86AF87817202}"/>
              </a:ext>
            </a:extLst>
          </p:cNvPr>
          <p:cNvSpPr txBox="1"/>
          <p:nvPr/>
        </p:nvSpPr>
        <p:spPr>
          <a:xfrm>
            <a:off x="3046476" y="5423776"/>
            <a:ext cx="6099048" cy="76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Frontera Comalapa, Chiapas. A 14 de Febrero del 2026.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F5A21C3-EB7B-EEE6-40B7-273390FC9CCD}"/>
              </a:ext>
            </a:extLst>
          </p:cNvPr>
          <p:cNvSpPr txBox="1"/>
          <p:nvPr/>
        </p:nvSpPr>
        <p:spPr>
          <a:xfrm>
            <a:off x="3132886" y="825717"/>
            <a:ext cx="6099048" cy="76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Instituto Tecnológico de Frontera Comalapa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Modalidad Mixta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36FF5F8E-6566-D5C8-BCFA-1DDF3472D278}"/>
              </a:ext>
            </a:extLst>
          </p:cNvPr>
          <p:cNvGrpSpPr/>
          <p:nvPr/>
        </p:nvGrpSpPr>
        <p:grpSpPr>
          <a:xfrm>
            <a:off x="2860812" y="103962"/>
            <a:ext cx="6357600" cy="637319"/>
            <a:chOff x="0" y="0"/>
            <a:chExt cx="5454045" cy="554990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625F47B9-D0DE-E76A-1F04-001DC40B56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0" r="98790">
                          <a14:foregroundMark x1="69758" y1="22660" x2="69758" y2="22660"/>
                          <a14:foregroundMark x1="74194" y1="18227" x2="74194" y2="18227"/>
                          <a14:foregroundMark x1="84274" y1="16256" x2="84274" y2="16256"/>
                          <a14:foregroundMark x1="92339" y1="19704" x2="92339" y2="19704"/>
                          <a14:foregroundMark x1="95968" y1="25123" x2="95968" y2="25123"/>
                          <a14:foregroundMark x1="90323" y1="27094" x2="90323" y2="27094"/>
                          <a14:foregroundMark x1="80645" y1="21182" x2="80645" y2="21182"/>
                          <a14:foregroundMark x1="75806" y1="30542" x2="75806" y2="30542"/>
                          <a14:foregroundMark x1="75806" y1="36946" x2="75806" y2="36946"/>
                          <a14:foregroundMark x1="80242" y1="36453" x2="80242" y2="36453"/>
                          <a14:foregroundMark x1="80645" y1="30542" x2="80645" y2="30542"/>
                          <a14:foregroundMark x1="84677" y1="30049" x2="84677" y2="30049"/>
                          <a14:foregroundMark x1="84677" y1="36946" x2="84677" y2="36946"/>
                          <a14:foregroundMark x1="75403" y1="42857" x2="75403" y2="42857"/>
                          <a14:foregroundMark x1="81048" y1="46305" x2="81048" y2="46305"/>
                          <a14:foregroundMark x1="70161" y1="52217" x2="70161" y2="52217"/>
                          <a14:foregroundMark x1="77419" y1="51724" x2="77419" y2="51724"/>
                          <a14:foregroundMark x1="81452" y1="52217" x2="81452" y2="52217"/>
                          <a14:foregroundMark x1="85484" y1="51232" x2="85484" y2="51232"/>
                          <a14:foregroundMark x1="90323" y1="42365" x2="90323" y2="4236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873"/>
            <a:stretch/>
          </p:blipFill>
          <p:spPr bwMode="auto">
            <a:xfrm>
              <a:off x="4486940" y="0"/>
              <a:ext cx="967105" cy="55499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000E53B6-9675-60CE-8153-023B03EBE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3442" y="0"/>
              <a:ext cx="1221740" cy="53911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3ADF6E86-49E4-1AE9-9BDD-6D33E3333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2615565" cy="541655"/>
            </a:xfrm>
            <a:prstGeom prst="rect">
              <a:avLst/>
            </a:prstGeom>
          </p:spPr>
        </p:pic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8C96BDA1-FE86-9CB9-8DDA-F78A14657814}"/>
                </a:ext>
              </a:extLst>
            </p:cNvPr>
            <p:cNvCxnSpPr/>
            <p:nvPr/>
          </p:nvCxnSpPr>
          <p:spPr>
            <a:xfrm>
              <a:off x="2849526" y="53163"/>
              <a:ext cx="0" cy="43593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85857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588F2-D75D-C136-5767-6298E446E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DF3EBFC-1300-DAF1-DAAB-633141C30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En la presente práctica se trabajó con las operaciones fundamentales de los lenguajes formales, tales como la concatenación, la potencia de un lenguaje, la cerradura de Kleene, la cerradura positiva y las operaciones de conjuntos como unión, intersección y diferencia. Estas operaciones permiten construir nuevos lenguajes a partir de otros ya definidos y comprender cómo interactúan entre sí las cadenas que los conforman.</a:t>
            </a:r>
          </a:p>
          <a:p>
            <a:pPr marL="0" indent="0" algn="just">
              <a:buNone/>
            </a:pPr>
            <a:r>
              <a:rPr lang="es-MX" dirty="0"/>
              <a:t>El desarrollo de la actividad tuvo como finalidad aplicar las definiciones teóricas vistas en clase y llevarlas a ejemplos concretos, fortaleciendo así la comprensión del tema.</a:t>
            </a:r>
          </a:p>
          <a:p>
            <a:pPr marL="0" indent="0" algn="just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62809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8C1FC6-E095-C739-7F1F-0508B0CBE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11950B-E5D0-C604-9905-90B45A5A7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El estudio de las operaciones sobre lenguajes es esencial dentro de la teoría de la computación, ya que los lenguajes formales constituyen la base para comprender estructuras más complejas como autómatas y expresiones regulares. Practicar estas operaciones permite entender que los lenguajes son conjuntos que siguen reglas matemáticas precisas.</a:t>
            </a:r>
          </a:p>
          <a:p>
            <a:pPr marL="0" indent="0" algn="just">
              <a:buNone/>
            </a:pPr>
            <a:r>
              <a:rPr lang="es-MX" dirty="0"/>
              <a:t>Además, trabajar con elementos como la cadena vacía (ε) y el conjunto vacío ayuda a evitar confusiones comunes y a interpretar correctamente los resultados obtenidos.</a:t>
            </a:r>
          </a:p>
          <a:p>
            <a:pPr marL="0" indent="0" algn="just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28135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7F90C9-C7B4-125E-B45F-36CBBACFC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1: concatenación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4ADDD3-4390-8240-A73C-BC04E7DBF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2358421" cy="34506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MX" dirty="0"/>
              <a:t>Sean: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L</a:t>
            </a:r>
            <a:r>
              <a:rPr lang="es-MX" sz="1100" dirty="0"/>
              <a:t>1 </a:t>
            </a:r>
            <a:r>
              <a:rPr lang="es-MX" dirty="0"/>
              <a:t>​= {a, b}</a:t>
            </a:r>
            <a:br>
              <a:rPr lang="es-MX" dirty="0"/>
            </a:br>
            <a:r>
              <a:rPr lang="es-MX" dirty="0"/>
              <a:t>L</a:t>
            </a:r>
            <a:r>
              <a:rPr lang="es-MX" sz="1100" dirty="0"/>
              <a:t>2 </a:t>
            </a:r>
            <a:r>
              <a:rPr lang="es-MX" dirty="0"/>
              <a:t>= {0,1} </a:t>
            </a:r>
          </a:p>
          <a:p>
            <a:pPr marL="0" indent="0">
              <a:buNone/>
            </a:pPr>
            <a:r>
              <a:rPr lang="es-MX" dirty="0"/>
              <a:t>Calcular L</a:t>
            </a:r>
            <a:r>
              <a:rPr lang="es-MX" sz="1100" dirty="0"/>
              <a:t>1</a:t>
            </a:r>
            <a:r>
              <a:rPr lang="es-MX" dirty="0"/>
              <a:t>​L</a:t>
            </a:r>
            <a:r>
              <a:rPr lang="es-MX" sz="1100" dirty="0"/>
              <a:t>2​</a:t>
            </a:r>
          </a:p>
          <a:p>
            <a:pPr marL="0" indent="0">
              <a:buNone/>
            </a:pPr>
            <a:endParaRPr lang="es-MX" sz="1100" dirty="0"/>
          </a:p>
          <a:p>
            <a:pPr marL="0" indent="0">
              <a:buNone/>
            </a:pPr>
            <a:endParaRPr lang="es-MX" sz="1100" dirty="0"/>
          </a:p>
          <a:p>
            <a:pPr marL="0" indent="0">
              <a:buNone/>
            </a:pPr>
            <a:r>
              <a:rPr lang="es-MX" dirty="0"/>
              <a:t>Resultado:</a:t>
            </a:r>
          </a:p>
          <a:p>
            <a:pPr marL="0" indent="0">
              <a:buNone/>
            </a:pPr>
            <a:r>
              <a:rPr lang="pt-BR" dirty="0"/>
              <a:t>L</a:t>
            </a:r>
            <a:r>
              <a:rPr lang="pt-BR" sz="1100" dirty="0"/>
              <a:t>1</a:t>
            </a:r>
            <a:r>
              <a:rPr lang="pt-BR" dirty="0"/>
              <a:t>​L</a:t>
            </a:r>
            <a:r>
              <a:rPr lang="pt-BR" sz="1100" dirty="0"/>
              <a:t>2​ </a:t>
            </a:r>
            <a:r>
              <a:rPr lang="pt-BR" dirty="0"/>
              <a:t>= {a0,a1,b0,b1}</a:t>
            </a:r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1791C77-494E-9184-8BF2-8AEB1BDABC44}"/>
              </a:ext>
            </a:extLst>
          </p:cNvPr>
          <p:cNvSpPr txBox="1"/>
          <p:nvPr/>
        </p:nvSpPr>
        <p:spPr>
          <a:xfrm>
            <a:off x="4801584" y="2518886"/>
            <a:ext cx="61007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Se concatenan todos los elementos de L</a:t>
            </a:r>
            <a:r>
              <a:rPr lang="es-MX" sz="1100" dirty="0"/>
              <a:t>1 </a:t>
            </a:r>
            <a:r>
              <a:rPr lang="es-MX" dirty="0"/>
              <a:t>con todos los de L</a:t>
            </a:r>
            <a:r>
              <a:rPr lang="es-MX" sz="1100" dirty="0"/>
              <a:t>2</a:t>
            </a:r>
          </a:p>
          <a:p>
            <a:r>
              <a:rPr lang="es-MX" dirty="0"/>
              <a:t>a con 0 → a0</a:t>
            </a:r>
            <a:br>
              <a:rPr lang="es-MX" dirty="0"/>
            </a:br>
            <a:r>
              <a:rPr lang="es-MX" dirty="0"/>
              <a:t>a con 1 → a1</a:t>
            </a:r>
            <a:br>
              <a:rPr lang="es-MX" dirty="0"/>
            </a:br>
            <a:r>
              <a:rPr lang="es-MX" dirty="0"/>
              <a:t>b con 0 → b0</a:t>
            </a:r>
            <a:br>
              <a:rPr lang="es-MX" dirty="0"/>
            </a:br>
            <a:r>
              <a:rPr lang="es-MX" dirty="0"/>
              <a:t>b con 1 → b1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76056756-9CAE-E5BD-5DBC-488C00BD61EA}"/>
              </a:ext>
            </a:extLst>
          </p:cNvPr>
          <p:cNvCxnSpPr/>
          <p:nvPr/>
        </p:nvCxnSpPr>
        <p:spPr>
          <a:xfrm>
            <a:off x="3038475" y="3257550"/>
            <a:ext cx="14668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0801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961D6-25B3-B5C5-C44A-256534085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2: concatenación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481490-4F67-DF6B-C755-ECF807A01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2167921" cy="3450613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Sean:</a:t>
            </a:r>
          </a:p>
          <a:p>
            <a:pPr marL="0" indent="0">
              <a:buNone/>
            </a:pPr>
            <a:br>
              <a:rPr lang="es-MX" dirty="0"/>
            </a:br>
            <a:r>
              <a:rPr lang="es-MX" dirty="0"/>
              <a:t>L</a:t>
            </a:r>
            <a:r>
              <a:rPr lang="es-MX" sz="1100" dirty="0"/>
              <a:t>1</a:t>
            </a:r>
            <a:r>
              <a:rPr lang="es-MX" dirty="0"/>
              <a:t>={ab}</a:t>
            </a:r>
            <a:br>
              <a:rPr lang="es-MX" dirty="0"/>
            </a:br>
            <a:r>
              <a:rPr lang="es-MX" dirty="0"/>
              <a:t>L</a:t>
            </a:r>
            <a:r>
              <a:rPr lang="es-MX" sz="1100" dirty="0"/>
              <a:t>2</a:t>
            </a:r>
            <a:r>
              <a:rPr lang="es-MX" dirty="0"/>
              <a:t>={</a:t>
            </a:r>
            <a:r>
              <a:rPr lang="es-MX" dirty="0" err="1"/>
              <a:t>c,d</a:t>
            </a:r>
            <a:r>
              <a:rPr lang="es-MX" dirty="0"/>
              <a:t>} 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Resultado:</a:t>
            </a:r>
          </a:p>
          <a:p>
            <a:pPr marL="0" indent="0">
              <a:buNone/>
            </a:pPr>
            <a:r>
              <a:rPr lang="es-MX" dirty="0"/>
              <a:t>L</a:t>
            </a:r>
            <a:r>
              <a:rPr lang="es-MX" sz="1100" dirty="0"/>
              <a:t>1</a:t>
            </a:r>
            <a:r>
              <a:rPr lang="es-MX" dirty="0"/>
              <a:t>L</a:t>
            </a:r>
            <a:r>
              <a:rPr lang="es-MX" sz="1100" dirty="0"/>
              <a:t>2</a:t>
            </a:r>
            <a:r>
              <a:rPr lang="es-MX" dirty="0"/>
              <a:t>={</a:t>
            </a:r>
            <a:r>
              <a:rPr lang="es-MX" dirty="0" err="1"/>
              <a:t>abc,abd</a:t>
            </a:r>
            <a:r>
              <a:rPr lang="es-MX" dirty="0"/>
              <a:t>}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BD25613-7051-ED88-13D1-07CD43D53901}"/>
              </a:ext>
            </a:extLst>
          </p:cNvPr>
          <p:cNvSpPr txBox="1"/>
          <p:nvPr/>
        </p:nvSpPr>
        <p:spPr>
          <a:xfrm>
            <a:off x="3774281" y="2817708"/>
            <a:ext cx="61007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Se toma “ab” y se concatena con cada elemento de L</a:t>
            </a:r>
            <a:r>
              <a:rPr lang="es-MX" sz="1100" dirty="0"/>
              <a:t>2</a:t>
            </a:r>
          </a:p>
          <a:p>
            <a:r>
              <a:rPr lang="es-MX" dirty="0"/>
              <a:t>ab + c → </a:t>
            </a:r>
            <a:r>
              <a:rPr lang="es-MX" dirty="0" err="1"/>
              <a:t>abc</a:t>
            </a:r>
            <a:br>
              <a:rPr lang="es-MX" dirty="0"/>
            </a:br>
            <a:r>
              <a:rPr lang="es-MX" dirty="0"/>
              <a:t>ab + d → </a:t>
            </a:r>
            <a:r>
              <a:rPr lang="es-MX" dirty="0" err="1"/>
              <a:t>abd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1411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0E733-B2E9-2E93-E2AC-3BCACB488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3: Concatenación con cadena vacía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630B31-2C50-85B3-9B4C-7951A071B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5149246" cy="34506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MX" dirty="0"/>
              <a:t>Sean: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L</a:t>
            </a:r>
            <a:r>
              <a:rPr lang="es-MX" sz="1100" dirty="0"/>
              <a:t>1</a:t>
            </a:r>
            <a:r>
              <a:rPr lang="es-MX" dirty="0"/>
              <a:t>={</a:t>
            </a:r>
            <a:r>
              <a:rPr lang="es-MX" dirty="0" err="1"/>
              <a:t>x,y</a:t>
            </a:r>
            <a:r>
              <a:rPr lang="es-MX" dirty="0"/>
              <a:t>} </a:t>
            </a:r>
          </a:p>
          <a:p>
            <a:pPr marL="0" indent="0">
              <a:buNone/>
            </a:pPr>
            <a:r>
              <a:rPr lang="es-MX" dirty="0"/>
              <a:t>L</a:t>
            </a:r>
            <a:r>
              <a:rPr lang="es-MX" sz="1100" dirty="0"/>
              <a:t>2</a:t>
            </a:r>
            <a:r>
              <a:rPr lang="es-MX" dirty="0"/>
              <a:t>={</a:t>
            </a:r>
            <a:r>
              <a:rPr lang="el-GR" dirty="0"/>
              <a:t>ε}</a:t>
            </a:r>
            <a:r>
              <a:rPr lang="es-MX" dirty="0"/>
              <a:t> 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Resultado: </a:t>
            </a:r>
          </a:p>
          <a:p>
            <a:pPr marL="0" indent="0">
              <a:buNone/>
            </a:pPr>
            <a:r>
              <a:rPr lang="es-MX" dirty="0"/>
              <a:t>L</a:t>
            </a:r>
            <a:r>
              <a:rPr lang="es-MX" sz="1100" dirty="0"/>
              <a:t>1</a:t>
            </a:r>
            <a:r>
              <a:rPr lang="es-MX" dirty="0"/>
              <a:t>L</a:t>
            </a:r>
            <a:r>
              <a:rPr lang="es-MX" sz="1100" dirty="0"/>
              <a:t>2</a:t>
            </a:r>
            <a:r>
              <a:rPr lang="es-MX" dirty="0"/>
              <a:t>={</a:t>
            </a:r>
            <a:r>
              <a:rPr lang="es-MX" dirty="0" err="1"/>
              <a:t>x,y</a:t>
            </a:r>
            <a:r>
              <a:rPr lang="es-MX" dirty="0"/>
              <a:t>} </a:t>
            </a:r>
          </a:p>
          <a:p>
            <a:pPr marL="0" indent="0">
              <a:buNone/>
            </a:pPr>
            <a:r>
              <a:rPr lang="es-MX" dirty="0"/>
              <a:t>Porque concatenar con </a:t>
            </a:r>
            <a:r>
              <a:rPr lang="el-GR" dirty="0"/>
              <a:t>ε</a:t>
            </a:r>
            <a:r>
              <a:rPr lang="es-MX" dirty="0"/>
              <a:t> no cambia la cadena.</a:t>
            </a: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11E0788-0ABD-F66D-1A71-EDA0C2092779}"/>
              </a:ext>
            </a:extLst>
          </p:cNvPr>
          <p:cNvSpPr txBox="1"/>
          <p:nvPr/>
        </p:nvSpPr>
        <p:spPr>
          <a:xfrm>
            <a:off x="3274219" y="3081635"/>
            <a:ext cx="61007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Concatenar con ε no cambia la cadena.</a:t>
            </a:r>
          </a:p>
          <a:p>
            <a:r>
              <a:rPr lang="es-MX" dirty="0"/>
              <a:t>x + ε = x</a:t>
            </a:r>
            <a:br>
              <a:rPr lang="es-MX" dirty="0"/>
            </a:br>
            <a:r>
              <a:rPr lang="es-MX" dirty="0"/>
              <a:t>y + ε = y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EC0D2310-38F8-1B87-DA51-43476A57C435}"/>
              </a:ext>
            </a:extLst>
          </p:cNvPr>
          <p:cNvCxnSpPr/>
          <p:nvPr/>
        </p:nvCxnSpPr>
        <p:spPr>
          <a:xfrm>
            <a:off x="2457450" y="3429000"/>
            <a:ext cx="7810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019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5AC94A-9A50-0E18-73B3-07E1CAC9B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4: Potencia de un lenguaje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E567569-35C8-7299-848C-82BEB1F4E2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51579" y="2015732"/>
                <a:ext cx="2453671" cy="345061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s-MX" dirty="0"/>
                  <a:t>Sea:</a:t>
                </a:r>
              </a:p>
              <a:p>
                <a:pPr marL="0" indent="0">
                  <a:buNone/>
                </a:pPr>
                <a:br>
                  <a:rPr lang="es-MX" dirty="0"/>
                </a:br>
                <a:r>
                  <a:rPr lang="es-MX" dirty="0"/>
                  <a:t>L={0,11} 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Calcular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s-MX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Resultado: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MX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s-MX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dirty="0"/>
                  <a:t>={00,011,110,1111}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E567569-35C8-7299-848C-82BEB1F4E2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1579" y="2015732"/>
                <a:ext cx="2453671" cy="3450613"/>
              </a:xfrm>
              <a:blipFill>
                <a:blip r:embed="rId2"/>
                <a:stretch>
                  <a:fillRect l="-2233" t="-883" b="-88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>
            <a:extLst>
              <a:ext uri="{FF2B5EF4-FFF2-40B4-BE49-F238E27FC236}">
                <a16:creationId xmlns:a16="http://schemas.microsoft.com/office/drawing/2014/main" id="{DB3D63FD-905D-E31D-3F75-54F0C3B5A29E}"/>
              </a:ext>
            </a:extLst>
          </p:cNvPr>
          <p:cNvSpPr txBox="1"/>
          <p:nvPr/>
        </p:nvSpPr>
        <p:spPr>
          <a:xfrm>
            <a:off x="4069556" y="2761773"/>
            <a:ext cx="20264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</a:t>
            </a:r>
            <a:r>
              <a:rPr lang="es-MX" sz="1100" dirty="0"/>
              <a:t>2</a:t>
            </a:r>
            <a:r>
              <a:rPr lang="es-MX" dirty="0"/>
              <a:t>=L⋅L</a:t>
            </a:r>
          </a:p>
          <a:p>
            <a:r>
              <a:rPr lang="es-MX" dirty="0"/>
              <a:t>0 + 0 → 00</a:t>
            </a:r>
            <a:br>
              <a:rPr lang="es-MX" dirty="0"/>
            </a:br>
            <a:r>
              <a:rPr lang="es-MX" dirty="0"/>
              <a:t>0 + 11 → 011</a:t>
            </a:r>
            <a:br>
              <a:rPr lang="es-MX" dirty="0"/>
            </a:br>
            <a:r>
              <a:rPr lang="es-MX" dirty="0"/>
              <a:t>11 + 0 → 110</a:t>
            </a:r>
            <a:br>
              <a:rPr lang="es-MX" dirty="0"/>
            </a:br>
            <a:r>
              <a:rPr lang="es-MX" dirty="0"/>
              <a:t>11 + 11 → 1111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B0A54DB3-A4F8-FAA3-B826-3DFC899D06C4}"/>
              </a:ext>
            </a:extLst>
          </p:cNvPr>
          <p:cNvCxnSpPr/>
          <p:nvPr/>
        </p:nvCxnSpPr>
        <p:spPr>
          <a:xfrm>
            <a:off x="2581275" y="3076575"/>
            <a:ext cx="132397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4631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827D5-EE91-6FB6-D84E-DAA49B77B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5: Potencia cero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BB022FC-4498-E4C1-F431-B5136C7927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51579" y="2015732"/>
                <a:ext cx="9168796" cy="345061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dirty="0"/>
                  <a:t>Sea: 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L={</a:t>
                </a:r>
                <a:r>
                  <a:rPr lang="es-MX" dirty="0" err="1"/>
                  <a:t>a,b</a:t>
                </a:r>
                <a:r>
                  <a:rPr lang="es-MX" dirty="0"/>
                  <a:t>} </a:t>
                </a:r>
              </a:p>
              <a:p>
                <a:pPr marL="0" indent="0">
                  <a:buNone/>
                </a:pPr>
                <a:r>
                  <a:rPr lang="es-MX" dirty="0"/>
                  <a:t>Resultado: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MX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s-MX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s-MX" dirty="0"/>
                  <a:t>={ε} 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Porque por definición cualquier lenguaje a la potencia cero es la cadena vacía.</a:t>
                </a:r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BB022FC-4498-E4C1-F431-B5136C792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1579" y="2015732"/>
                <a:ext cx="9168796" cy="3450613"/>
              </a:xfrm>
              <a:blipFill>
                <a:blip r:embed="rId2"/>
                <a:stretch>
                  <a:fillRect l="-665" t="-177" b="-123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>
            <a:extLst>
              <a:ext uri="{FF2B5EF4-FFF2-40B4-BE49-F238E27FC236}">
                <a16:creationId xmlns:a16="http://schemas.microsoft.com/office/drawing/2014/main" id="{7BCD7F6C-6E3B-95AE-FAF5-E3A68C663E91}"/>
              </a:ext>
            </a:extLst>
          </p:cNvPr>
          <p:cNvSpPr txBox="1"/>
          <p:nvPr/>
        </p:nvSpPr>
        <p:spPr>
          <a:xfrm>
            <a:off x="2985596" y="3020496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Por definición, cualquier lenguaje a la potencia cero es: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F9D297CB-6023-9CE6-D740-72ACE790B7D7}"/>
              </a:ext>
            </a:extLst>
          </p:cNvPr>
          <p:cNvCxnSpPr/>
          <p:nvPr/>
        </p:nvCxnSpPr>
        <p:spPr>
          <a:xfrm>
            <a:off x="2371725" y="3208853"/>
            <a:ext cx="61387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088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7242F-414B-0995-F526-731BFEEAD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6: Cerradura estrella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D99835B-7AD4-0576-B1E4-8EE4D83B2D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51579" y="2015732"/>
                <a:ext cx="2891821" cy="345061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dirty="0"/>
                  <a:t>Sea:</a:t>
                </a:r>
              </a:p>
              <a:p>
                <a:pPr marL="0" indent="0">
                  <a:buNone/>
                </a:pPr>
                <a:br>
                  <a:rPr lang="es-MX" dirty="0"/>
                </a:br>
                <a:r>
                  <a:rPr lang="es-MX" dirty="0"/>
                  <a:t>L={ab} 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Resultado: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MX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s-MX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s-MX" dirty="0"/>
                  <a:t>={</a:t>
                </a:r>
                <a:r>
                  <a:rPr lang="el-GR" dirty="0"/>
                  <a:t>ε,</a:t>
                </a:r>
                <a:r>
                  <a:rPr lang="es-MX" dirty="0" err="1"/>
                  <a:t>ab,abab,ababab</a:t>
                </a:r>
                <a:r>
                  <a:rPr lang="es-MX" dirty="0"/>
                  <a:t>,… }</a:t>
                </a:r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D99835B-7AD4-0576-B1E4-8EE4D83B2D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1579" y="2015732"/>
                <a:ext cx="2891821" cy="3450613"/>
              </a:xfrm>
              <a:blipFill>
                <a:blip r:embed="rId2"/>
                <a:stretch>
                  <a:fillRect l="-2105" t="-17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E9EBE3C-8FD7-4E40-997B-9E1EB9A4FB31}"/>
                  </a:ext>
                </a:extLst>
              </p:cNvPr>
              <p:cNvSpPr txBox="1"/>
              <p:nvPr/>
            </p:nvSpPr>
            <p:spPr>
              <a:xfrm>
                <a:off x="3050381" y="2695098"/>
                <a:ext cx="2891821" cy="1500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dirty="0"/>
                  <a:t>La cerradura estrella incluye: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MX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s-MX" i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s-MX" dirty="0"/>
                  <a:t>={</a:t>
                </a:r>
                <a:r>
                  <a:rPr lang="el-GR" dirty="0"/>
                  <a:t>ε}</a:t>
                </a:r>
                <a:r>
                  <a:rPr lang="es-MX" dirty="0"/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MX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s-MX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s-MX" dirty="0"/>
                  <a:t>={ab}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MX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s-MX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dirty="0"/>
                  <a:t>={abab}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MX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s-MX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s-MX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dirty="0"/>
                  <a:t>={</a:t>
                </a:r>
                <a:r>
                  <a:rPr lang="es-MX" dirty="0" err="1"/>
                  <a:t>ababab</a:t>
                </a:r>
                <a:r>
                  <a:rPr lang="es-MX" dirty="0"/>
                  <a:t>}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E9EBE3C-8FD7-4E40-997B-9E1EB9A4F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381" y="2695098"/>
                <a:ext cx="2891821" cy="1500988"/>
              </a:xfrm>
              <a:prstGeom prst="rect">
                <a:avLst/>
              </a:prstGeom>
              <a:blipFill>
                <a:blip r:embed="rId3"/>
                <a:stretch>
                  <a:fillRect l="-1684" t="-2033" b="-406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5A85C24-4A73-3D0C-E6ED-3FC8450064D8}"/>
              </a:ext>
            </a:extLst>
          </p:cNvPr>
          <p:cNvCxnSpPr/>
          <p:nvPr/>
        </p:nvCxnSpPr>
        <p:spPr>
          <a:xfrm>
            <a:off x="2257425" y="3095625"/>
            <a:ext cx="7929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2002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D903D5-EF16-B6D7-6D11-B243315C3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7: Cerradura positiva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DBC2E2-58D3-215E-FC67-A3F3C0AD2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Sea</a:t>
            </a:r>
            <a:br>
              <a:rPr lang="es-MX" dirty="0"/>
            </a:br>
            <a:r>
              <a:rPr lang="es-MX" dirty="0"/>
              <a:t>L={ab} 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Resultado:</a:t>
            </a:r>
          </a:p>
          <a:p>
            <a:pPr marL="0" indent="0">
              <a:buNone/>
            </a:pPr>
            <a:r>
              <a:rPr lang="es-MX" dirty="0"/>
              <a:t>L+={</a:t>
            </a:r>
            <a:r>
              <a:rPr lang="es-MX" dirty="0" err="1"/>
              <a:t>ab,abab,ababab</a:t>
            </a:r>
            <a:r>
              <a:rPr lang="es-MX" dirty="0"/>
              <a:t>,… }</a:t>
            </a:r>
          </a:p>
          <a:p>
            <a:pPr marL="0" indent="0">
              <a:buNone/>
            </a:pPr>
            <a:r>
              <a:rPr lang="es-MX" dirty="0"/>
              <a:t>(No incluye </a:t>
            </a:r>
            <a:r>
              <a:rPr lang="el-GR" dirty="0"/>
              <a:t>ε)</a:t>
            </a: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95DCF07-549A-1E31-3180-446CEAECDC28}"/>
              </a:ext>
            </a:extLst>
          </p:cNvPr>
          <p:cNvSpPr txBox="1"/>
          <p:nvPr/>
        </p:nvSpPr>
        <p:spPr>
          <a:xfrm>
            <a:off x="3326606" y="2149410"/>
            <a:ext cx="61007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Es igual que estrella pero empieza en 1.</a:t>
            </a:r>
          </a:p>
          <a:p>
            <a:r>
              <a:rPr lang="es-MX" dirty="0"/>
              <a:t>Incluye:</a:t>
            </a:r>
            <a:br>
              <a:rPr lang="es-MX" dirty="0"/>
            </a:br>
            <a:r>
              <a:rPr lang="es-MX" dirty="0"/>
              <a:t>ab</a:t>
            </a:r>
            <a:br>
              <a:rPr lang="es-MX" dirty="0"/>
            </a:br>
            <a:r>
              <a:rPr lang="es-MX" dirty="0"/>
              <a:t>abab</a:t>
            </a:r>
            <a:br>
              <a:rPr lang="es-MX" dirty="0"/>
            </a:br>
            <a:r>
              <a:rPr lang="es-MX" dirty="0" err="1"/>
              <a:t>ababab</a:t>
            </a:r>
            <a:endParaRPr lang="es-MX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1C898A83-55D7-BF6C-7533-FD752FB5BB50}"/>
              </a:ext>
            </a:extLst>
          </p:cNvPr>
          <p:cNvCxnSpPr/>
          <p:nvPr/>
        </p:nvCxnSpPr>
        <p:spPr>
          <a:xfrm>
            <a:off x="2371725" y="2590800"/>
            <a:ext cx="86677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431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B77E5E-E857-7CC7-7EEA-BD24FC3A8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8: unión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FCB4D0-44E4-0BDD-F9C1-6B5A253DC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Sean:</a:t>
            </a:r>
            <a:br>
              <a:rPr lang="es-MX" dirty="0"/>
            </a:br>
            <a:r>
              <a:rPr lang="es-MX" dirty="0"/>
              <a:t>A={</a:t>
            </a:r>
            <a:r>
              <a:rPr lang="es-MX" dirty="0" err="1"/>
              <a:t>a,b,c</a:t>
            </a:r>
            <a:r>
              <a:rPr lang="es-MX" dirty="0"/>
              <a:t>} </a:t>
            </a:r>
          </a:p>
          <a:p>
            <a:pPr marL="0" indent="0">
              <a:buNone/>
            </a:pPr>
            <a:r>
              <a:rPr lang="es-MX" dirty="0"/>
              <a:t>B={</a:t>
            </a:r>
            <a:r>
              <a:rPr lang="es-MX" dirty="0" err="1"/>
              <a:t>b,c,d</a:t>
            </a:r>
            <a:r>
              <a:rPr lang="es-MX" dirty="0"/>
              <a:t>} </a:t>
            </a:r>
          </a:p>
          <a:p>
            <a:r>
              <a:rPr lang="es-MX" dirty="0"/>
              <a:t>Resultado:</a:t>
            </a:r>
          </a:p>
          <a:p>
            <a:pPr marL="0" indent="0">
              <a:buNone/>
            </a:pPr>
            <a:r>
              <a:rPr lang="es-MX" dirty="0"/>
              <a:t>A∪B={</a:t>
            </a:r>
            <a:r>
              <a:rPr lang="es-MX" dirty="0" err="1"/>
              <a:t>a,b,c,d</a:t>
            </a:r>
            <a:r>
              <a:rPr lang="es-MX" dirty="0"/>
              <a:t>}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89DF2EE-695F-A9C3-3128-3319FF4E5D92}"/>
              </a:ext>
            </a:extLst>
          </p:cNvPr>
          <p:cNvSpPr txBox="1"/>
          <p:nvPr/>
        </p:nvSpPr>
        <p:spPr>
          <a:xfrm>
            <a:off x="3136106" y="2715696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Se juntan todos los elementos sin repetir.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99BE85AE-831F-E60C-006D-41614AFB923D}"/>
              </a:ext>
            </a:extLst>
          </p:cNvPr>
          <p:cNvCxnSpPr/>
          <p:nvPr/>
        </p:nvCxnSpPr>
        <p:spPr>
          <a:xfrm>
            <a:off x="2628900" y="2867025"/>
            <a:ext cx="4000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897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693A2-0F3E-01DA-8938-F3B894DAD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9: Intersección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A0779F-AD1C-034E-1276-601FDB78B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3"/>
            <a:ext cx="4206271" cy="1184668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A∩B={</a:t>
            </a:r>
            <a:r>
              <a:rPr lang="es-MX" dirty="0" err="1"/>
              <a:t>b,c</a:t>
            </a:r>
            <a:r>
              <a:rPr lang="es-MX" dirty="0"/>
              <a:t>}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1193B35-18C6-939C-6B5B-B9E04F678A26}"/>
              </a:ext>
            </a:extLst>
          </p:cNvPr>
          <p:cNvSpPr txBox="1"/>
          <p:nvPr/>
        </p:nvSpPr>
        <p:spPr>
          <a:xfrm>
            <a:off x="1354931" y="2734270"/>
            <a:ext cx="61007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Solo los elementos que estén en ambos conjuntos.</a:t>
            </a:r>
          </a:p>
          <a:p>
            <a:r>
              <a:rPr lang="es-MX" dirty="0"/>
              <a:t>b está en ambos</a:t>
            </a:r>
            <a:br>
              <a:rPr lang="es-MX" dirty="0"/>
            </a:br>
            <a:r>
              <a:rPr lang="es-MX" dirty="0"/>
              <a:t>c está en ambos</a:t>
            </a:r>
          </a:p>
        </p:txBody>
      </p:sp>
    </p:spTree>
    <p:extLst>
      <p:ext uri="{BB962C8B-B14F-4D97-AF65-F5344CB8AC3E}">
        <p14:creationId xmlns:p14="http://schemas.microsoft.com/office/powerpoint/2010/main" val="599287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7ABB6-6B84-9271-2F62-1477E7127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10: Diferencia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8C1376-8E6C-D875-3EB7-A6DFABEFA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A − B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Resultado: </a:t>
            </a:r>
          </a:p>
          <a:p>
            <a:pPr marL="0" indent="0">
              <a:buNone/>
            </a:pPr>
            <a:r>
              <a:rPr lang="es-MX" dirty="0"/>
              <a:t>A−B={a}</a:t>
            </a:r>
          </a:p>
          <a:p>
            <a:pPr marL="0" indent="0">
              <a:buNone/>
            </a:pPr>
            <a:r>
              <a:rPr lang="es-MX" dirty="0"/>
              <a:t>Porque es el elemento que está en A y no en B.</a:t>
            </a: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14B11FB-521C-BD57-C4D4-1A65540455D6}"/>
              </a:ext>
            </a:extLst>
          </p:cNvPr>
          <p:cNvSpPr txBox="1"/>
          <p:nvPr/>
        </p:nvSpPr>
        <p:spPr>
          <a:xfrm>
            <a:off x="2831306" y="2506444"/>
            <a:ext cx="6100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Elementos que están en A pero NO en B.</a:t>
            </a:r>
          </a:p>
          <a:p>
            <a:r>
              <a:rPr lang="es-MX" dirty="0"/>
              <a:t>a está solo en A</a:t>
            </a:r>
          </a:p>
        </p:txBody>
      </p:sp>
    </p:spTree>
    <p:extLst>
      <p:ext uri="{BB962C8B-B14F-4D97-AF65-F5344CB8AC3E}">
        <p14:creationId xmlns:p14="http://schemas.microsoft.com/office/powerpoint/2010/main" val="1740035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BE5F85-8DF3-73A8-24EF-353208CC8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690BEB-6D64-9CC4-F488-6E19368A3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La realización de esta práctica permitió reforzar el conocimiento sobre las propiedades y comportamientos de los lenguajes formales. Se comprobó que cada operación genera resultados específicos dependiendo de las definiciones aplicadas, y que conceptos como la potencia y la cerradura amplían significativamente el conjunto original de cadenas.</a:t>
            </a:r>
          </a:p>
          <a:p>
            <a:pPr marL="0" indent="0" algn="just">
              <a:buNone/>
            </a:pPr>
            <a:r>
              <a:rPr lang="es-MX" dirty="0"/>
              <a:t>En conclusión, la práctica fue útil para consolidar los fundamentos necesarios para continuar con temas más avanzados dentro del estudio de lenguajes formales.</a:t>
            </a:r>
          </a:p>
          <a:p>
            <a:pPr marL="0" indent="0" algn="just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0082239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303</TotalTime>
  <Words>826</Words>
  <Application>Microsoft Office PowerPoint</Application>
  <PresentationFormat>Panorámica</PresentationFormat>
  <Paragraphs>117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Cambria Math</vt:lpstr>
      <vt:lpstr>Gill Sans MT</vt:lpstr>
      <vt:lpstr>Galería</vt:lpstr>
      <vt:lpstr>Presentación de PowerPoint</vt:lpstr>
      <vt:lpstr>introducción</vt:lpstr>
      <vt:lpstr>justificación</vt:lpstr>
      <vt:lpstr>Ejemplo 1: concatenación </vt:lpstr>
      <vt:lpstr>Ejemplo 2: concatenación </vt:lpstr>
      <vt:lpstr>Ejemplo 3: Concatenación con cadena vacía</vt:lpstr>
      <vt:lpstr>Ejemplo 4: Potencia de un lenguaje</vt:lpstr>
      <vt:lpstr>Ejemplo 5: Potencia cero</vt:lpstr>
      <vt:lpstr>Ejemplo 6: Cerradura estrella</vt:lpstr>
      <vt:lpstr>Ejemplo 7: Cerradura positiva</vt:lpstr>
      <vt:lpstr>Ejemplo 8: unión</vt:lpstr>
      <vt:lpstr>Ejemplo 9: Intersección</vt:lpstr>
      <vt:lpstr>Ejemplo 10: Diferencia </vt:lpstr>
      <vt:lpstr>Conclusión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 840 G5</dc:creator>
  <cp:lastModifiedBy>HP 840 G5</cp:lastModifiedBy>
  <cp:revision>3</cp:revision>
  <dcterms:created xsi:type="dcterms:W3CDTF">2026-02-22T17:10:43Z</dcterms:created>
  <dcterms:modified xsi:type="dcterms:W3CDTF">2026-03-16T13:21:05Z</dcterms:modified>
</cp:coreProperties>
</file>