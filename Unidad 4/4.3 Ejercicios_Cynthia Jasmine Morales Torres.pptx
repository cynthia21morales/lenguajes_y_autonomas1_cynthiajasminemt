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A2CE01-CCCA-703D-70B6-92014584D67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EB23045C-CC24-BEC5-947E-6DBB019E9D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F473FF39-16FA-C853-4518-A02DAED23C80}"/>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2938631E-4F1B-1E9F-A06D-9333898FB4C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F29D032-A58E-E7BB-FBBD-A8689C6FA197}"/>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1557136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92B7EB-6580-79DB-A677-B3422FB631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AB529BB-F410-76FC-C2B8-EF974785226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09DA74F-BAEB-1412-BA26-EB23594CA67B}"/>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6E25884F-72BC-4FDB-F654-6EE022A1A15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FFF3E26-0C33-763D-52CD-D7411BC614FE}"/>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986311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05565A-249D-B36A-EBCF-6F8064D572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43EAF100-6D7D-D95B-D206-B43504549B5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65BD72-83DC-C69F-74A7-E6B7AD18B72F}"/>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6B15AB10-B44E-D34D-2C0F-A8E12EDF2E0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AB2A57C-4DE7-592C-5E8A-075363906802}"/>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833645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CBB350-6F74-7053-80D4-C8E9E9FAF21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5E6027A-55F3-FF87-7A24-2EB30D75740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D1DB4D-22A6-EB14-FAED-71D2CC05204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EE3E7E2-F652-98FB-663F-CEE3F2C00E8B}"/>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6" name="Marcador de pie de página 5">
            <a:extLst>
              <a:ext uri="{FF2B5EF4-FFF2-40B4-BE49-F238E27FC236}">
                <a16:creationId xmlns:a16="http://schemas.microsoft.com/office/drawing/2014/main" id="{8551589B-641D-1300-FB86-2A8126C3338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CD9C49B-92B7-203A-BE2D-9E55A26D399F}"/>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885884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F99338-22AD-704E-DAB6-B46105D0B0F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A78068E-3D90-E453-5EAD-78C63E72CD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517781A-8616-0FB6-FFB2-0F69C3A2A16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1945DAF2-003A-771A-C44A-E9D82CAE7B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4005FEF-0D22-25E6-0C69-CD77752C6A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6A226CD-16DF-8C1F-67F6-5424EAB1131D}"/>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8" name="Marcador de pie de página 7">
            <a:extLst>
              <a:ext uri="{FF2B5EF4-FFF2-40B4-BE49-F238E27FC236}">
                <a16:creationId xmlns:a16="http://schemas.microsoft.com/office/drawing/2014/main" id="{4ED1CB36-4CE2-4BE9-BB98-86C67ED1E135}"/>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4E96C037-8C8C-EC58-79B9-CA5905A0EF25}"/>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2407342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B61199-B59E-73E3-7A4C-C781E9F2F50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A86CFF2-F5BB-FC9A-EEC2-678A125D3ADF}"/>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4" name="Marcador de pie de página 3">
            <a:extLst>
              <a:ext uri="{FF2B5EF4-FFF2-40B4-BE49-F238E27FC236}">
                <a16:creationId xmlns:a16="http://schemas.microsoft.com/office/drawing/2014/main" id="{EB8BFBDD-7E04-D588-6E2E-5F74FF0D88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305180E-A73A-6EBA-8392-AF864C1E4B6B}"/>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2277626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8A632B4-7D35-C747-F86A-AED81228EAD0}"/>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3" name="Marcador de pie de página 2">
            <a:extLst>
              <a:ext uri="{FF2B5EF4-FFF2-40B4-BE49-F238E27FC236}">
                <a16:creationId xmlns:a16="http://schemas.microsoft.com/office/drawing/2014/main" id="{F924F4B6-8124-2010-246C-52457AA9E0CE}"/>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8E5C46B-5C3D-726C-1040-87D559C1E35B}"/>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324379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EB2B56-22CD-FB2E-701F-D72549FF0C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1800BE2-512D-8288-3A61-919C34A6D4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7D5F9CF-6897-597A-AAE3-096814B0AF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5C4401F-8BCE-D504-4DD3-ADE7B45221E8}"/>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6" name="Marcador de pie de página 5">
            <a:extLst>
              <a:ext uri="{FF2B5EF4-FFF2-40B4-BE49-F238E27FC236}">
                <a16:creationId xmlns:a16="http://schemas.microsoft.com/office/drawing/2014/main" id="{1F6B7210-5C0A-9386-D383-F5C327291BA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EB50A40-EB0D-9FA2-E360-3F2A08B8BB1A}"/>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3927155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081557-0695-CDB3-18DF-F10CA53DDC8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EC5D029F-B762-CAAE-B6F0-96EEF3EE07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8F6F0BA-1D03-ACCD-215F-FCE4F304A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8072011-17CB-AB74-6A06-6B73DAF1BDDF}"/>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6" name="Marcador de pie de página 5">
            <a:extLst>
              <a:ext uri="{FF2B5EF4-FFF2-40B4-BE49-F238E27FC236}">
                <a16:creationId xmlns:a16="http://schemas.microsoft.com/office/drawing/2014/main" id="{ECA0E99E-5D6E-4249-030F-515747C4124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F60A23C-EDB3-0AF5-51B6-E461BCD2554B}"/>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3207505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5D9551-4916-9B5C-1553-6845A61E46C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612F650-FEF8-072F-FD96-E6C033A7B10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6E4E73-4DCC-A6AE-46BF-6D6A02C4E78C}"/>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3F272791-B597-CC06-6C38-79BFF91AD6B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8039134-C716-C1EA-9C91-E70F82136AA2}"/>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261170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BFBE361-1941-2402-6D37-003D2E3CD31C}"/>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4893898-4E82-F8E8-B4F7-B00CA55AC51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3AFD9F7-0E72-A74C-3082-0F7EAF465996}"/>
              </a:ext>
            </a:extLst>
          </p:cNvPr>
          <p:cNvSpPr>
            <a:spLocks noGrp="1"/>
          </p:cNvSpPr>
          <p:nvPr>
            <p:ph type="dt" sz="half" idx="10"/>
          </p:nvPr>
        </p:nvSpPr>
        <p:spPr/>
        <p:txBody>
          <a:body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C65488EC-FAEE-55AC-9D5C-CB48126511F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05D1D23-892D-25D3-9FF1-DD9A34DCD689}"/>
              </a:ext>
            </a:extLst>
          </p:cNvPr>
          <p:cNvSpPr>
            <a:spLocks noGrp="1"/>
          </p:cNvSpPr>
          <p:nvPr>
            <p:ph type="sldNum" sz="quarter" idx="12"/>
          </p:nvPr>
        </p:nvSpPr>
        <p:spPr/>
        <p:txBody>
          <a:bodyPr/>
          <a:lstStyle/>
          <a:p>
            <a:fld id="{1ADBF64D-46E9-4521-8686-7C3C0F1CB33E}" type="slidenum">
              <a:rPr lang="es-MX" smtClean="0"/>
              <a:t>‹Nº›</a:t>
            </a:fld>
            <a:endParaRPr lang="es-MX"/>
          </a:p>
        </p:txBody>
      </p:sp>
    </p:spTree>
    <p:extLst>
      <p:ext uri="{BB962C8B-B14F-4D97-AF65-F5344CB8AC3E}">
        <p14:creationId xmlns:p14="http://schemas.microsoft.com/office/powerpoint/2010/main" val="3562071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257F265-335D-5A71-945E-1DF0239B09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F486FB9-B7BC-B8AC-9695-8A32ABBA1F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12841E8-F364-79C2-0A86-2267D8F2AB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FE627A-71E9-442C-AD02-2535AF25F1F1}" type="datetimeFigureOut">
              <a:rPr lang="es-MX" smtClean="0"/>
              <a:t>26/03/2026</a:t>
            </a:fld>
            <a:endParaRPr lang="es-MX"/>
          </a:p>
        </p:txBody>
      </p:sp>
      <p:sp>
        <p:nvSpPr>
          <p:cNvPr id="5" name="Marcador de pie de página 4">
            <a:extLst>
              <a:ext uri="{FF2B5EF4-FFF2-40B4-BE49-F238E27FC236}">
                <a16:creationId xmlns:a16="http://schemas.microsoft.com/office/drawing/2014/main" id="{D9E49D73-72B0-864B-B58B-730D81D7C3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EAB454AD-7685-1D69-69E0-1BE5A72F1F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DBF64D-46E9-4521-8686-7C3C0F1CB33E}" type="slidenum">
              <a:rPr lang="es-MX" smtClean="0"/>
              <a:t>‹Nº›</a:t>
            </a:fld>
            <a:endParaRPr lang="es-MX"/>
          </a:p>
        </p:txBody>
      </p:sp>
    </p:spTree>
    <p:extLst>
      <p:ext uri="{BB962C8B-B14F-4D97-AF65-F5344CB8AC3E}">
        <p14:creationId xmlns:p14="http://schemas.microsoft.com/office/powerpoint/2010/main" val="2943499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Cynthia21Morales/Lenguajes_Y_Autonomas1_CynthiaJasmineMT/blob/main/Unidad%204/4.3%20Ejercicios_Cynthia%20Jasmine%20Morales%20Torres.pptx"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84D9A16-0C0F-FF9E-A860-1FCFB112666A}"/>
              </a:ext>
            </a:extLst>
          </p:cNvPr>
          <p:cNvSpPr txBox="1"/>
          <p:nvPr/>
        </p:nvSpPr>
        <p:spPr>
          <a:xfrm>
            <a:off x="1171575" y="1910117"/>
            <a:ext cx="4622292" cy="3159904"/>
          </a:xfrm>
          <a:prstGeom prst="rect">
            <a:avLst/>
          </a:prstGeom>
          <a:noFill/>
        </p:spPr>
        <p:txBody>
          <a:bodyPr wrap="square">
            <a:spAutoFit/>
          </a:bodyPr>
          <a:lstStyle/>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Nombre del alumno: </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Cynthia Jasmine Morales Torres</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b="1" dirty="0">
                <a:latin typeface="Arial" panose="020B0604020202020204" pitchFamily="34" charset="0"/>
                <a:ea typeface="Calibri" panose="020F0502020204030204" pitchFamily="34" charset="0"/>
                <a:cs typeface="Arial" panose="020B0604020202020204" pitchFamily="34" charset="0"/>
              </a:rPr>
              <a:t>Numero de control</a:t>
            </a:r>
            <a:r>
              <a:rPr lang="es-MX" dirty="0">
                <a:latin typeface="Arial" panose="020B0604020202020204" pitchFamily="34" charset="0"/>
                <a:ea typeface="Calibri" panose="020F0502020204030204" pitchFamily="34" charset="0"/>
                <a:cs typeface="Arial" panose="020B0604020202020204" pitchFamily="34" charset="0"/>
              </a:rPr>
              <a:t>:</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latin typeface="Arial" panose="020B0604020202020204" pitchFamily="34" charset="0"/>
                <a:ea typeface="Calibri" panose="020F0502020204030204" pitchFamily="34" charset="0"/>
                <a:cs typeface="Arial" panose="020B0604020202020204" pitchFamily="34" charset="0"/>
              </a:rPr>
              <a:t>231260014</a:t>
            </a:r>
            <a:endParaRPr lang="es-MX" sz="1600" dirty="0">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Sexto semestre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Especialidad:</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id="{15BF3F7A-C975-5C69-4A54-52D24A576BAE}"/>
              </a:ext>
            </a:extLst>
          </p:cNvPr>
          <p:cNvSpPr txBox="1"/>
          <p:nvPr/>
        </p:nvSpPr>
        <p:spPr>
          <a:xfrm>
            <a:off x="5910336" y="1910117"/>
            <a:ext cx="6099048" cy="3159904"/>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docente: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Ing. Francisco Javier Mingo Velázquez</a:t>
            </a:r>
          </a:p>
          <a:p>
            <a:pPr algn="ctr">
              <a:lnSpc>
                <a:spcPct val="107000"/>
              </a:lnSpc>
              <a:spcAft>
                <a:spcPts val="800"/>
              </a:spcAft>
            </a:pPr>
            <a:r>
              <a:rPr lang="es-MX" b="1" dirty="0">
                <a:effectLst/>
                <a:latin typeface="Arial" panose="020B0604020202020204" pitchFamily="34" charset="0"/>
                <a:ea typeface="Calibri" panose="020F0502020204030204" pitchFamily="34" charset="0"/>
                <a:cs typeface="Arial" panose="020B0604020202020204" pitchFamily="34" charset="0"/>
              </a:rPr>
              <a:t>Materia: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dirty="0">
                <a:effectLst/>
                <a:latin typeface="Arial" panose="020B0604020202020204" pitchFamily="34" charset="0"/>
                <a:ea typeface="Calibri" panose="020F0502020204030204" pitchFamily="34" charset="0"/>
                <a:cs typeface="Arial" panose="020B0604020202020204" pitchFamily="34" charset="0"/>
              </a:rPr>
              <a:t>Lenguajes y Autómatas 1</a:t>
            </a:r>
            <a:endParaRPr lang="es-MX"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Nombre del trabajo: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4.3 Ejercicio</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Fecha de entrega:</a:t>
            </a:r>
          </a:p>
          <a:p>
            <a:pPr algn="ctr">
              <a:lnSpc>
                <a:spcPct val="107000"/>
              </a:lnSpc>
              <a:spcAft>
                <a:spcPts val="800"/>
              </a:spcAft>
            </a:pPr>
            <a:r>
              <a:rPr lang="es-MX" b="1">
                <a:latin typeface="Arial" panose="020B0604020202020204" pitchFamily="34" charset="0"/>
                <a:ea typeface="Calibri" panose="020F0502020204030204" pitchFamily="34" charset="0"/>
                <a:cs typeface="Arial" panose="020B0604020202020204" pitchFamily="34" charset="0"/>
              </a:rPr>
              <a:t>13/03/2026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6" name="CuadroTexto 5">
            <a:extLst>
              <a:ext uri="{FF2B5EF4-FFF2-40B4-BE49-F238E27FC236}">
                <a16:creationId xmlns:a16="http://schemas.microsoft.com/office/drawing/2014/main" id="{3F783B8D-F271-AA67-9BAC-0A35642F7943}"/>
              </a:ext>
            </a:extLst>
          </p:cNvPr>
          <p:cNvSpPr txBox="1"/>
          <p:nvPr/>
        </p:nvSpPr>
        <p:spPr>
          <a:xfrm>
            <a:off x="3046476" y="5423776"/>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 </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dirty="0">
                <a:effectLst/>
                <a:latin typeface="Arial" panose="020B0604020202020204" pitchFamily="34" charset="0"/>
                <a:ea typeface="Calibri" panose="020F0502020204030204" pitchFamily="34" charset="0"/>
                <a:cs typeface="Arial" panose="020B0604020202020204" pitchFamily="34" charset="0"/>
              </a:rPr>
              <a:t>Frontera Comalapa, Chiapas. A 09 de Marzo del 2026.</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7" name="CuadroTexto 6">
            <a:extLst>
              <a:ext uri="{FF2B5EF4-FFF2-40B4-BE49-F238E27FC236}">
                <a16:creationId xmlns:a16="http://schemas.microsoft.com/office/drawing/2014/main" id="{9309A39C-4D2A-ED74-CFCF-A3FB00C45D25}"/>
              </a:ext>
            </a:extLst>
          </p:cNvPr>
          <p:cNvSpPr txBox="1"/>
          <p:nvPr/>
        </p:nvSpPr>
        <p:spPr>
          <a:xfrm>
            <a:off x="2860812" y="904062"/>
            <a:ext cx="6099048" cy="766172"/>
          </a:xfrm>
          <a:prstGeom prst="rect">
            <a:avLst/>
          </a:prstGeom>
          <a:noFill/>
        </p:spPr>
        <p:txBody>
          <a:bodyPr wrap="square">
            <a:spAutoFit/>
          </a:bodyPr>
          <a:lstStyle/>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1800" b="1" dirty="0">
                <a:effectLst/>
                <a:latin typeface="Arial" panose="020B0604020202020204" pitchFamily="34" charset="0"/>
                <a:ea typeface="Calibri" panose="020F0502020204030204" pitchFamily="34" charset="0"/>
                <a:cs typeface="Arial" panose="020B0604020202020204" pitchFamily="34" charset="0"/>
              </a:rPr>
              <a:t>Modalidad Mixta</a:t>
            </a:r>
            <a:endParaRPr lang="es-MX" sz="1600" dirty="0">
              <a:effectLst/>
              <a:latin typeface="Arial" panose="020B0604020202020204" pitchFamily="34" charset="0"/>
              <a:ea typeface="Calibri" panose="020F0502020204030204" pitchFamily="34" charset="0"/>
              <a:cs typeface="Times New Roman" panose="02020603050405020304" pitchFamily="18" charset="0"/>
            </a:endParaRPr>
          </a:p>
        </p:txBody>
      </p:sp>
      <p:grpSp>
        <p:nvGrpSpPr>
          <p:cNvPr id="8" name="Grupo 7">
            <a:extLst>
              <a:ext uri="{FF2B5EF4-FFF2-40B4-BE49-F238E27FC236}">
                <a16:creationId xmlns:a16="http://schemas.microsoft.com/office/drawing/2014/main" id="{0BC66E71-907B-1890-B43B-404CA6CF8B44}"/>
              </a:ext>
            </a:extLst>
          </p:cNvPr>
          <p:cNvGrpSpPr/>
          <p:nvPr/>
        </p:nvGrpSpPr>
        <p:grpSpPr>
          <a:xfrm>
            <a:off x="2860812" y="266743"/>
            <a:ext cx="6357600" cy="637319"/>
            <a:chOff x="0" y="0"/>
            <a:chExt cx="5454045" cy="554990"/>
          </a:xfrm>
        </p:grpSpPr>
        <p:pic>
          <p:nvPicPr>
            <p:cNvPr id="9" name="Imagen 8">
              <a:extLst>
                <a:ext uri="{FF2B5EF4-FFF2-40B4-BE49-F238E27FC236}">
                  <a16:creationId xmlns:a16="http://schemas.microsoft.com/office/drawing/2014/main" id="{D770B61E-2FAE-A1D3-EC51-4F74957CE0AA}"/>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ackgroundRemoval t="0" b="100000" l="0" r="98790">
                          <a14:foregroundMark x1="69758" y1="22660" x2="69758" y2="22660"/>
                          <a14:foregroundMark x1="74194" y1="18227" x2="74194" y2="18227"/>
                          <a14:foregroundMark x1="84274" y1="16256" x2="84274" y2="16256"/>
                          <a14:foregroundMark x1="92339" y1="19704" x2="92339" y2="19704"/>
                          <a14:foregroundMark x1="95968" y1="25123" x2="95968" y2="25123"/>
                          <a14:foregroundMark x1="90323" y1="27094" x2="90323" y2="27094"/>
                          <a14:foregroundMark x1="80645" y1="21182" x2="80645" y2="21182"/>
                          <a14:foregroundMark x1="75806" y1="30542" x2="75806" y2="30542"/>
                          <a14:foregroundMark x1="75806" y1="36946" x2="75806" y2="36946"/>
                          <a14:foregroundMark x1="80242" y1="36453" x2="80242" y2="36453"/>
                          <a14:foregroundMark x1="80645" y1="30542" x2="80645" y2="30542"/>
                          <a14:foregroundMark x1="84677" y1="30049" x2="84677" y2="30049"/>
                          <a14:foregroundMark x1="84677" y1="36946" x2="84677" y2="36946"/>
                          <a14:foregroundMark x1="75403" y1="42857" x2="75403" y2="42857"/>
                          <a14:foregroundMark x1="81048" y1="46305" x2="81048" y2="46305"/>
                          <a14:foregroundMark x1="70161" y1="52217" x2="70161" y2="52217"/>
                          <a14:foregroundMark x1="77419" y1="51724" x2="77419" y2="51724"/>
                          <a14:foregroundMark x1="81452" y1="52217" x2="81452" y2="52217"/>
                          <a14:foregroundMark x1="85484" y1="51232" x2="85484" y2="51232"/>
                          <a14:foregroundMark x1="90323" y1="42365" x2="90323" y2="42365"/>
                        </a14:backgroundRemoval>
                      </a14:imgEffect>
                    </a14:imgLayer>
                  </a14:imgProps>
                </a:ext>
                <a:ext uri="{28A0092B-C50C-407E-A947-70E740481C1C}">
                  <a14:useLocalDpi xmlns:a14="http://schemas.microsoft.com/office/drawing/2010/main" val="0"/>
                </a:ext>
              </a:extLst>
            </a:blip>
            <a:srcRect b="29873"/>
            <a:stretch/>
          </p:blipFill>
          <p:spPr bwMode="auto">
            <a:xfrm>
              <a:off x="4486940" y="0"/>
              <a:ext cx="967105" cy="554990"/>
            </a:xfrm>
            <a:prstGeom prst="rect">
              <a:avLst/>
            </a:prstGeom>
            <a:ln>
              <a:noFill/>
            </a:ln>
            <a:extLst>
              <a:ext uri="{53640926-AAD7-44D8-BBD7-CCE9431645EC}">
                <a14:shadowObscured xmlns:a14="http://schemas.microsoft.com/office/drawing/2010/main"/>
              </a:ext>
            </a:extLst>
          </p:spPr>
        </p:pic>
        <p:pic>
          <p:nvPicPr>
            <p:cNvPr id="10" name="Imagen 9">
              <a:extLst>
                <a:ext uri="{FF2B5EF4-FFF2-40B4-BE49-F238E27FC236}">
                  <a16:creationId xmlns:a16="http://schemas.microsoft.com/office/drawing/2014/main" id="{5768354E-905A-0A3F-3CFD-E3BB240C6B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3442" y="0"/>
              <a:ext cx="1221740" cy="539115"/>
            </a:xfrm>
            <a:prstGeom prst="rect">
              <a:avLst/>
            </a:prstGeom>
          </p:spPr>
        </p:pic>
        <p:pic>
          <p:nvPicPr>
            <p:cNvPr id="11" name="Imagen 10">
              <a:extLst>
                <a:ext uri="{FF2B5EF4-FFF2-40B4-BE49-F238E27FC236}">
                  <a16:creationId xmlns:a16="http://schemas.microsoft.com/office/drawing/2014/main" id="{37DA35C9-5E10-B07C-2C52-A7868C17C4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615565" cy="541655"/>
            </a:xfrm>
            <a:prstGeom prst="rect">
              <a:avLst/>
            </a:prstGeom>
          </p:spPr>
        </p:pic>
        <p:cxnSp>
          <p:nvCxnSpPr>
            <p:cNvPr id="12" name="Conector recto 11">
              <a:extLst>
                <a:ext uri="{FF2B5EF4-FFF2-40B4-BE49-F238E27FC236}">
                  <a16:creationId xmlns:a16="http://schemas.microsoft.com/office/drawing/2014/main" id="{9A5C63BC-77BA-2C67-2EBF-6B652405B18A}"/>
                </a:ext>
              </a:extLst>
            </p:cNvPr>
            <p:cNvCxnSpPr/>
            <p:nvPr/>
          </p:nvCxnSpPr>
          <p:spPr>
            <a:xfrm>
              <a:off x="2849526" y="53163"/>
              <a:ext cx="0" cy="435935"/>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010585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BC3E6A-50B2-C2CC-E246-1650BA215F1F}"/>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08AE7FF4-CF43-78D4-A790-280FF76393D5}"/>
              </a:ext>
            </a:extLst>
          </p:cNvPr>
          <p:cNvSpPr>
            <a:spLocks noGrp="1"/>
          </p:cNvSpPr>
          <p:nvPr>
            <p:ph idx="1"/>
          </p:nvPr>
        </p:nvSpPr>
        <p:spPr/>
        <p:txBody>
          <a:bodyPr>
            <a:normAutofit lnSpcReduction="10000"/>
          </a:bodyPr>
          <a:lstStyle/>
          <a:p>
            <a:pPr marL="0" indent="0" algn="just">
              <a:buNone/>
            </a:pPr>
            <a:r>
              <a:rPr lang="es-MX" dirty="0"/>
              <a:t>El presente trabajo tiene como objetivo mostrar el funcionamiento de un analizador léxico dentro del desarrollo de programas, el cual forma parte fundamental en la etapa inicial de la compilación. Un analizador léxico se encarga de leer el código fuente y dividirlo en unidades más pequeñas llamadas tokens, permitiendo así identificar palabras clave, identificadores, operadores y otros elementos del lenguaje.</a:t>
            </a:r>
          </a:p>
          <a:p>
            <a:pPr marL="0" indent="0" algn="just">
              <a:buNone/>
            </a:pPr>
            <a:r>
              <a:rPr lang="es-MX" dirty="0"/>
              <a:t>En este ejercicio se presenta la ejecución de un programa capaz de analizar diferentes fragmentos de código, tanto correctos como aquellos que contienen errores léxicos, con el fin de comprender su comportamiento y la importancia de esta herramienta en la detección de errores desde etapas tempranas.</a:t>
            </a:r>
          </a:p>
          <a:p>
            <a:pPr marL="0" indent="0" algn="just">
              <a:buNone/>
            </a:pPr>
            <a:endParaRPr lang="es-MX" dirty="0"/>
          </a:p>
        </p:txBody>
      </p:sp>
    </p:spTree>
    <p:extLst>
      <p:ext uri="{BB962C8B-B14F-4D97-AF65-F5344CB8AC3E}">
        <p14:creationId xmlns:p14="http://schemas.microsoft.com/office/powerpoint/2010/main" val="2145626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7DC486-8BE3-6796-CCD5-87DED87C9E28}"/>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475393A6-6D70-339B-31EF-7DA06FF71C2B}"/>
              </a:ext>
            </a:extLst>
          </p:cNvPr>
          <p:cNvSpPr>
            <a:spLocks noGrp="1"/>
          </p:cNvSpPr>
          <p:nvPr>
            <p:ph idx="1"/>
          </p:nvPr>
        </p:nvSpPr>
        <p:spPr/>
        <p:txBody>
          <a:bodyPr>
            <a:normAutofit lnSpcReduction="10000"/>
          </a:bodyPr>
          <a:lstStyle/>
          <a:p>
            <a:pPr marL="0" indent="0" algn="just">
              <a:buNone/>
            </a:pPr>
            <a:r>
              <a:rPr lang="es-MX" dirty="0"/>
              <a:t>La realización de este ejercicio es importante debido a que permite comprender el papel que desempeña el analizador léxico en el proceso de compilación, siendo el encargado de validar la estructura básica del código fuente. Además, ayuda a identificar errores comunes como símbolos no válidos, números mal formados o cadenas incompletas.</a:t>
            </a:r>
          </a:p>
          <a:p>
            <a:pPr marL="0" indent="0" algn="just">
              <a:buNone/>
            </a:pPr>
            <a:r>
              <a:rPr lang="es-MX" dirty="0"/>
              <a:t>El desarrollo y ejecución de este tipo de programas fortalece los conocimientos en el área de lenguajes y autómatas, así como en la lógica de programación, ya que permite observar de manera práctica cómo se procesa el código y cómo se detectan errores antes de continuar con etapas más avanzadas. Esto contribuye a mejorar la calidad del software y a reducir fallos durante su ejecución.</a:t>
            </a:r>
          </a:p>
          <a:p>
            <a:pPr marL="0" indent="0" algn="just">
              <a:buNone/>
            </a:pPr>
            <a:endParaRPr lang="es-MX" dirty="0"/>
          </a:p>
        </p:txBody>
      </p:sp>
    </p:spTree>
    <p:extLst>
      <p:ext uri="{BB962C8B-B14F-4D97-AF65-F5344CB8AC3E}">
        <p14:creationId xmlns:p14="http://schemas.microsoft.com/office/powerpoint/2010/main" val="287998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C8322E-1CA7-BE4A-D4A6-1795F0984652}"/>
              </a:ext>
            </a:extLst>
          </p:cNvPr>
          <p:cNvSpPr>
            <a:spLocks noGrp="1"/>
          </p:cNvSpPr>
          <p:nvPr>
            <p:ph type="title"/>
          </p:nvPr>
        </p:nvSpPr>
        <p:spPr/>
        <p:txBody>
          <a:bodyPr/>
          <a:lstStyle/>
          <a:p>
            <a:r>
              <a:rPr lang="es-MX" dirty="0"/>
              <a:t>El </a:t>
            </a:r>
            <a:r>
              <a:rPr lang="es-MX" dirty="0" err="1"/>
              <a:t>MainApplication</a:t>
            </a:r>
            <a:r>
              <a:rPr lang="es-MX" dirty="0"/>
              <a:t> es quien ejecutara el programa </a:t>
            </a:r>
          </a:p>
        </p:txBody>
      </p:sp>
      <p:sp>
        <p:nvSpPr>
          <p:cNvPr id="6" name="CuadroTexto 5">
            <a:extLst>
              <a:ext uri="{FF2B5EF4-FFF2-40B4-BE49-F238E27FC236}">
                <a16:creationId xmlns:a16="http://schemas.microsoft.com/office/drawing/2014/main" id="{388544CC-5B17-DA39-62E8-9CCDB5F9386F}"/>
              </a:ext>
            </a:extLst>
          </p:cNvPr>
          <p:cNvSpPr txBox="1"/>
          <p:nvPr/>
        </p:nvSpPr>
        <p:spPr>
          <a:xfrm>
            <a:off x="6000750" y="2305050"/>
            <a:ext cx="4962525" cy="646331"/>
          </a:xfrm>
          <a:prstGeom prst="rect">
            <a:avLst/>
          </a:prstGeom>
          <a:noFill/>
        </p:spPr>
        <p:txBody>
          <a:bodyPr wrap="square" rtlCol="0">
            <a:spAutoFit/>
          </a:bodyPr>
          <a:lstStyle/>
          <a:p>
            <a:r>
              <a:rPr lang="es-MX" dirty="0"/>
              <a:t>Daremos </a:t>
            </a:r>
            <a:r>
              <a:rPr lang="es-MX" dirty="0" err="1"/>
              <a:t>click</a:t>
            </a:r>
            <a:r>
              <a:rPr lang="es-MX" dirty="0"/>
              <a:t> en run para ver la ejecución de nuestro analizador léxico:</a:t>
            </a:r>
          </a:p>
        </p:txBody>
      </p:sp>
      <p:pic>
        <p:nvPicPr>
          <p:cNvPr id="10" name="Marcador de contenido 9">
            <a:extLst>
              <a:ext uri="{FF2B5EF4-FFF2-40B4-BE49-F238E27FC236}">
                <a16:creationId xmlns:a16="http://schemas.microsoft.com/office/drawing/2014/main" id="{1D24FB0F-4FB0-A8BB-6C95-1029E9400A23}"/>
              </a:ext>
            </a:extLst>
          </p:cNvPr>
          <p:cNvPicPr>
            <a:picLocks noGrp="1" noChangeAspect="1"/>
          </p:cNvPicPr>
          <p:nvPr>
            <p:ph idx="1"/>
          </p:nvPr>
        </p:nvPicPr>
        <p:blipFill>
          <a:blip r:embed="rId2"/>
          <a:stretch>
            <a:fillRect/>
          </a:stretch>
        </p:blipFill>
        <p:spPr>
          <a:xfrm>
            <a:off x="747382" y="2305050"/>
            <a:ext cx="5278607" cy="2400300"/>
          </a:xfrm>
        </p:spPr>
      </p:pic>
      <p:pic>
        <p:nvPicPr>
          <p:cNvPr id="12" name="Imagen 11">
            <a:extLst>
              <a:ext uri="{FF2B5EF4-FFF2-40B4-BE49-F238E27FC236}">
                <a16:creationId xmlns:a16="http://schemas.microsoft.com/office/drawing/2014/main" id="{A4AD346B-09D2-62F9-AA9F-6B05CDDD83B1}"/>
              </a:ext>
            </a:extLst>
          </p:cNvPr>
          <p:cNvPicPr>
            <a:picLocks noChangeAspect="1"/>
          </p:cNvPicPr>
          <p:nvPr/>
        </p:nvPicPr>
        <p:blipFill>
          <a:blip r:embed="rId3"/>
          <a:stretch>
            <a:fillRect/>
          </a:stretch>
        </p:blipFill>
        <p:spPr>
          <a:xfrm>
            <a:off x="6686357" y="3118005"/>
            <a:ext cx="2762636" cy="895475"/>
          </a:xfrm>
          <a:prstGeom prst="rect">
            <a:avLst/>
          </a:prstGeom>
        </p:spPr>
      </p:pic>
    </p:spTree>
    <p:extLst>
      <p:ext uri="{BB962C8B-B14F-4D97-AF65-F5344CB8AC3E}">
        <p14:creationId xmlns:p14="http://schemas.microsoft.com/office/powerpoint/2010/main" val="2629404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3A4008-7429-1117-43B6-CEFC1BE752D1}"/>
              </a:ext>
            </a:extLst>
          </p:cNvPr>
          <p:cNvSpPr>
            <a:spLocks noGrp="1"/>
          </p:cNvSpPr>
          <p:nvPr>
            <p:ph type="title"/>
          </p:nvPr>
        </p:nvSpPr>
        <p:spPr/>
        <p:txBody>
          <a:bodyPr/>
          <a:lstStyle/>
          <a:p>
            <a:r>
              <a:rPr lang="es-MX" dirty="0"/>
              <a:t>En seguida nos saldrá esta interfaz y donde colocaremos un código a analizar</a:t>
            </a:r>
          </a:p>
        </p:txBody>
      </p:sp>
      <p:pic>
        <p:nvPicPr>
          <p:cNvPr id="5" name="Marcador de contenido 4">
            <a:extLst>
              <a:ext uri="{FF2B5EF4-FFF2-40B4-BE49-F238E27FC236}">
                <a16:creationId xmlns:a16="http://schemas.microsoft.com/office/drawing/2014/main" id="{AAA3DBF4-AB8B-66D0-80E5-0CBD0AA81D5E}"/>
              </a:ext>
            </a:extLst>
          </p:cNvPr>
          <p:cNvPicPr>
            <a:picLocks noGrp="1" noChangeAspect="1"/>
          </p:cNvPicPr>
          <p:nvPr>
            <p:ph idx="1"/>
          </p:nvPr>
        </p:nvPicPr>
        <p:blipFill>
          <a:blip r:embed="rId2"/>
          <a:stretch>
            <a:fillRect/>
          </a:stretch>
        </p:blipFill>
        <p:spPr>
          <a:xfrm>
            <a:off x="432882" y="2103436"/>
            <a:ext cx="3495493" cy="2747963"/>
          </a:xfrm>
        </p:spPr>
      </p:pic>
      <p:pic>
        <p:nvPicPr>
          <p:cNvPr id="7" name="Imagen 6">
            <a:extLst>
              <a:ext uri="{FF2B5EF4-FFF2-40B4-BE49-F238E27FC236}">
                <a16:creationId xmlns:a16="http://schemas.microsoft.com/office/drawing/2014/main" id="{3E057F61-D3EF-C8EC-225A-93AA9D77F92B}"/>
              </a:ext>
            </a:extLst>
          </p:cNvPr>
          <p:cNvPicPr>
            <a:picLocks noChangeAspect="1"/>
          </p:cNvPicPr>
          <p:nvPr/>
        </p:nvPicPr>
        <p:blipFill>
          <a:blip r:embed="rId3"/>
          <a:stretch>
            <a:fillRect/>
          </a:stretch>
        </p:blipFill>
        <p:spPr>
          <a:xfrm>
            <a:off x="4193688" y="2124844"/>
            <a:ext cx="3495493" cy="2726555"/>
          </a:xfrm>
          <a:prstGeom prst="rect">
            <a:avLst/>
          </a:prstGeom>
        </p:spPr>
      </p:pic>
      <p:pic>
        <p:nvPicPr>
          <p:cNvPr id="9" name="Imagen 8">
            <a:extLst>
              <a:ext uri="{FF2B5EF4-FFF2-40B4-BE49-F238E27FC236}">
                <a16:creationId xmlns:a16="http://schemas.microsoft.com/office/drawing/2014/main" id="{A8292A49-D180-BFE0-736F-76C46AB10657}"/>
              </a:ext>
            </a:extLst>
          </p:cNvPr>
          <p:cNvPicPr>
            <a:picLocks noChangeAspect="1"/>
          </p:cNvPicPr>
          <p:nvPr/>
        </p:nvPicPr>
        <p:blipFill>
          <a:blip r:embed="rId4"/>
          <a:stretch>
            <a:fillRect/>
          </a:stretch>
        </p:blipFill>
        <p:spPr>
          <a:xfrm>
            <a:off x="7954494" y="2103436"/>
            <a:ext cx="3495492" cy="2730082"/>
          </a:xfrm>
          <a:prstGeom prst="rect">
            <a:avLst/>
          </a:prstGeom>
        </p:spPr>
      </p:pic>
      <p:sp>
        <p:nvSpPr>
          <p:cNvPr id="10" name="CuadroTexto 9">
            <a:extLst>
              <a:ext uri="{FF2B5EF4-FFF2-40B4-BE49-F238E27FC236}">
                <a16:creationId xmlns:a16="http://schemas.microsoft.com/office/drawing/2014/main" id="{EA8FDC6A-E3AB-D9E2-6C33-14F35B65AAA2}"/>
              </a:ext>
            </a:extLst>
          </p:cNvPr>
          <p:cNvSpPr txBox="1"/>
          <p:nvPr/>
        </p:nvSpPr>
        <p:spPr>
          <a:xfrm>
            <a:off x="4762500" y="1690688"/>
            <a:ext cx="2209800" cy="369332"/>
          </a:xfrm>
          <a:prstGeom prst="rect">
            <a:avLst/>
          </a:prstGeom>
          <a:noFill/>
        </p:spPr>
        <p:txBody>
          <a:bodyPr wrap="square" rtlCol="0">
            <a:spAutoFit/>
          </a:bodyPr>
          <a:lstStyle/>
          <a:p>
            <a:r>
              <a:rPr lang="es-MX" dirty="0"/>
              <a:t>Sin errores léxicos</a:t>
            </a:r>
          </a:p>
        </p:txBody>
      </p:sp>
      <p:sp>
        <p:nvSpPr>
          <p:cNvPr id="11" name="CuadroTexto 10">
            <a:extLst>
              <a:ext uri="{FF2B5EF4-FFF2-40B4-BE49-F238E27FC236}">
                <a16:creationId xmlns:a16="http://schemas.microsoft.com/office/drawing/2014/main" id="{81B09F84-4CC3-C315-3EB2-E0CE5D767730}"/>
              </a:ext>
            </a:extLst>
          </p:cNvPr>
          <p:cNvSpPr txBox="1"/>
          <p:nvPr/>
        </p:nvSpPr>
        <p:spPr>
          <a:xfrm>
            <a:off x="8597340" y="1582222"/>
            <a:ext cx="2209800" cy="369332"/>
          </a:xfrm>
          <a:prstGeom prst="rect">
            <a:avLst/>
          </a:prstGeom>
          <a:noFill/>
        </p:spPr>
        <p:txBody>
          <a:bodyPr wrap="square" rtlCol="0">
            <a:spAutoFit/>
          </a:bodyPr>
          <a:lstStyle/>
          <a:p>
            <a:r>
              <a:rPr lang="es-MX" dirty="0"/>
              <a:t>Con errores léxicos</a:t>
            </a:r>
          </a:p>
        </p:txBody>
      </p:sp>
    </p:spTree>
    <p:extLst>
      <p:ext uri="{BB962C8B-B14F-4D97-AF65-F5344CB8AC3E}">
        <p14:creationId xmlns:p14="http://schemas.microsoft.com/office/powerpoint/2010/main" val="2328451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A489EB-7FC1-AF11-02B7-8AF038C63291}"/>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0133FBBD-D0BB-4649-8DE9-744E048AC2ED}"/>
              </a:ext>
            </a:extLst>
          </p:cNvPr>
          <p:cNvSpPr>
            <a:spLocks noGrp="1"/>
          </p:cNvSpPr>
          <p:nvPr>
            <p:ph idx="1"/>
          </p:nvPr>
        </p:nvSpPr>
        <p:spPr/>
        <p:txBody>
          <a:bodyPr>
            <a:normAutofit lnSpcReduction="10000"/>
          </a:bodyPr>
          <a:lstStyle/>
          <a:p>
            <a:pPr marL="0" indent="0" algn="just">
              <a:buNone/>
            </a:pPr>
            <a:r>
              <a:rPr lang="es-MX" dirty="0"/>
              <a:t>En conclusión, el analizador léxico es una herramienta fundamental en el proceso de desarrollo de software, ya que permite identificar y clasificar los elementos básicos del código fuente, así como detectar errores desde las primeras etapas. A través de esta práctica, se logró comprender su funcionamiento y la importancia de validar correctamente la entrada del programa.</a:t>
            </a:r>
          </a:p>
          <a:p>
            <a:pPr marL="0" indent="0" algn="just">
              <a:buNone/>
            </a:pPr>
            <a:r>
              <a:rPr lang="es-MX" dirty="0"/>
              <a:t>Asimismo, se observó cómo el sistema responde ante códigos correctos y con errores léxicos, lo cual facilita la detección de fallos y mejora la comprensión del comportamiento del programa. Este conocimiento resulta esencial para el desarrollo de aplicaciones más eficientes y confiables.</a:t>
            </a:r>
          </a:p>
          <a:p>
            <a:pPr marL="0" indent="0" algn="just">
              <a:buNone/>
            </a:pPr>
            <a:endParaRPr lang="es-MX" dirty="0"/>
          </a:p>
        </p:txBody>
      </p:sp>
    </p:spTree>
    <p:extLst>
      <p:ext uri="{BB962C8B-B14F-4D97-AF65-F5344CB8AC3E}">
        <p14:creationId xmlns:p14="http://schemas.microsoft.com/office/powerpoint/2010/main" val="755245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2CB45-9C4E-69A2-CFEA-02C1C7ECBF27}"/>
              </a:ext>
            </a:extLst>
          </p:cNvPr>
          <p:cNvSpPr>
            <a:spLocks noGrp="1"/>
          </p:cNvSpPr>
          <p:nvPr>
            <p:ph type="title"/>
          </p:nvPr>
        </p:nvSpPr>
        <p:spPr/>
        <p:txBody>
          <a:bodyPr/>
          <a:lstStyle/>
          <a:p>
            <a:r>
              <a:rPr lang="es-MX" dirty="0"/>
              <a:t>Anexo link de la actividad solicitada y enviada a </a:t>
            </a:r>
            <a:r>
              <a:rPr lang="es-MX" dirty="0" err="1"/>
              <a:t>github</a:t>
            </a:r>
            <a:r>
              <a:rPr lang="es-MX" dirty="0"/>
              <a:t>:</a:t>
            </a:r>
          </a:p>
        </p:txBody>
      </p:sp>
      <p:sp>
        <p:nvSpPr>
          <p:cNvPr id="3" name="Marcador de contenido 2">
            <a:extLst>
              <a:ext uri="{FF2B5EF4-FFF2-40B4-BE49-F238E27FC236}">
                <a16:creationId xmlns:a16="http://schemas.microsoft.com/office/drawing/2014/main" id="{DB04BD36-5738-B8C3-1E9C-5BBEF7E87FFD}"/>
              </a:ext>
            </a:extLst>
          </p:cNvPr>
          <p:cNvSpPr>
            <a:spLocks noGrp="1"/>
          </p:cNvSpPr>
          <p:nvPr>
            <p:ph idx="1"/>
          </p:nvPr>
        </p:nvSpPr>
        <p:spPr/>
        <p:txBody>
          <a:bodyPr/>
          <a:lstStyle/>
          <a:p>
            <a:pPr marL="0" indent="0">
              <a:buNone/>
            </a:pPr>
            <a:r>
              <a:rPr lang="es-MX" dirty="0">
                <a:hlinkClick r:id="rId2"/>
              </a:rPr>
              <a:t>https://github.com/Cynthia21Morales/Lenguajes_Y_Autonomas1_CynthiaJasmineMT/blob/main/Unidad%204/4.3%20Ejercicios_Cynthia%20Jasmine%20Morales%20Torres.pptx</a:t>
            </a:r>
          </a:p>
        </p:txBody>
      </p:sp>
    </p:spTree>
    <p:extLst>
      <p:ext uri="{BB962C8B-B14F-4D97-AF65-F5344CB8AC3E}">
        <p14:creationId xmlns:p14="http://schemas.microsoft.com/office/powerpoint/2010/main" val="301622665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505</Words>
  <Application>Microsoft Office PowerPoint</Application>
  <PresentationFormat>Panorámica</PresentationFormat>
  <Paragraphs>36</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Calibri Light</vt:lpstr>
      <vt:lpstr>Tema de Office</vt:lpstr>
      <vt:lpstr>Presentación de PowerPoint</vt:lpstr>
      <vt:lpstr>Introducción </vt:lpstr>
      <vt:lpstr>Justificación </vt:lpstr>
      <vt:lpstr>El MainApplication es quien ejecutara el programa </vt:lpstr>
      <vt:lpstr>En seguida nos saldrá esta interfaz y donde colocaremos un código a analizar</vt:lpstr>
      <vt:lpstr>Conclusión </vt:lpstr>
      <vt:lpstr>Anexo link de la actividad solicitada y enviada a github: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840 G5</dc:creator>
  <cp:lastModifiedBy>HP 840 G5</cp:lastModifiedBy>
  <cp:revision>6</cp:revision>
  <dcterms:created xsi:type="dcterms:W3CDTF">2026-03-22T16:57:39Z</dcterms:created>
  <dcterms:modified xsi:type="dcterms:W3CDTF">2026-03-27T03:34:18Z</dcterms:modified>
</cp:coreProperties>
</file>