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59" r:id="rId9"/>
    <p:sldId id="264" r:id="rId10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42" autoAdjust="0"/>
    <p:restoredTop sz="94660"/>
  </p:normalViewPr>
  <p:slideViewPr>
    <p:cSldViewPr snapToGrid="0">
      <p:cViewPr varScale="1">
        <p:scale>
          <a:sx n="80" d="100"/>
          <a:sy n="80" d="100"/>
        </p:scale>
        <p:origin x="55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C69CE2-1930-CC39-3931-3DD317131C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06C9ED1-452C-4C2E-AD19-547B32D744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5A9A296-3952-29CD-C94E-CD06883BD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35B65-14DE-4BA9-A646-54F85115DF19}" type="datetimeFigureOut">
              <a:rPr lang="es-MX" smtClean="0"/>
              <a:t>18/03/2026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81B4851-EE1E-0D0E-5EA5-684A5D1E3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CF9635-4EB1-411F-CFAA-4C32B9DD4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4235C-A34B-4F52-84E8-1DCD078DE98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96230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79623F-A3C3-5218-1CEC-54EC0A1AA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3D4769-5DA5-7D7D-FB4A-9EDA7C7E19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D8363F-203D-061D-C925-8B13F1856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35B65-14DE-4BA9-A646-54F85115DF19}" type="datetimeFigureOut">
              <a:rPr lang="es-MX" smtClean="0"/>
              <a:t>18/03/2026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BE1BF50-B365-7174-296F-55F3FF061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54B161-1EA1-0C90-48B8-A0D32E723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4235C-A34B-4F52-84E8-1DCD078DE98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33659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45F159-AED0-660F-B616-40FC78CEC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90DD0F0-5F09-89BF-4FEB-FE79BDA1AD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D97FBA8-4078-6CD3-4531-82A0098EA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35B65-14DE-4BA9-A646-54F85115DF19}" type="datetimeFigureOut">
              <a:rPr lang="es-MX" smtClean="0"/>
              <a:t>18/03/2026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C2FC634-3FCE-D295-F229-CCBEA0A62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ABE7776-6517-7EC3-D234-9A51EEBBC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4235C-A34B-4F52-84E8-1DCD078DE98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52060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1E0FAC-DE61-A0DF-B1E3-335FA7045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5F12C59-B6BD-DC54-F517-93EE3D5C8D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32A9A4C-D91D-E4DF-472A-C3CD3EF9B6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7ED0461-D591-DD62-5484-CEEB68DBC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35B65-14DE-4BA9-A646-54F85115DF19}" type="datetimeFigureOut">
              <a:rPr lang="es-MX" smtClean="0"/>
              <a:t>18/03/2026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ABC7923-BC5F-0865-8A79-6A230734D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76D8449-F6E1-7310-F334-D8A34EE5F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4235C-A34B-4F52-84E8-1DCD078DE98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24406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8CE378-D3B4-32B1-ADEA-8DBB6075F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17CC898-E14F-9063-E381-86E44A1D8D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41C413-95AD-9CCC-260F-6A5C2755EE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F6EAA82-03AD-FC03-BB19-233C5D95DB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A194BD7-80CB-3736-9243-24A62CAE3C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7CF3ACE-B563-F94B-4E84-F2D4540B1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35B65-14DE-4BA9-A646-54F85115DF19}" type="datetimeFigureOut">
              <a:rPr lang="es-MX" smtClean="0"/>
              <a:t>18/03/2026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631E46D-11F9-5E56-AAA1-82730B34E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213F26B-6A20-FA7C-0971-AF645D17F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4235C-A34B-4F52-84E8-1DCD078DE98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29026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2FCE85-A4CF-D838-50C6-63FCED1DA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E689CFD-2622-4F0A-182A-372AC4D17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35B65-14DE-4BA9-A646-54F85115DF19}" type="datetimeFigureOut">
              <a:rPr lang="es-MX" smtClean="0"/>
              <a:t>18/03/2026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1D0AE77-454D-3584-7759-E8B645AC7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907A34F-0C6B-7A0A-52F6-A3CB58508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4235C-A34B-4F52-84E8-1DCD078DE98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06382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7AC83BB-D945-B7C7-1C29-414FF0F75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35B65-14DE-4BA9-A646-54F85115DF19}" type="datetimeFigureOut">
              <a:rPr lang="es-MX" smtClean="0"/>
              <a:t>18/03/2026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9A35CE6-EA38-3E07-D61F-C594FC8D6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D8EB568-AD5B-3753-EE42-2D8DA433B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4235C-A34B-4F52-84E8-1DCD078DE98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03253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38128C-E791-1CB4-3EF1-824DB0127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AFDAEC5-76B2-1A04-7D7B-E4520C14A9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0E4FB78-89C5-6DE4-D704-B0D613EAF2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903602E-A4AA-A7BE-FB1A-E98BA6985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35B65-14DE-4BA9-A646-54F85115DF19}" type="datetimeFigureOut">
              <a:rPr lang="es-MX" smtClean="0"/>
              <a:t>18/03/2026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DAE2E76-B1D5-F5DB-F056-76C6E27AE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396BA10-EF80-38F8-0C53-E38AA3DB8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4235C-A34B-4F52-84E8-1DCD078DE98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39109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1380E7-E68E-8C6E-062F-5952CE623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CF77A34-A0EF-8390-5680-1180C4AB18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3332216-CDFD-171E-7431-3AA5190FED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B067C32-8555-757F-2383-67345C941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35B65-14DE-4BA9-A646-54F85115DF19}" type="datetimeFigureOut">
              <a:rPr lang="es-MX" smtClean="0"/>
              <a:t>18/03/2026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01123E6-C3CF-CB9E-FFB3-997BC5C54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DBDD185-752B-7365-600A-49BF8D9F3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4235C-A34B-4F52-84E8-1DCD078DE98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88686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51FBBE-B8FF-D043-C825-BD18BD665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8DC1220-BC04-6E1B-3390-2929ADEE28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21055F-83A8-BDAD-760E-E4C256F00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35B65-14DE-4BA9-A646-54F85115DF19}" type="datetimeFigureOut">
              <a:rPr lang="es-MX" smtClean="0"/>
              <a:t>18/03/2026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604CB37-96C1-5CCF-5547-6AE9BEF11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5ACFFDD-E53C-C5B6-FB58-82988AAEC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4235C-A34B-4F52-84E8-1DCD078DE98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30083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C91EE60-FEDF-75CF-2318-8AE717DEC2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EE20614-DC31-66E8-6CE9-08EA5B7001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98D0DD-1399-C1E4-F090-549D6FB50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35B65-14DE-4BA9-A646-54F85115DF19}" type="datetimeFigureOut">
              <a:rPr lang="es-MX" smtClean="0"/>
              <a:t>18/03/2026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0EACE02-7749-9195-C21F-828D50EB5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A76511D-E01D-E68E-63A3-556BF3036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4235C-A34B-4F52-84E8-1DCD078DE98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0980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6A29F44-0C8A-5F76-5F2E-73446997D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9147147-E67D-9353-2EB6-1520F78E3B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1FC4579-036E-391F-7110-3CE52D5D71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735B65-14DE-4BA9-A646-54F85115DF19}" type="datetimeFigureOut">
              <a:rPr lang="es-MX" smtClean="0"/>
              <a:t>18/03/2026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1A2A5D-58FC-DA33-6A9D-F35F735EA3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CB4F46-F86F-20D4-086C-9C0B34594B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4235C-A34B-4F52-84E8-1DCD078DE98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77674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6BF3DADA-B7F6-A3E3-AC8B-68680C00AB2C}"/>
              </a:ext>
            </a:extLst>
          </p:cNvPr>
          <p:cNvSpPr txBox="1"/>
          <p:nvPr/>
        </p:nvSpPr>
        <p:spPr>
          <a:xfrm>
            <a:off x="1171575" y="1910117"/>
            <a:ext cx="4622292" cy="3159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Nombre del alumno: </a:t>
            </a:r>
            <a:endParaRPr lang="es-MX" sz="16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Cynthia Jasmine Morales Torres</a:t>
            </a:r>
            <a:endParaRPr lang="es-MX" sz="16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Numero de control</a:t>
            </a:r>
            <a:r>
              <a:rPr lang="es-MX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s-MX" sz="16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231260014</a:t>
            </a:r>
            <a:endParaRPr lang="es-MX" sz="1600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Semestre:  </a:t>
            </a:r>
            <a:endParaRPr lang="es-MX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Sexto semestre </a:t>
            </a:r>
            <a:endParaRPr lang="es-MX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Especialidad:</a:t>
            </a:r>
            <a:endParaRPr lang="es-MX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Ingeniería en Sistemas Computacionales.</a:t>
            </a:r>
            <a:endParaRPr lang="es-MX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AEFE90A-EDF1-32B0-53B2-91EF3088C62A}"/>
              </a:ext>
            </a:extLst>
          </p:cNvPr>
          <p:cNvSpPr txBox="1"/>
          <p:nvPr/>
        </p:nvSpPr>
        <p:spPr>
          <a:xfrm>
            <a:off x="5910336" y="1910117"/>
            <a:ext cx="6099048" cy="3159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Nombre del docente: </a:t>
            </a:r>
            <a:endParaRPr lang="es-MX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Ing. Francisco Javier Mingo Velázquez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Materia:</a:t>
            </a:r>
            <a:endParaRPr lang="es-MX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Lenguajes y Autómatas 1</a:t>
            </a:r>
            <a:endParaRPr lang="es-MX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Nombre del trabajo:</a:t>
            </a:r>
            <a:endParaRPr lang="es-MX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4.2 Reporte de Practica</a:t>
            </a:r>
            <a:endParaRPr lang="es-MX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Fecha de entrega: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09/03/2026</a:t>
            </a:r>
            <a:endParaRPr lang="es-MX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E545508-88A5-BA33-7785-B727B9730E6B}"/>
              </a:ext>
            </a:extLst>
          </p:cNvPr>
          <p:cNvSpPr txBox="1"/>
          <p:nvPr/>
        </p:nvSpPr>
        <p:spPr>
          <a:xfrm>
            <a:off x="3046476" y="5423776"/>
            <a:ext cx="6099048" cy="766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es-MX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Frontera Comalapa, Chiapas. A 09 de Marzo del 2026.</a:t>
            </a:r>
            <a:endParaRPr lang="es-MX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5917531-3F84-65A4-68A2-CE80C544BDFB}"/>
              </a:ext>
            </a:extLst>
          </p:cNvPr>
          <p:cNvSpPr txBox="1"/>
          <p:nvPr/>
        </p:nvSpPr>
        <p:spPr>
          <a:xfrm>
            <a:off x="2860812" y="904062"/>
            <a:ext cx="6099048" cy="766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Instituto Tecnológico de Frontera Comalapa</a:t>
            </a:r>
            <a:endParaRPr lang="es-MX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MX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Modalidad Mixta</a:t>
            </a:r>
            <a:endParaRPr lang="es-MX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2DFE4A2C-5083-C055-FC60-AB71CEF4E8B0}"/>
              </a:ext>
            </a:extLst>
          </p:cNvPr>
          <p:cNvGrpSpPr/>
          <p:nvPr/>
        </p:nvGrpSpPr>
        <p:grpSpPr>
          <a:xfrm>
            <a:off x="2860812" y="266743"/>
            <a:ext cx="6357600" cy="637319"/>
            <a:chOff x="0" y="0"/>
            <a:chExt cx="5454045" cy="554990"/>
          </a:xfrm>
        </p:grpSpPr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CD38A024-9E37-1456-33BD-8366D40FE84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0" b="100000" l="0" r="98790">
                          <a14:foregroundMark x1="69758" y1="22660" x2="69758" y2="22660"/>
                          <a14:foregroundMark x1="74194" y1="18227" x2="74194" y2="18227"/>
                          <a14:foregroundMark x1="84274" y1="16256" x2="84274" y2="16256"/>
                          <a14:foregroundMark x1="92339" y1="19704" x2="92339" y2="19704"/>
                          <a14:foregroundMark x1="95968" y1="25123" x2="95968" y2="25123"/>
                          <a14:foregroundMark x1="90323" y1="27094" x2="90323" y2="27094"/>
                          <a14:foregroundMark x1="80645" y1="21182" x2="80645" y2="21182"/>
                          <a14:foregroundMark x1="75806" y1="30542" x2="75806" y2="30542"/>
                          <a14:foregroundMark x1="75806" y1="36946" x2="75806" y2="36946"/>
                          <a14:foregroundMark x1="80242" y1="36453" x2="80242" y2="36453"/>
                          <a14:foregroundMark x1="80645" y1="30542" x2="80645" y2="30542"/>
                          <a14:foregroundMark x1="84677" y1="30049" x2="84677" y2="30049"/>
                          <a14:foregroundMark x1="84677" y1="36946" x2="84677" y2="36946"/>
                          <a14:foregroundMark x1="75403" y1="42857" x2="75403" y2="42857"/>
                          <a14:foregroundMark x1="81048" y1="46305" x2="81048" y2="46305"/>
                          <a14:foregroundMark x1="70161" y1="52217" x2="70161" y2="52217"/>
                          <a14:foregroundMark x1="77419" y1="51724" x2="77419" y2="51724"/>
                          <a14:foregroundMark x1="81452" y1="52217" x2="81452" y2="52217"/>
                          <a14:foregroundMark x1="85484" y1="51232" x2="85484" y2="51232"/>
                          <a14:foregroundMark x1="90323" y1="42365" x2="90323" y2="42365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9873"/>
            <a:stretch/>
          </p:blipFill>
          <p:spPr bwMode="auto">
            <a:xfrm>
              <a:off x="4486940" y="0"/>
              <a:ext cx="967105" cy="554990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E1EE910D-8971-7FFA-4229-8B7E2866305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3442" y="0"/>
              <a:ext cx="1221740" cy="539115"/>
            </a:xfrm>
            <a:prstGeom prst="rect">
              <a:avLst/>
            </a:prstGeom>
          </p:spPr>
        </p:pic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C95DC7E4-5B39-1C3A-D891-E538DFB455D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2615565" cy="541655"/>
            </a:xfrm>
            <a:prstGeom prst="rect">
              <a:avLst/>
            </a:prstGeom>
          </p:spPr>
        </p:pic>
        <p:cxnSp>
          <p:nvCxnSpPr>
            <p:cNvPr id="12" name="Conector recto 11">
              <a:extLst>
                <a:ext uri="{FF2B5EF4-FFF2-40B4-BE49-F238E27FC236}">
                  <a16:creationId xmlns:a16="http://schemas.microsoft.com/office/drawing/2014/main" id="{AF2BAB16-45A9-4096-F4F5-79E5439621AE}"/>
                </a:ext>
              </a:extLst>
            </p:cNvPr>
            <p:cNvCxnSpPr/>
            <p:nvPr/>
          </p:nvCxnSpPr>
          <p:spPr>
            <a:xfrm>
              <a:off x="2849526" y="53163"/>
              <a:ext cx="0" cy="43593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08506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274DDA-3D95-0E4A-E6A3-A0BE7E506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Introducción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2601F4-B13C-2938-03ED-62B3A45021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05105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sz="2000" dirty="0"/>
              <a:t>En la presente práctica se llevó a cabo el desarrollo de un analizador léxico utilizando Java y </a:t>
            </a:r>
            <a:r>
              <a:rPr lang="es-MX" sz="2000" dirty="0" err="1"/>
              <a:t>JavaFX</a:t>
            </a:r>
            <a:r>
              <a:rPr lang="es-MX" sz="2000" dirty="0"/>
              <a:t>, con el objetivo de comprender el funcionamiento de los lenguajes formales y los autómatas dentro del área de la programación. A través de la creación de un proyecto estructurado, se implementaron clases, paquetes y una interfaz gráfica que permite analizar cadenas de texto y clasificar sus componentes en tokens. Esta práctica permitió reforzar conocimientos teóricos mediante su aplicación en un entorno práctico y visual.</a:t>
            </a:r>
          </a:p>
        </p:txBody>
      </p:sp>
    </p:spTree>
    <p:extLst>
      <p:ext uri="{BB962C8B-B14F-4D97-AF65-F5344CB8AC3E}">
        <p14:creationId xmlns:p14="http://schemas.microsoft.com/office/powerpoint/2010/main" val="3466954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82E433-AB98-9322-AF82-8B76B2F9F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Justificación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EAF9A9-9C8D-C0E9-F10D-CC53B47E7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7007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sz="2000" dirty="0"/>
              <a:t>La realización de esta práctica es fundamental para el aprendizaje de los conceptos básicos de los lenguajes y autómatas, ya que el análisis léxico representa la primera fase en la construcción de compiladores e intérpretes. Mediante el desarrollo de este proyecto, se busca que se comprenda cómo se identifican y clasifican los elementos de un lenguaje, así como la importancia de detectar errores léxicos. Además, el uso de herramientas como </a:t>
            </a:r>
            <a:r>
              <a:rPr lang="es-MX" sz="2000" dirty="0" err="1"/>
              <a:t>JavaFX</a:t>
            </a:r>
            <a:r>
              <a:rPr lang="es-MX" sz="2000" dirty="0"/>
              <a:t> permite mejorar la interacción con el usuario, haciendo más intuitivo el proceso de análisis.</a:t>
            </a:r>
          </a:p>
        </p:txBody>
      </p:sp>
    </p:spTree>
    <p:extLst>
      <p:ext uri="{BB962C8B-B14F-4D97-AF65-F5344CB8AC3E}">
        <p14:creationId xmlns:p14="http://schemas.microsoft.com/office/powerpoint/2010/main" val="3075948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B6866A-1F02-81C4-0CF7-F303C309E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Comenzamos con la creación de nuestro nuevo proyecto 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9646A05C-492E-5AB6-005F-5D4F918AA2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28438" y="1698614"/>
            <a:ext cx="3938944" cy="982902"/>
          </a:xfr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7971696B-487E-82FF-E146-077F6CECD483}"/>
              </a:ext>
            </a:extLst>
          </p:cNvPr>
          <p:cNvSpPr txBox="1"/>
          <p:nvPr/>
        </p:nvSpPr>
        <p:spPr>
          <a:xfrm>
            <a:off x="933450" y="1866900"/>
            <a:ext cx="35623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Crearemos nuestro proyecto en la parte superior derecha: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01F18EC-9363-084E-E387-981722AF1806}"/>
              </a:ext>
            </a:extLst>
          </p:cNvPr>
          <p:cNvSpPr txBox="1"/>
          <p:nvPr/>
        </p:nvSpPr>
        <p:spPr>
          <a:xfrm>
            <a:off x="1019175" y="3067050"/>
            <a:ext cx="33147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/>
              <a:t>En seguida nos saldrán una pantalla en la cual utilizaremos </a:t>
            </a:r>
            <a:r>
              <a:rPr lang="es-MX" dirty="0" err="1"/>
              <a:t>javaFx</a:t>
            </a:r>
            <a:endParaRPr lang="es-MX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C93242D-5F11-26E4-CD21-DC285942E2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8438" y="3000374"/>
            <a:ext cx="6478569" cy="3200787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152B1E21-2F96-C77A-3C6E-78454C4B5B4C}"/>
              </a:ext>
            </a:extLst>
          </p:cNvPr>
          <p:cNvSpPr txBox="1"/>
          <p:nvPr/>
        </p:nvSpPr>
        <p:spPr>
          <a:xfrm>
            <a:off x="1133475" y="4248150"/>
            <a:ext cx="33623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/>
              <a:t>En </a:t>
            </a:r>
            <a:r>
              <a:rPr lang="es-MX" dirty="0" err="1"/>
              <a:t>name</a:t>
            </a:r>
            <a:r>
              <a:rPr lang="es-MX" dirty="0"/>
              <a:t> colocaremos el nombre de nuestro proyecto sin dejar espacio, y en seguida daremos </a:t>
            </a:r>
            <a:r>
              <a:rPr lang="es-MX" dirty="0" err="1"/>
              <a:t>click</a:t>
            </a:r>
            <a:r>
              <a:rPr lang="es-MX" dirty="0"/>
              <a:t> en </a:t>
            </a:r>
            <a:r>
              <a:rPr lang="es-MX" dirty="0" err="1"/>
              <a:t>next</a:t>
            </a:r>
            <a:r>
              <a:rPr lang="es-MX" dirty="0"/>
              <a:t> en la parte inferior derecha:</a:t>
            </a: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2DE422CB-2899-F597-036B-989BBEC47AC0}"/>
              </a:ext>
            </a:extLst>
          </p:cNvPr>
          <p:cNvCxnSpPr/>
          <p:nvPr/>
        </p:nvCxnSpPr>
        <p:spPr>
          <a:xfrm>
            <a:off x="4333875" y="3295650"/>
            <a:ext cx="790575" cy="17430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AF93D9FD-32CA-CCE4-7CC1-BBFC9C5A12CF}"/>
              </a:ext>
            </a:extLst>
          </p:cNvPr>
          <p:cNvCxnSpPr/>
          <p:nvPr/>
        </p:nvCxnSpPr>
        <p:spPr>
          <a:xfrm flipV="1">
            <a:off x="4599788" y="3561397"/>
            <a:ext cx="2782087" cy="138148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3F95BEBC-732D-53FD-6A36-48F02D34788A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4495800" y="2182140"/>
            <a:ext cx="1706880" cy="79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9863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0014E7-0472-4C45-4809-87464898F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763"/>
            <a:ext cx="10515600" cy="7080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000" dirty="0"/>
              <a:t>Continuamos con la siguiente ventanilla daremos </a:t>
            </a:r>
            <a:r>
              <a:rPr lang="es-MX" sz="2000" dirty="0" err="1"/>
              <a:t>click</a:t>
            </a:r>
            <a:r>
              <a:rPr lang="es-MX" sz="2000" dirty="0"/>
              <a:t> a las primeras dos opciones, dando </a:t>
            </a:r>
            <a:r>
              <a:rPr lang="es-MX" sz="2000" dirty="0" err="1"/>
              <a:t>click</a:t>
            </a:r>
            <a:r>
              <a:rPr lang="es-MX" sz="2000" dirty="0"/>
              <a:t> en </a:t>
            </a:r>
            <a:r>
              <a:rPr lang="es-MX" sz="2000" dirty="0" err="1"/>
              <a:t>create</a:t>
            </a:r>
            <a:r>
              <a:rPr lang="es-MX" sz="2000" dirty="0"/>
              <a:t> y </a:t>
            </a:r>
            <a:r>
              <a:rPr lang="es-MX" sz="2000" dirty="0" err="1"/>
              <a:t>nuestar</a:t>
            </a:r>
            <a:r>
              <a:rPr lang="es-MX" sz="2000" dirty="0"/>
              <a:t> clase se creara en seguida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0176438-8B70-6322-062C-47F04C96CA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093" y="1042712"/>
            <a:ext cx="3600194" cy="27149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552D946-2EBF-BF04-4847-1BE63C76A1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874"/>
          <a:stretch/>
        </p:blipFill>
        <p:spPr>
          <a:xfrm>
            <a:off x="2089009" y="2938187"/>
            <a:ext cx="1837365" cy="81942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D0E5EBE-0B6D-9518-0610-2BE8595D08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5242" y="1042712"/>
            <a:ext cx="6690945" cy="3214324"/>
          </a:xfrm>
          <a:prstGeom prst="rect">
            <a:avLst/>
          </a:prstGeom>
        </p:spPr>
      </p:pic>
      <p:sp>
        <p:nvSpPr>
          <p:cNvPr id="10" name="Flecha: a la derecha 9">
            <a:extLst>
              <a:ext uri="{FF2B5EF4-FFF2-40B4-BE49-F238E27FC236}">
                <a16:creationId xmlns:a16="http://schemas.microsoft.com/office/drawing/2014/main" id="{99983768-1D97-12A2-3D9E-CC2896753CDC}"/>
              </a:ext>
            </a:extLst>
          </p:cNvPr>
          <p:cNvSpPr/>
          <p:nvPr/>
        </p:nvSpPr>
        <p:spPr>
          <a:xfrm>
            <a:off x="3961287" y="2185849"/>
            <a:ext cx="843583" cy="42862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751A220-6F01-912A-B9EE-9431CD348477}"/>
              </a:ext>
            </a:extLst>
          </p:cNvPr>
          <p:cNvSpPr txBox="1"/>
          <p:nvPr/>
        </p:nvSpPr>
        <p:spPr>
          <a:xfrm>
            <a:off x="361093" y="4686516"/>
            <a:ext cx="57721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/>
              <a:t>Continuaremos abriendo nuestro </a:t>
            </a:r>
            <a:r>
              <a:rPr lang="es-MX" dirty="0" err="1"/>
              <a:t>com.jasminesystems.analisislexico</a:t>
            </a:r>
            <a:r>
              <a:rPr lang="es-MX" dirty="0"/>
              <a:t> para crear una paquete llamado </a:t>
            </a:r>
            <a:r>
              <a:rPr lang="es-MX" dirty="0" err="1"/>
              <a:t>controller</a:t>
            </a:r>
            <a:r>
              <a:rPr lang="es-MX" dirty="0"/>
              <a:t> y dentro del </a:t>
            </a:r>
            <a:r>
              <a:rPr lang="es-MX" dirty="0" err="1"/>
              <a:t>paquetetendremos</a:t>
            </a:r>
            <a:r>
              <a:rPr lang="es-MX" dirty="0"/>
              <a:t> nuestro </a:t>
            </a:r>
            <a:r>
              <a:rPr lang="es-MX" dirty="0" err="1"/>
              <a:t>Main</a:t>
            </a:r>
            <a:r>
              <a:rPr lang="es-MX" dirty="0"/>
              <a:t> </a:t>
            </a:r>
            <a:r>
              <a:rPr lang="es-MX" dirty="0" err="1"/>
              <a:t>controller</a:t>
            </a:r>
            <a:r>
              <a:rPr lang="es-MX" dirty="0"/>
              <a:t>: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1D1F7960-047A-9D5D-20C7-187B629621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9343" y="4867521"/>
            <a:ext cx="3162741" cy="83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516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C5B2FE-7BF6-5C54-B405-1DECBD3FB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50" y="568325"/>
            <a:ext cx="3848100" cy="7937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1600" dirty="0"/>
              <a:t>Nuevamente dentro de nuestro com. Crearemos nuestras clases dando </a:t>
            </a:r>
            <a:r>
              <a:rPr lang="es-MX" sz="1600" dirty="0" err="1"/>
              <a:t>click</a:t>
            </a:r>
            <a:r>
              <a:rPr lang="es-MX" sz="1600" dirty="0"/>
              <a:t> derecho y nombrando nuestras clases: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EF13C45-53C8-3020-5DFA-19A75C86E2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996" y="1514474"/>
            <a:ext cx="4066454" cy="1005061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ECBF3E18-A2CD-30B2-277F-204D0E23885D}"/>
              </a:ext>
            </a:extLst>
          </p:cNvPr>
          <p:cNvSpPr txBox="1"/>
          <p:nvPr/>
        </p:nvSpPr>
        <p:spPr>
          <a:xfrm>
            <a:off x="295996" y="2790825"/>
            <a:ext cx="3323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Nuestra estructura quedaría de la siguiente manera: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274254A-43F3-4A2C-5BF1-1DA545D969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370" y="3572992"/>
            <a:ext cx="2245305" cy="2894858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5BCC5FBC-1B34-3973-704C-5DD8CF43083B}"/>
              </a:ext>
            </a:extLst>
          </p:cNvPr>
          <p:cNvSpPr txBox="1"/>
          <p:nvPr/>
        </p:nvSpPr>
        <p:spPr>
          <a:xfrm>
            <a:off x="6008900" y="424875"/>
            <a:ext cx="3200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/>
              <a:t>Dentro de nuestras clases trabajaremos nuestros códigos :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FDC2C8DF-CC4B-F1B5-E161-417667D865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8900" y="1153100"/>
            <a:ext cx="3362864" cy="2379048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74092FA9-DDCB-68C3-7DFB-A1724EDAF589}"/>
              </a:ext>
            </a:extLst>
          </p:cNvPr>
          <p:cNvSpPr txBox="1"/>
          <p:nvPr/>
        </p:nvSpPr>
        <p:spPr>
          <a:xfrm>
            <a:off x="6008900" y="3630357"/>
            <a:ext cx="363405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/>
              <a:t>Para que de igual manera nuestra interfaz se vea llamativa trabajaremos en </a:t>
            </a:r>
            <a:r>
              <a:rPr lang="es-MX" sz="1400" dirty="0" err="1"/>
              <a:t>scencebuilder</a:t>
            </a:r>
            <a:r>
              <a:rPr lang="es-MX" sz="1400" dirty="0"/>
              <a:t> y nuestra interfaz quedaría </a:t>
            </a:r>
            <a:r>
              <a:rPr lang="es-MX" sz="1400" dirty="0" err="1"/>
              <a:t>asi</a:t>
            </a:r>
            <a:r>
              <a:rPr lang="es-MX" sz="1400" dirty="0"/>
              <a:t>: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DAF5C872-D9E8-7D9B-68B6-841232D1D6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8900" y="4393887"/>
            <a:ext cx="3905250" cy="2073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140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6E4C4FE-AFEA-2F40-D157-462968E4C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112" y="415925"/>
            <a:ext cx="10391775" cy="7651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MX" dirty="0"/>
              <a:t>Ya que terminemos todos nuestros códigos ejecutamos nuestro </a:t>
            </a:r>
            <a:r>
              <a:rPr lang="es-MX" dirty="0" err="1"/>
              <a:t>MainApplication</a:t>
            </a:r>
            <a:r>
              <a:rPr lang="es-MX" dirty="0"/>
              <a:t> dando </a:t>
            </a:r>
            <a:r>
              <a:rPr lang="es-MX" dirty="0" err="1"/>
              <a:t>click</a:t>
            </a:r>
            <a:r>
              <a:rPr lang="es-MX" dirty="0"/>
              <a:t> en run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8A6A03F-9C8F-A8CE-24A7-968BD9552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225" y="1260913"/>
            <a:ext cx="8020050" cy="3042087"/>
          </a:xfrm>
          <a:prstGeom prst="rect">
            <a:avLst/>
          </a:prstGeom>
        </p:spPr>
      </p:pic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4389D29F-31BA-B860-E673-EB135C7732C8}"/>
              </a:ext>
            </a:extLst>
          </p:cNvPr>
          <p:cNvCxnSpPr/>
          <p:nvPr/>
        </p:nvCxnSpPr>
        <p:spPr>
          <a:xfrm>
            <a:off x="5857875" y="1019175"/>
            <a:ext cx="847725" cy="2857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9149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BCD85F-6F67-0088-B5D4-0B3F33454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Ya que ejecutamos nuestro proyecto nuestra interfaz se me de esta manera: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35AEA6BD-D2A7-A882-0AB8-7296995C39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2006600"/>
            <a:ext cx="5580213" cy="4351338"/>
          </a:xfr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82849382-DB2F-008F-2C93-BED523DF967C}"/>
              </a:ext>
            </a:extLst>
          </p:cNvPr>
          <p:cNvSpPr txBox="1"/>
          <p:nvPr/>
        </p:nvSpPr>
        <p:spPr>
          <a:xfrm>
            <a:off x="1133475" y="2686050"/>
            <a:ext cx="39338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En la parte de código a analizar pondremos la información y damos </a:t>
            </a:r>
            <a:r>
              <a:rPr lang="es-MX" dirty="0" err="1"/>
              <a:t>click</a:t>
            </a:r>
            <a:r>
              <a:rPr lang="es-MX" dirty="0"/>
              <a:t> en analizar: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6D9B53F-D7A0-5200-AABE-7ABC2B43B862}"/>
              </a:ext>
            </a:extLst>
          </p:cNvPr>
          <p:cNvSpPr txBox="1"/>
          <p:nvPr/>
        </p:nvSpPr>
        <p:spPr>
          <a:xfrm>
            <a:off x="1085850" y="4029075"/>
            <a:ext cx="45815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En seguida en la parte Tokens se analizo y se </a:t>
            </a:r>
            <a:r>
              <a:rPr lang="es-MX" dirty="0" err="1"/>
              <a:t>dividio</a:t>
            </a:r>
            <a:r>
              <a:rPr lang="es-MX" dirty="0"/>
              <a:t> cada componente por su tipo: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540A24B-4B9E-7081-DDA0-479A4E3CFC1D}"/>
              </a:ext>
            </a:extLst>
          </p:cNvPr>
          <p:cNvSpPr txBox="1"/>
          <p:nvPr/>
        </p:nvSpPr>
        <p:spPr>
          <a:xfrm>
            <a:off x="1133475" y="5262086"/>
            <a:ext cx="44862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Aquí en dado caso de que se encuentre un error léxico este enseguida da el aviso si en dado caso no lo hay da el siguiente mensaje:</a:t>
            </a:r>
          </a:p>
        </p:txBody>
      </p:sp>
    </p:spTree>
    <p:extLst>
      <p:ext uri="{BB962C8B-B14F-4D97-AF65-F5344CB8AC3E}">
        <p14:creationId xmlns:p14="http://schemas.microsoft.com/office/powerpoint/2010/main" val="296572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B14F3D-96D8-0FF5-A129-8CFF225C8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Conclusión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F5B7C74-3CB2-5898-144C-95D518275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9177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sz="2000" dirty="0"/>
              <a:t>En conclusión, esta práctica permitió adquirir conocimientos importantes sobre el análisis léxico y su implementación en un programa funcional. Se logró desarrollar una aplicación capaz de analizar texto, identificar tokens y detectar errores, integrando tanto la lógica de programación como el diseño de interfaces gráficas. Esta experiencia fortalece las bases necesarias para comprender etapas más avanzadas en el desarrollo de compiladores y contribuye al crecimiento académico en el área de la programación.</a:t>
            </a:r>
          </a:p>
        </p:txBody>
      </p:sp>
    </p:spTree>
    <p:extLst>
      <p:ext uri="{BB962C8B-B14F-4D97-AF65-F5344CB8AC3E}">
        <p14:creationId xmlns:p14="http://schemas.microsoft.com/office/powerpoint/2010/main" val="8000984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444</TotalTime>
  <Words>573</Words>
  <Application>Microsoft Office PowerPoint</Application>
  <PresentationFormat>Panorámica</PresentationFormat>
  <Paragraphs>41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Tema de Office</vt:lpstr>
      <vt:lpstr>Presentación de PowerPoint</vt:lpstr>
      <vt:lpstr>Introducción </vt:lpstr>
      <vt:lpstr>Justificación </vt:lpstr>
      <vt:lpstr>Comenzamos con la creación de nuestro nuevo proyecto </vt:lpstr>
      <vt:lpstr>Presentación de PowerPoint</vt:lpstr>
      <vt:lpstr>Presentación de PowerPoint</vt:lpstr>
      <vt:lpstr>Presentación de PowerPoint</vt:lpstr>
      <vt:lpstr>Ya que ejecutamos nuestro proyecto nuestra interfaz se me de esta manera:</vt:lpstr>
      <vt:lpstr>Conclusión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 840 G5</dc:creator>
  <cp:lastModifiedBy>HP 840 G5</cp:lastModifiedBy>
  <cp:revision>5</cp:revision>
  <dcterms:created xsi:type="dcterms:W3CDTF">2026-03-04T03:37:15Z</dcterms:created>
  <dcterms:modified xsi:type="dcterms:W3CDTF">2026-03-18T15:48:46Z</dcterms:modified>
</cp:coreProperties>
</file>