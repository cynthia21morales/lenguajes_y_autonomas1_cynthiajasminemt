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2EB1DE-DDFD-619B-1AE5-1EFE4A874D4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276A8FC3-4E7E-F1D1-7C76-C86D7B0C20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505FDF9-0033-A2F7-6652-BB2F88EBD580}"/>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E40FF3C4-FD34-33AB-284E-6C46B948A61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B95F230-AEEB-62AC-FA15-70967ED99E6E}"/>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2337707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7E5C3F-6B55-29ED-AD17-D28A49A3384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608CC05-E01A-34A5-A52A-CCAB75DE4FC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85C4E34-784E-BECA-301B-938A49ECB7C6}"/>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05ABF802-8C8D-C0A3-0278-E4A17C47707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5933A1-DF16-E31A-A9DF-10C5EAAF075B}"/>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1616499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97F93-D3DC-9BD4-E69E-EFFBF8A3A28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91F847F-CB2D-FA5D-13CE-93DE5D5E8A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7242475-B236-BD6A-D792-11627FC42CC7}"/>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307E8297-9C19-C501-26ED-8A643ACFA16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C151115-6E02-F15F-E654-AB659E36AFEE}"/>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397027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03490-92FF-2AF1-2171-0AFDA69CFC7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7E07819-68F4-F233-7513-51EE30DFB5A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5C2D5718-FFE0-046F-B3C5-BBD0C865092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8C3ED3C-C91C-1DED-E1FC-B3DA56E10B9A}"/>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6" name="Marcador de pie de página 5">
            <a:extLst>
              <a:ext uri="{FF2B5EF4-FFF2-40B4-BE49-F238E27FC236}">
                <a16:creationId xmlns:a16="http://schemas.microsoft.com/office/drawing/2014/main" id="{3F83A774-FBE5-00CD-CB97-2DA98053AFD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5DA8012-8E78-BD20-6EB0-3988407804F4}"/>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1046067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DB63B-B1C3-7304-6065-EE3D353A5CC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9EBB47F-D33B-ED0A-5E6E-81EB34AFC4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9143395-2778-8652-47DA-66218FFBDE2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44D39DD-9748-F6C7-6A14-9E4A29DCBE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C05AE32-C3A4-003B-60F1-3AE44043C0B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73F3E63-E7A3-65FA-72E2-0BCAFC96580F}"/>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8" name="Marcador de pie de página 7">
            <a:extLst>
              <a:ext uri="{FF2B5EF4-FFF2-40B4-BE49-F238E27FC236}">
                <a16:creationId xmlns:a16="http://schemas.microsoft.com/office/drawing/2014/main" id="{6566BB28-83F3-500C-43FD-DB512B649AC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94D9E62F-B55A-2F89-5C15-EAB78F76548E}"/>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219208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36044-D55C-953D-1487-48BCEDFC9E1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BB6EFD6-C884-BD14-D810-BF2DE8F41179}"/>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4" name="Marcador de pie de página 3">
            <a:extLst>
              <a:ext uri="{FF2B5EF4-FFF2-40B4-BE49-F238E27FC236}">
                <a16:creationId xmlns:a16="http://schemas.microsoft.com/office/drawing/2014/main" id="{0978349D-751B-D9D0-5D72-BAEF2E7ED894}"/>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D487E76-F3B8-C846-2AD2-41A1CADFF78F}"/>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330501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43F2A2-8D3D-7C2A-DE64-19F1B68826D1}"/>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3" name="Marcador de pie de página 2">
            <a:extLst>
              <a:ext uri="{FF2B5EF4-FFF2-40B4-BE49-F238E27FC236}">
                <a16:creationId xmlns:a16="http://schemas.microsoft.com/office/drawing/2014/main" id="{208D8BD3-A69E-D711-EE09-6AAC1C4BD0A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2D3CB31-F837-1D40-CBE6-A731E94499A8}"/>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1574888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316D7-1671-1920-2868-328DB2908CF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C1775B-D3C2-90F0-AB56-984C3A57C1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31BE7EB3-6881-41F2-7906-49F841F815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92A2D73-7DE5-CDB7-2599-9DAEB4F0B27B}"/>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6" name="Marcador de pie de página 5">
            <a:extLst>
              <a:ext uri="{FF2B5EF4-FFF2-40B4-BE49-F238E27FC236}">
                <a16:creationId xmlns:a16="http://schemas.microsoft.com/office/drawing/2014/main" id="{29C4A86A-AC49-BCAA-DE0B-7654C5C0003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7904F0A-D277-685D-4593-AA837EDBC2B5}"/>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1996946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55D8BA-3B73-BE95-BC89-3146CCFB215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F536315-3430-0A85-7D86-C3E33755A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4AB304B-8D52-7078-361C-4B3C4B76C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C57DB4-4BA9-7F5B-3A87-D0D3AAA88DD6}"/>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6" name="Marcador de pie de página 5">
            <a:extLst>
              <a:ext uri="{FF2B5EF4-FFF2-40B4-BE49-F238E27FC236}">
                <a16:creationId xmlns:a16="http://schemas.microsoft.com/office/drawing/2014/main" id="{49CCEA2F-8530-D223-AA7F-BA42EF6A403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A8783C2-6B0D-16A5-86A1-44E1782A24EE}"/>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2466306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62C1C7-8174-A8A7-108C-BD7C4B27642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C67665F-B0CD-EB4E-B5DB-D7FAA73A45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B75C78E-8305-A7B4-92C5-1E69920E3CC5}"/>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66BD4722-7A61-B4EE-229E-9240001BAD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270206-8095-DCC0-37B3-661377D3F25C}"/>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254059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6B885C0-3BBF-448A-E8F0-639DA47C81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2A0CFA4-F25C-2181-DA5B-7D83E24B03D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A39C933-FE31-2B2F-3BC6-CAA6336AF456}"/>
              </a:ext>
            </a:extLst>
          </p:cNvPr>
          <p:cNvSpPr>
            <a:spLocks noGrp="1"/>
          </p:cNvSpPr>
          <p:nvPr>
            <p:ph type="dt" sz="half" idx="10"/>
          </p:nvPr>
        </p:nvSpPr>
        <p:spPr/>
        <p:txBody>
          <a:body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84BB12F7-FC86-1E0C-707C-11E78CEA8B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8F0896C-8A1D-D873-144E-0B3EE95BA1E6}"/>
              </a:ext>
            </a:extLst>
          </p:cNvPr>
          <p:cNvSpPr>
            <a:spLocks noGrp="1"/>
          </p:cNvSpPr>
          <p:nvPr>
            <p:ph type="sldNum" sz="quarter" idx="12"/>
          </p:nvPr>
        </p:nvSpPr>
        <p:spPr/>
        <p:txBody>
          <a:bodyPr/>
          <a:lstStyle/>
          <a:p>
            <a:fld id="{5A67B803-A869-4CA5-B193-F12DD5A43301}" type="slidenum">
              <a:rPr lang="es-MX" smtClean="0"/>
              <a:t>‹Nº›</a:t>
            </a:fld>
            <a:endParaRPr lang="es-MX"/>
          </a:p>
        </p:txBody>
      </p:sp>
    </p:spTree>
    <p:extLst>
      <p:ext uri="{BB962C8B-B14F-4D97-AF65-F5344CB8AC3E}">
        <p14:creationId xmlns:p14="http://schemas.microsoft.com/office/powerpoint/2010/main" val="1763842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B16EC9D-103B-6D6F-75DB-66AEA4DF31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85DBF64-D9FF-E87B-1B39-3992C29E9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50FC02-DC9E-C4FA-3E99-FAE75D7A0A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EBEFF3-66EF-4FBF-A428-74E6F70136EA}" type="datetimeFigureOut">
              <a:rPr lang="es-MX" smtClean="0"/>
              <a:t>27/03/2026</a:t>
            </a:fld>
            <a:endParaRPr lang="es-MX"/>
          </a:p>
        </p:txBody>
      </p:sp>
      <p:sp>
        <p:nvSpPr>
          <p:cNvPr id="5" name="Marcador de pie de página 4">
            <a:extLst>
              <a:ext uri="{FF2B5EF4-FFF2-40B4-BE49-F238E27FC236}">
                <a16:creationId xmlns:a16="http://schemas.microsoft.com/office/drawing/2014/main" id="{2AEF8BDC-CC34-241C-269C-4F243F51B9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428AE3AC-6089-7E56-F51F-77D868F5AE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67B803-A869-4CA5-B193-F12DD5A43301}" type="slidenum">
              <a:rPr lang="es-MX" smtClean="0"/>
              <a:t>‹Nº›</a:t>
            </a:fld>
            <a:endParaRPr lang="es-MX"/>
          </a:p>
        </p:txBody>
      </p:sp>
    </p:spTree>
    <p:extLst>
      <p:ext uri="{BB962C8B-B14F-4D97-AF65-F5344CB8AC3E}">
        <p14:creationId xmlns:p14="http://schemas.microsoft.com/office/powerpoint/2010/main" val="2921349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B63D057-0748-5C8F-70F5-C32ED320A5C5}"/>
              </a:ext>
            </a:extLst>
          </p:cNvPr>
          <p:cNvSpPr txBox="1"/>
          <p:nvPr/>
        </p:nvSpPr>
        <p:spPr>
          <a:xfrm>
            <a:off x="1116594" y="1982651"/>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745D9B62-6515-DA67-D56B-A64904FD4809}"/>
              </a:ext>
            </a:extLst>
          </p:cNvPr>
          <p:cNvSpPr txBox="1"/>
          <p:nvPr/>
        </p:nvSpPr>
        <p:spPr>
          <a:xfrm>
            <a:off x="5725433" y="1968009"/>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6.3 Reporte de Practica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29/03/2026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EDFA78D1-7B11-1219-FBCC-EB4BDA0E5904}"/>
              </a:ext>
            </a:extLst>
          </p:cNvPr>
          <p:cNvSpPr txBox="1"/>
          <p:nvPr/>
        </p:nvSpPr>
        <p:spPr>
          <a:xfrm>
            <a:off x="2875026" y="544282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29 de Marzo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273935AF-F160-96A1-E528-7F2D152AF5BC}"/>
              </a:ext>
            </a:extLst>
          </p:cNvPr>
          <p:cNvSpPr txBox="1"/>
          <p:nvPr/>
        </p:nvSpPr>
        <p:spPr>
          <a:xfrm>
            <a:off x="2872429" y="886925"/>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2471DA86-DF3D-6464-E5A9-09EB37488FBF}"/>
              </a:ext>
            </a:extLst>
          </p:cNvPr>
          <p:cNvGrpSpPr/>
          <p:nvPr/>
        </p:nvGrpSpPr>
        <p:grpSpPr>
          <a:xfrm>
            <a:off x="2676555" y="161731"/>
            <a:ext cx="6357600" cy="637319"/>
            <a:chOff x="0" y="0"/>
            <a:chExt cx="5454045" cy="554990"/>
          </a:xfrm>
        </p:grpSpPr>
        <p:pic>
          <p:nvPicPr>
            <p:cNvPr id="9" name="Imagen 8">
              <a:extLst>
                <a:ext uri="{FF2B5EF4-FFF2-40B4-BE49-F238E27FC236}">
                  <a16:creationId xmlns:a16="http://schemas.microsoft.com/office/drawing/2014/main" id="{079A7C6C-15B0-A20F-8B86-3791DBA53582}"/>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43F32952-EB16-FCAC-2C4E-CF31787E50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E5EC4CC9-D703-4620-06F7-B1756FD52B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33F2E499-FB67-3BBA-A7C5-4E0A7E3D31E8}"/>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26011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D11BF-55A9-30A0-D783-B4056AEDF5D3}"/>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30213E11-46EC-0FC9-AEF5-2BB94186988A}"/>
              </a:ext>
            </a:extLst>
          </p:cNvPr>
          <p:cNvSpPr>
            <a:spLocks noGrp="1"/>
          </p:cNvSpPr>
          <p:nvPr>
            <p:ph idx="1"/>
          </p:nvPr>
        </p:nvSpPr>
        <p:spPr/>
        <p:txBody>
          <a:bodyPr>
            <a:normAutofit/>
          </a:bodyPr>
          <a:lstStyle/>
          <a:p>
            <a:pPr marL="0" indent="0" algn="just">
              <a:buNone/>
            </a:pPr>
            <a:r>
              <a:rPr lang="es-MX" sz="2000" dirty="0"/>
              <a:t>En el presente ejercicio se desarrolló una simulación de una Máquina de Turing bidimensional utilizando </a:t>
            </a:r>
            <a:r>
              <a:rPr lang="es-MX" sz="2000" dirty="0" err="1"/>
              <a:t>JavaFX</a:t>
            </a:r>
            <a:r>
              <a:rPr lang="es-MX" sz="2000" dirty="0"/>
              <a:t>. A diferencia del modelo clásico, que trabaja con una cinta lineal, esta versión permite el movimiento del cabezal en múltiples direcciones dentro de una matriz, lo que facilita la representación visual de su funcionamiento.</a:t>
            </a:r>
          </a:p>
          <a:p>
            <a:pPr marL="0" indent="0" algn="just">
              <a:buNone/>
            </a:pPr>
            <a:r>
              <a:rPr lang="es-MX" sz="2000" dirty="0"/>
              <a:t>El propósito de este ejercicio es comprender cómo una Máquina de Turing ejecuta transiciones, cambia de estado y modifica la cinta, integrando conceptos teóricos de la computación con una implementación práctica mediante una interfaz gráfica interactiva.</a:t>
            </a:r>
          </a:p>
          <a:p>
            <a:pPr marL="0" indent="0" algn="just">
              <a:buNone/>
            </a:pPr>
            <a:endParaRPr lang="es-MX" sz="2000" dirty="0"/>
          </a:p>
        </p:txBody>
      </p:sp>
    </p:spTree>
    <p:extLst>
      <p:ext uri="{BB962C8B-B14F-4D97-AF65-F5344CB8AC3E}">
        <p14:creationId xmlns:p14="http://schemas.microsoft.com/office/powerpoint/2010/main" val="1032788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D5ABB0-B3B3-3988-4949-867E3CC89B84}"/>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FAE2926F-61BD-4C9B-2400-541632C4715E}"/>
              </a:ext>
            </a:extLst>
          </p:cNvPr>
          <p:cNvSpPr>
            <a:spLocks noGrp="1"/>
          </p:cNvSpPr>
          <p:nvPr>
            <p:ph idx="1"/>
          </p:nvPr>
        </p:nvSpPr>
        <p:spPr/>
        <p:txBody>
          <a:bodyPr>
            <a:normAutofit/>
          </a:bodyPr>
          <a:lstStyle/>
          <a:p>
            <a:pPr marL="0" indent="0" algn="just">
              <a:buNone/>
            </a:pPr>
            <a:r>
              <a:rPr lang="es-MX" sz="2000" dirty="0"/>
              <a:t>El desarrollo de este ejercicio permite reforzar la comprensión de las Máquinas de Turing, ya que transforma un concepto teórico en una aplicación visual y dinámica. Al implementar la máquina en </a:t>
            </a:r>
            <a:r>
              <a:rPr lang="es-MX" sz="2000" dirty="0" err="1"/>
              <a:t>JavaFX</a:t>
            </a:r>
            <a:r>
              <a:rPr lang="es-MX" sz="2000" dirty="0"/>
              <a:t>, se logra observar de manera clara el comportamiento del sistema, incluyendo el movimiento del cabezal y la ejecución de las transiciones.</a:t>
            </a:r>
          </a:p>
          <a:p>
            <a:pPr marL="0" indent="0" algn="just">
              <a:buNone/>
            </a:pPr>
            <a:r>
              <a:rPr lang="es-MX" sz="2000" dirty="0"/>
              <a:t>Además, este ejercicio contribuye al fortalecimiento de habilidades en programación, especialmente en el uso de estructuras de datos, lógica de simulación y desarrollo de interfaces gráficas, lo cual es fundamental en la formación en el área de sistemas computacionales.</a:t>
            </a:r>
          </a:p>
          <a:p>
            <a:pPr marL="0" indent="0" algn="just">
              <a:buNone/>
            </a:pPr>
            <a:endParaRPr lang="es-MX" sz="2000" dirty="0"/>
          </a:p>
        </p:txBody>
      </p:sp>
    </p:spTree>
    <p:extLst>
      <p:ext uri="{BB962C8B-B14F-4D97-AF65-F5344CB8AC3E}">
        <p14:creationId xmlns:p14="http://schemas.microsoft.com/office/powerpoint/2010/main" val="40496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13247E8-C61C-4A5C-E75E-2F506FB80E70}"/>
              </a:ext>
            </a:extLst>
          </p:cNvPr>
          <p:cNvSpPr>
            <a:spLocks noGrp="1"/>
          </p:cNvSpPr>
          <p:nvPr>
            <p:ph idx="1"/>
          </p:nvPr>
        </p:nvSpPr>
        <p:spPr/>
        <p:txBody>
          <a:bodyPr>
            <a:normAutofit/>
          </a:bodyPr>
          <a:lstStyle/>
          <a:p>
            <a:pPr marL="0" indent="0">
              <a:buNone/>
            </a:pPr>
            <a:r>
              <a:rPr lang="es-MX" sz="2000" dirty="0"/>
              <a:t>El sistema está compuesto por varios módulos que trabajan en conjunto:</a:t>
            </a:r>
          </a:p>
          <a:p>
            <a:r>
              <a:rPr lang="es-MX" sz="2000" dirty="0"/>
              <a:t>Modelo de la máquina (estructura de datos)</a:t>
            </a:r>
          </a:p>
          <a:p>
            <a:r>
              <a:rPr lang="es-MX" sz="2000" dirty="0"/>
              <a:t>Lógica de ejecución (simulación)</a:t>
            </a:r>
          </a:p>
          <a:p>
            <a:r>
              <a:rPr lang="es-MX" sz="2000" dirty="0"/>
              <a:t>Interfaz gráfica (visualización)</a:t>
            </a:r>
          </a:p>
          <a:p>
            <a:pPr marL="0" indent="0">
              <a:buNone/>
            </a:pPr>
            <a:r>
              <a:rPr lang="es-MX" sz="2000" dirty="0"/>
              <a:t>La cinta se representa como una matriz de caracteres, donde cada celda almacena un símbolo, y el cabezal se posiciona mediante coordenadas (fila, columna).</a:t>
            </a:r>
          </a:p>
          <a:p>
            <a:pPr marL="0" indent="0">
              <a:buNone/>
            </a:pPr>
            <a:endParaRPr lang="es-MX" sz="2000" dirty="0"/>
          </a:p>
        </p:txBody>
      </p:sp>
    </p:spTree>
    <p:extLst>
      <p:ext uri="{BB962C8B-B14F-4D97-AF65-F5344CB8AC3E}">
        <p14:creationId xmlns:p14="http://schemas.microsoft.com/office/powerpoint/2010/main" val="1069464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FEBE37-F25E-B108-D6F8-7264E73C7DA8}"/>
              </a:ext>
            </a:extLst>
          </p:cNvPr>
          <p:cNvSpPr>
            <a:spLocks noGrp="1"/>
          </p:cNvSpPr>
          <p:nvPr>
            <p:ph type="title"/>
          </p:nvPr>
        </p:nvSpPr>
        <p:spPr/>
        <p:txBody>
          <a:bodyPr/>
          <a:lstStyle/>
          <a:p>
            <a:r>
              <a:rPr lang="es-MX" dirty="0"/>
              <a:t>Clase MaquinaTuring2D</a:t>
            </a:r>
          </a:p>
        </p:txBody>
      </p:sp>
      <p:sp>
        <p:nvSpPr>
          <p:cNvPr id="3" name="Marcador de contenido 2">
            <a:extLst>
              <a:ext uri="{FF2B5EF4-FFF2-40B4-BE49-F238E27FC236}">
                <a16:creationId xmlns:a16="http://schemas.microsoft.com/office/drawing/2014/main" id="{17E26A6F-13C3-A940-CA86-8C4B4634501F}"/>
              </a:ext>
            </a:extLst>
          </p:cNvPr>
          <p:cNvSpPr>
            <a:spLocks noGrp="1"/>
          </p:cNvSpPr>
          <p:nvPr>
            <p:ph idx="1"/>
          </p:nvPr>
        </p:nvSpPr>
        <p:spPr>
          <a:xfrm>
            <a:off x="838200" y="1825625"/>
            <a:ext cx="8639175" cy="508000"/>
          </a:xfrm>
        </p:spPr>
        <p:txBody>
          <a:bodyPr>
            <a:normAutofit fontScale="92500"/>
          </a:bodyPr>
          <a:lstStyle/>
          <a:p>
            <a:pPr marL="0" indent="0">
              <a:buNone/>
            </a:pPr>
            <a:r>
              <a:rPr lang="es-MX" dirty="0"/>
              <a:t>Esta clase representa la estructura principal de la máquina.</a:t>
            </a:r>
          </a:p>
        </p:txBody>
      </p:sp>
      <p:pic>
        <p:nvPicPr>
          <p:cNvPr id="5" name="Imagen 4">
            <a:extLst>
              <a:ext uri="{FF2B5EF4-FFF2-40B4-BE49-F238E27FC236}">
                <a16:creationId xmlns:a16="http://schemas.microsoft.com/office/drawing/2014/main" id="{9737B9B8-6DA4-24BE-ECEB-AE2577FF128F}"/>
              </a:ext>
            </a:extLst>
          </p:cNvPr>
          <p:cNvPicPr>
            <a:picLocks noChangeAspect="1"/>
          </p:cNvPicPr>
          <p:nvPr/>
        </p:nvPicPr>
        <p:blipFill>
          <a:blip r:embed="rId2"/>
          <a:stretch>
            <a:fillRect/>
          </a:stretch>
        </p:blipFill>
        <p:spPr>
          <a:xfrm>
            <a:off x="623703" y="2468562"/>
            <a:ext cx="4699500" cy="3681557"/>
          </a:xfrm>
          <a:prstGeom prst="rect">
            <a:avLst/>
          </a:prstGeom>
        </p:spPr>
      </p:pic>
      <p:sp>
        <p:nvSpPr>
          <p:cNvPr id="8" name="Rectangle 1">
            <a:extLst>
              <a:ext uri="{FF2B5EF4-FFF2-40B4-BE49-F238E27FC236}">
                <a16:creationId xmlns:a16="http://schemas.microsoft.com/office/drawing/2014/main" id="{A38E2447-FB44-834E-FE83-D6F665474F48}"/>
              </a:ext>
            </a:extLst>
          </p:cNvPr>
          <p:cNvSpPr>
            <a:spLocks noChangeArrowheads="1"/>
          </p:cNvSpPr>
          <p:nvPr/>
        </p:nvSpPr>
        <p:spPr bwMode="auto">
          <a:xfrm>
            <a:off x="5524500" y="2493051"/>
            <a:ext cx="62293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cinta: matriz que simula la memoria de la máquina</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fila y columna: posición del cabezal</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err="1"/>
              <a:t>estadoActual</a:t>
            </a:r>
            <a:r>
              <a:rPr lang="es-MX" altLang="es-MX" dirty="0"/>
              <a:t>: indica el estado en el que se encuentra la máquina</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Además, se inicializa la matriz con el símbolo _, representando espacios vacíos.</a:t>
            </a:r>
          </a:p>
        </p:txBody>
      </p:sp>
    </p:spTree>
    <p:extLst>
      <p:ext uri="{BB962C8B-B14F-4D97-AF65-F5344CB8AC3E}">
        <p14:creationId xmlns:p14="http://schemas.microsoft.com/office/powerpoint/2010/main" val="873907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7A760D-06CE-1C9D-23A1-088903B42D57}"/>
              </a:ext>
            </a:extLst>
          </p:cNvPr>
          <p:cNvSpPr>
            <a:spLocks noGrp="1"/>
          </p:cNvSpPr>
          <p:nvPr>
            <p:ph type="title"/>
          </p:nvPr>
        </p:nvSpPr>
        <p:spPr/>
        <p:txBody>
          <a:bodyPr/>
          <a:lstStyle/>
          <a:p>
            <a:r>
              <a:rPr lang="es-MX" dirty="0"/>
              <a:t>Clase transición </a:t>
            </a:r>
          </a:p>
        </p:txBody>
      </p:sp>
      <p:sp>
        <p:nvSpPr>
          <p:cNvPr id="3" name="Marcador de contenido 2">
            <a:extLst>
              <a:ext uri="{FF2B5EF4-FFF2-40B4-BE49-F238E27FC236}">
                <a16:creationId xmlns:a16="http://schemas.microsoft.com/office/drawing/2014/main" id="{040A4933-A72E-25C7-5825-76863618DFBE}"/>
              </a:ext>
            </a:extLst>
          </p:cNvPr>
          <p:cNvSpPr>
            <a:spLocks noGrp="1"/>
          </p:cNvSpPr>
          <p:nvPr>
            <p:ph idx="1"/>
          </p:nvPr>
        </p:nvSpPr>
        <p:spPr>
          <a:xfrm>
            <a:off x="8972147" y="2495447"/>
            <a:ext cx="3219853" cy="2127250"/>
          </a:xfrm>
        </p:spPr>
        <p:txBody>
          <a:bodyPr>
            <a:normAutofit lnSpcReduction="10000"/>
          </a:bodyPr>
          <a:lstStyle/>
          <a:p>
            <a:pPr marL="0" indent="0">
              <a:buNone/>
            </a:pPr>
            <a:r>
              <a:rPr lang="es-MX" sz="2000" dirty="0"/>
              <a:t>Cada transición indica:</a:t>
            </a:r>
          </a:p>
          <a:p>
            <a:pPr>
              <a:buFont typeface="Arial" panose="020B0604020202020204" pitchFamily="34" charset="0"/>
              <a:buChar char="•"/>
            </a:pPr>
            <a:r>
              <a:rPr lang="es-MX" sz="2000" dirty="0"/>
              <a:t>Qué símbolo leer</a:t>
            </a:r>
          </a:p>
          <a:p>
            <a:pPr>
              <a:buFont typeface="Arial" panose="020B0604020202020204" pitchFamily="34" charset="0"/>
              <a:buChar char="•"/>
            </a:pPr>
            <a:r>
              <a:rPr lang="es-MX" sz="2000" dirty="0"/>
              <a:t>Qué símbolo escribir</a:t>
            </a:r>
          </a:p>
          <a:p>
            <a:pPr>
              <a:buFont typeface="Arial" panose="020B0604020202020204" pitchFamily="34" charset="0"/>
              <a:buChar char="•"/>
            </a:pPr>
            <a:r>
              <a:rPr lang="es-MX" sz="2000" dirty="0"/>
              <a:t>A qué estado cambiar</a:t>
            </a:r>
          </a:p>
          <a:p>
            <a:pPr>
              <a:buFont typeface="Arial" panose="020B0604020202020204" pitchFamily="34" charset="0"/>
              <a:buChar char="•"/>
            </a:pPr>
            <a:r>
              <a:rPr lang="es-MX" sz="2000" dirty="0"/>
              <a:t>Hacia dónde mover el cabezal</a:t>
            </a:r>
          </a:p>
          <a:p>
            <a:pPr marL="0" indent="0">
              <a:buNone/>
            </a:pPr>
            <a:endParaRPr lang="es-MX" sz="2000" dirty="0"/>
          </a:p>
        </p:txBody>
      </p:sp>
      <p:pic>
        <p:nvPicPr>
          <p:cNvPr id="5" name="Imagen 4">
            <a:extLst>
              <a:ext uri="{FF2B5EF4-FFF2-40B4-BE49-F238E27FC236}">
                <a16:creationId xmlns:a16="http://schemas.microsoft.com/office/drawing/2014/main" id="{9D58A99B-C3C1-4E0F-43B0-05BC74F105CE}"/>
              </a:ext>
            </a:extLst>
          </p:cNvPr>
          <p:cNvPicPr>
            <a:picLocks noChangeAspect="1"/>
          </p:cNvPicPr>
          <p:nvPr/>
        </p:nvPicPr>
        <p:blipFill>
          <a:blip r:embed="rId2"/>
          <a:stretch>
            <a:fillRect/>
          </a:stretch>
        </p:blipFill>
        <p:spPr>
          <a:xfrm>
            <a:off x="532997" y="2495447"/>
            <a:ext cx="8370866" cy="2127250"/>
          </a:xfrm>
          <a:prstGeom prst="rect">
            <a:avLst/>
          </a:prstGeom>
        </p:spPr>
      </p:pic>
      <p:sp>
        <p:nvSpPr>
          <p:cNvPr id="7" name="CuadroTexto 6">
            <a:extLst>
              <a:ext uri="{FF2B5EF4-FFF2-40B4-BE49-F238E27FC236}">
                <a16:creationId xmlns:a16="http://schemas.microsoft.com/office/drawing/2014/main" id="{395792A9-188A-90D3-0CC0-0166F85294D7}"/>
              </a:ext>
            </a:extLst>
          </p:cNvPr>
          <p:cNvSpPr txBox="1"/>
          <p:nvPr/>
        </p:nvSpPr>
        <p:spPr>
          <a:xfrm>
            <a:off x="532997" y="1723735"/>
            <a:ext cx="6096000" cy="369332"/>
          </a:xfrm>
          <a:prstGeom prst="rect">
            <a:avLst/>
          </a:prstGeom>
          <a:noFill/>
        </p:spPr>
        <p:txBody>
          <a:bodyPr wrap="square">
            <a:spAutoFit/>
          </a:bodyPr>
          <a:lstStyle/>
          <a:p>
            <a:r>
              <a:rPr lang="es-MX" dirty="0"/>
              <a:t>Define las reglas de la máquina:</a:t>
            </a:r>
          </a:p>
        </p:txBody>
      </p:sp>
    </p:spTree>
    <p:extLst>
      <p:ext uri="{BB962C8B-B14F-4D97-AF65-F5344CB8AC3E}">
        <p14:creationId xmlns:p14="http://schemas.microsoft.com/office/powerpoint/2010/main" val="4164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FE6FBE-9952-6275-B5D4-0B4F1691DCB2}"/>
              </a:ext>
            </a:extLst>
          </p:cNvPr>
          <p:cNvSpPr>
            <a:spLocks noGrp="1"/>
          </p:cNvSpPr>
          <p:nvPr>
            <p:ph type="title"/>
          </p:nvPr>
        </p:nvSpPr>
        <p:spPr/>
        <p:txBody>
          <a:bodyPr/>
          <a:lstStyle/>
          <a:p>
            <a:r>
              <a:rPr lang="es-MX" dirty="0"/>
              <a:t>Clase SimuladorTuring2D</a:t>
            </a:r>
          </a:p>
        </p:txBody>
      </p:sp>
      <p:sp>
        <p:nvSpPr>
          <p:cNvPr id="5" name="CuadroTexto 4">
            <a:extLst>
              <a:ext uri="{FF2B5EF4-FFF2-40B4-BE49-F238E27FC236}">
                <a16:creationId xmlns:a16="http://schemas.microsoft.com/office/drawing/2014/main" id="{038A2C70-1831-F4C7-144A-28BE288F6FDB}"/>
              </a:ext>
            </a:extLst>
          </p:cNvPr>
          <p:cNvSpPr txBox="1"/>
          <p:nvPr/>
        </p:nvSpPr>
        <p:spPr>
          <a:xfrm>
            <a:off x="838200" y="1758434"/>
            <a:ext cx="6096000" cy="369332"/>
          </a:xfrm>
          <a:prstGeom prst="rect">
            <a:avLst/>
          </a:prstGeom>
          <a:noFill/>
        </p:spPr>
        <p:txBody>
          <a:bodyPr wrap="square">
            <a:spAutoFit/>
          </a:bodyPr>
          <a:lstStyle/>
          <a:p>
            <a:r>
              <a:rPr lang="es-MX" dirty="0"/>
              <a:t>Esta clase ejecuta la lógica de la máquina.</a:t>
            </a:r>
          </a:p>
        </p:txBody>
      </p:sp>
      <p:pic>
        <p:nvPicPr>
          <p:cNvPr id="7" name="Imagen 6">
            <a:extLst>
              <a:ext uri="{FF2B5EF4-FFF2-40B4-BE49-F238E27FC236}">
                <a16:creationId xmlns:a16="http://schemas.microsoft.com/office/drawing/2014/main" id="{4BA2B925-0000-CCB3-0513-C37D63CC6B75}"/>
              </a:ext>
            </a:extLst>
          </p:cNvPr>
          <p:cNvPicPr>
            <a:picLocks noChangeAspect="1"/>
          </p:cNvPicPr>
          <p:nvPr/>
        </p:nvPicPr>
        <p:blipFill>
          <a:blip r:embed="rId2"/>
          <a:stretch>
            <a:fillRect/>
          </a:stretch>
        </p:blipFill>
        <p:spPr>
          <a:xfrm>
            <a:off x="838200" y="2195512"/>
            <a:ext cx="4458322" cy="819264"/>
          </a:xfrm>
          <a:prstGeom prst="rect">
            <a:avLst/>
          </a:prstGeom>
        </p:spPr>
      </p:pic>
      <p:sp>
        <p:nvSpPr>
          <p:cNvPr id="9" name="CuadroTexto 8">
            <a:extLst>
              <a:ext uri="{FF2B5EF4-FFF2-40B4-BE49-F238E27FC236}">
                <a16:creationId xmlns:a16="http://schemas.microsoft.com/office/drawing/2014/main" id="{CCA3A94C-B3E0-9CBB-27E2-DDBEC58FD352}"/>
              </a:ext>
            </a:extLst>
          </p:cNvPr>
          <p:cNvSpPr txBox="1"/>
          <p:nvPr/>
        </p:nvSpPr>
        <p:spPr>
          <a:xfrm>
            <a:off x="838200" y="3067051"/>
            <a:ext cx="6096000" cy="646331"/>
          </a:xfrm>
          <a:prstGeom prst="rect">
            <a:avLst/>
          </a:prstGeom>
          <a:noFill/>
        </p:spPr>
        <p:txBody>
          <a:bodyPr wrap="square">
            <a:spAutoFit/>
          </a:bodyPr>
          <a:lstStyle/>
          <a:p>
            <a:r>
              <a:rPr lang="es-MX" dirty="0"/>
              <a:t>Primero se lee el símbolo actual, luego se busca una transición válida:</a:t>
            </a:r>
          </a:p>
        </p:txBody>
      </p:sp>
      <p:pic>
        <p:nvPicPr>
          <p:cNvPr id="11" name="Imagen 10">
            <a:extLst>
              <a:ext uri="{FF2B5EF4-FFF2-40B4-BE49-F238E27FC236}">
                <a16:creationId xmlns:a16="http://schemas.microsoft.com/office/drawing/2014/main" id="{3AB187CE-F587-7799-DDB8-7BE655AB0DD7}"/>
              </a:ext>
            </a:extLst>
          </p:cNvPr>
          <p:cNvPicPr>
            <a:picLocks noChangeAspect="1"/>
          </p:cNvPicPr>
          <p:nvPr/>
        </p:nvPicPr>
        <p:blipFill>
          <a:blip r:embed="rId3"/>
          <a:stretch>
            <a:fillRect/>
          </a:stretch>
        </p:blipFill>
        <p:spPr>
          <a:xfrm>
            <a:off x="838200" y="3896911"/>
            <a:ext cx="5596638" cy="646330"/>
          </a:xfrm>
          <a:prstGeom prst="rect">
            <a:avLst/>
          </a:prstGeom>
        </p:spPr>
      </p:pic>
      <p:sp>
        <p:nvSpPr>
          <p:cNvPr id="13" name="CuadroTexto 12">
            <a:extLst>
              <a:ext uri="{FF2B5EF4-FFF2-40B4-BE49-F238E27FC236}">
                <a16:creationId xmlns:a16="http://schemas.microsoft.com/office/drawing/2014/main" id="{5866D724-ED42-6526-9A8E-3B147F0FFAE5}"/>
              </a:ext>
            </a:extLst>
          </p:cNvPr>
          <p:cNvSpPr txBox="1"/>
          <p:nvPr/>
        </p:nvSpPr>
        <p:spPr>
          <a:xfrm>
            <a:off x="752475" y="4726770"/>
            <a:ext cx="6096000" cy="1200329"/>
          </a:xfrm>
          <a:prstGeom prst="rect">
            <a:avLst/>
          </a:prstGeom>
          <a:noFill/>
        </p:spPr>
        <p:txBody>
          <a:bodyPr wrap="square">
            <a:spAutoFit/>
          </a:bodyPr>
          <a:lstStyle/>
          <a:p>
            <a:r>
              <a:rPr lang="es-MX" dirty="0"/>
              <a:t>Si se encuentra una coincidencia:</a:t>
            </a:r>
          </a:p>
          <a:p>
            <a:pPr>
              <a:buFont typeface="Arial" panose="020B0604020202020204" pitchFamily="34" charset="0"/>
              <a:buChar char="•"/>
            </a:pPr>
            <a:r>
              <a:rPr lang="es-MX" dirty="0"/>
              <a:t>Se escribe el nuevo símbolo</a:t>
            </a:r>
          </a:p>
          <a:p>
            <a:pPr>
              <a:buFont typeface="Arial" panose="020B0604020202020204" pitchFamily="34" charset="0"/>
              <a:buChar char="•"/>
            </a:pPr>
            <a:r>
              <a:rPr lang="es-MX" dirty="0"/>
              <a:t>Se cambia el estado</a:t>
            </a:r>
          </a:p>
          <a:p>
            <a:pPr>
              <a:buFont typeface="Arial" panose="020B0604020202020204" pitchFamily="34" charset="0"/>
              <a:buChar char="•"/>
            </a:pPr>
            <a:r>
              <a:rPr lang="es-MX" dirty="0"/>
              <a:t>Se mueve el cabezal</a:t>
            </a:r>
          </a:p>
        </p:txBody>
      </p:sp>
      <p:pic>
        <p:nvPicPr>
          <p:cNvPr id="15" name="Imagen 14">
            <a:extLst>
              <a:ext uri="{FF2B5EF4-FFF2-40B4-BE49-F238E27FC236}">
                <a16:creationId xmlns:a16="http://schemas.microsoft.com/office/drawing/2014/main" id="{50E34644-BA53-1294-7706-56715130651D}"/>
              </a:ext>
            </a:extLst>
          </p:cNvPr>
          <p:cNvPicPr>
            <a:picLocks noChangeAspect="1"/>
          </p:cNvPicPr>
          <p:nvPr/>
        </p:nvPicPr>
        <p:blipFill>
          <a:blip r:embed="rId4"/>
          <a:stretch>
            <a:fillRect/>
          </a:stretch>
        </p:blipFill>
        <p:spPr>
          <a:xfrm>
            <a:off x="7233908" y="2015696"/>
            <a:ext cx="4715533" cy="1009791"/>
          </a:xfrm>
          <a:prstGeom prst="rect">
            <a:avLst/>
          </a:prstGeom>
        </p:spPr>
      </p:pic>
      <p:sp>
        <p:nvSpPr>
          <p:cNvPr id="16" name="Rectangle 1">
            <a:extLst>
              <a:ext uri="{FF2B5EF4-FFF2-40B4-BE49-F238E27FC236}">
                <a16:creationId xmlns:a16="http://schemas.microsoft.com/office/drawing/2014/main" id="{6CEA173B-BEAC-8518-C83A-B93A404C3333}"/>
              </a:ext>
            </a:extLst>
          </p:cNvPr>
          <p:cNvSpPr>
            <a:spLocks noChangeArrowheads="1"/>
          </p:cNvSpPr>
          <p:nvPr/>
        </p:nvSpPr>
        <p:spPr bwMode="auto">
          <a:xfrm>
            <a:off x="7143750" y="3244334"/>
            <a:ext cx="38854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El movimiento se realiza con un switch: </a:t>
            </a:r>
          </a:p>
        </p:txBody>
      </p:sp>
      <p:pic>
        <p:nvPicPr>
          <p:cNvPr id="18" name="Imagen 17">
            <a:extLst>
              <a:ext uri="{FF2B5EF4-FFF2-40B4-BE49-F238E27FC236}">
                <a16:creationId xmlns:a16="http://schemas.microsoft.com/office/drawing/2014/main" id="{E0137AEC-B265-0F7D-B0A0-8358CABAD33B}"/>
              </a:ext>
            </a:extLst>
          </p:cNvPr>
          <p:cNvPicPr>
            <a:picLocks noChangeAspect="1"/>
          </p:cNvPicPr>
          <p:nvPr/>
        </p:nvPicPr>
        <p:blipFill>
          <a:blip r:embed="rId5"/>
          <a:stretch>
            <a:fillRect/>
          </a:stretch>
        </p:blipFill>
        <p:spPr>
          <a:xfrm>
            <a:off x="7177788" y="3803938"/>
            <a:ext cx="3000794" cy="1343212"/>
          </a:xfrm>
          <a:prstGeom prst="rect">
            <a:avLst/>
          </a:prstGeom>
        </p:spPr>
      </p:pic>
    </p:spTree>
    <p:extLst>
      <p:ext uri="{BB962C8B-B14F-4D97-AF65-F5344CB8AC3E}">
        <p14:creationId xmlns:p14="http://schemas.microsoft.com/office/powerpoint/2010/main" val="3899174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DB646C-968D-7604-B94F-19E3AA903A3A}"/>
              </a:ext>
            </a:extLst>
          </p:cNvPr>
          <p:cNvSpPr>
            <a:spLocks noGrp="1"/>
          </p:cNvSpPr>
          <p:nvPr>
            <p:ph type="title"/>
          </p:nvPr>
        </p:nvSpPr>
        <p:spPr/>
        <p:txBody>
          <a:bodyPr/>
          <a:lstStyle/>
          <a:p>
            <a:r>
              <a:rPr lang="es-MX" dirty="0"/>
              <a:t>Clase </a:t>
            </a:r>
            <a:r>
              <a:rPr lang="es-MX" dirty="0" err="1"/>
              <a:t>TuringController</a:t>
            </a:r>
            <a:endParaRPr lang="es-MX" dirty="0"/>
          </a:p>
        </p:txBody>
      </p:sp>
      <p:sp>
        <p:nvSpPr>
          <p:cNvPr id="4" name="Rectangle 1">
            <a:extLst>
              <a:ext uri="{FF2B5EF4-FFF2-40B4-BE49-F238E27FC236}">
                <a16:creationId xmlns:a16="http://schemas.microsoft.com/office/drawing/2014/main" id="{E0C30E96-7792-950F-1D5E-10814EA183A9}"/>
              </a:ext>
            </a:extLst>
          </p:cNvPr>
          <p:cNvSpPr>
            <a:spLocks noChangeArrowheads="1"/>
          </p:cNvSpPr>
          <p:nvPr/>
        </p:nvSpPr>
        <p:spPr bwMode="auto">
          <a:xfrm>
            <a:off x="704850" y="1367522"/>
            <a:ext cx="52643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a:t>Controla la interfaz gráfica y la interacción del usuario.</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a:t>En el método initialize() se configuran las transiciones:</a:t>
            </a:r>
          </a:p>
        </p:txBody>
      </p:sp>
      <p:pic>
        <p:nvPicPr>
          <p:cNvPr id="8" name="Imagen 7">
            <a:extLst>
              <a:ext uri="{FF2B5EF4-FFF2-40B4-BE49-F238E27FC236}">
                <a16:creationId xmlns:a16="http://schemas.microsoft.com/office/drawing/2014/main" id="{D4C56B17-0189-D7D7-8A5A-F42D71C0A46C}"/>
              </a:ext>
            </a:extLst>
          </p:cNvPr>
          <p:cNvPicPr>
            <a:picLocks noChangeAspect="1"/>
          </p:cNvPicPr>
          <p:nvPr/>
        </p:nvPicPr>
        <p:blipFill>
          <a:blip r:embed="rId2"/>
          <a:stretch>
            <a:fillRect/>
          </a:stretch>
        </p:blipFill>
        <p:spPr>
          <a:xfrm>
            <a:off x="704850" y="1991628"/>
            <a:ext cx="7124700" cy="1649630"/>
          </a:xfrm>
          <a:prstGeom prst="rect">
            <a:avLst/>
          </a:prstGeom>
        </p:spPr>
      </p:pic>
      <p:sp>
        <p:nvSpPr>
          <p:cNvPr id="9" name="Rectangle 2">
            <a:extLst>
              <a:ext uri="{FF2B5EF4-FFF2-40B4-BE49-F238E27FC236}">
                <a16:creationId xmlns:a16="http://schemas.microsoft.com/office/drawing/2014/main" id="{D48A4458-E932-C3AC-5FAC-033E731E4135}"/>
              </a:ext>
            </a:extLst>
          </p:cNvPr>
          <p:cNvSpPr>
            <a:spLocks noChangeArrowheads="1"/>
          </p:cNvSpPr>
          <p:nvPr/>
        </p:nvSpPr>
        <p:spPr bwMode="auto">
          <a:xfrm>
            <a:off x="8209287" y="2103437"/>
            <a:ext cx="240482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Este ejemplo indica:</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Si está en q0 y lee _</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Escribe X</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Cambia a q1</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t>Se mueve a la derecha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
        <p:nvSpPr>
          <p:cNvPr id="11" name="CuadroTexto 10">
            <a:extLst>
              <a:ext uri="{FF2B5EF4-FFF2-40B4-BE49-F238E27FC236}">
                <a16:creationId xmlns:a16="http://schemas.microsoft.com/office/drawing/2014/main" id="{E5FC4B6D-0864-690C-7F04-8B7B4D927ECF}"/>
              </a:ext>
            </a:extLst>
          </p:cNvPr>
          <p:cNvSpPr txBox="1"/>
          <p:nvPr/>
        </p:nvSpPr>
        <p:spPr>
          <a:xfrm>
            <a:off x="619125" y="3782110"/>
            <a:ext cx="6096000" cy="646331"/>
          </a:xfrm>
          <a:prstGeom prst="rect">
            <a:avLst/>
          </a:prstGeom>
          <a:noFill/>
        </p:spPr>
        <p:txBody>
          <a:bodyPr wrap="square">
            <a:spAutoFit/>
          </a:bodyPr>
          <a:lstStyle/>
          <a:p>
            <a:r>
              <a:rPr lang="es-MX" b="1" dirty="0"/>
              <a:t>Método mostrar()</a:t>
            </a:r>
          </a:p>
          <a:p>
            <a:r>
              <a:rPr lang="es-MX" dirty="0"/>
              <a:t>Se encarga de imprimir la cinta en pantalla:</a:t>
            </a:r>
          </a:p>
        </p:txBody>
      </p:sp>
      <p:pic>
        <p:nvPicPr>
          <p:cNvPr id="13" name="Imagen 12">
            <a:extLst>
              <a:ext uri="{FF2B5EF4-FFF2-40B4-BE49-F238E27FC236}">
                <a16:creationId xmlns:a16="http://schemas.microsoft.com/office/drawing/2014/main" id="{EE67044D-1DA5-F132-8A42-9695A0C154AA}"/>
              </a:ext>
            </a:extLst>
          </p:cNvPr>
          <p:cNvPicPr>
            <a:picLocks noChangeAspect="1"/>
          </p:cNvPicPr>
          <p:nvPr/>
        </p:nvPicPr>
        <p:blipFill>
          <a:blip r:embed="rId3"/>
          <a:stretch>
            <a:fillRect/>
          </a:stretch>
        </p:blipFill>
        <p:spPr>
          <a:xfrm>
            <a:off x="704850" y="4428441"/>
            <a:ext cx="4763165" cy="1019317"/>
          </a:xfrm>
          <a:prstGeom prst="rect">
            <a:avLst/>
          </a:prstGeom>
        </p:spPr>
      </p:pic>
      <p:sp>
        <p:nvSpPr>
          <p:cNvPr id="17" name="CuadroTexto 16">
            <a:extLst>
              <a:ext uri="{FF2B5EF4-FFF2-40B4-BE49-F238E27FC236}">
                <a16:creationId xmlns:a16="http://schemas.microsoft.com/office/drawing/2014/main" id="{EA12332A-EF7D-52EC-9A3F-36730FB768F9}"/>
              </a:ext>
            </a:extLst>
          </p:cNvPr>
          <p:cNvSpPr txBox="1"/>
          <p:nvPr/>
        </p:nvSpPr>
        <p:spPr>
          <a:xfrm>
            <a:off x="704850" y="5597009"/>
            <a:ext cx="6096000" cy="369332"/>
          </a:xfrm>
          <a:prstGeom prst="rect">
            <a:avLst/>
          </a:prstGeom>
          <a:noFill/>
        </p:spPr>
        <p:txBody>
          <a:bodyPr wrap="square">
            <a:spAutoFit/>
          </a:bodyPr>
          <a:lstStyle/>
          <a:p>
            <a:r>
              <a:rPr lang="es-MX" dirty="0"/>
              <a:t>Esto permite identificar visualmente la posición del cabezal.</a:t>
            </a:r>
          </a:p>
        </p:txBody>
      </p:sp>
    </p:spTree>
    <p:extLst>
      <p:ext uri="{BB962C8B-B14F-4D97-AF65-F5344CB8AC3E}">
        <p14:creationId xmlns:p14="http://schemas.microsoft.com/office/powerpoint/2010/main" val="74831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0BC3DC-615F-088E-1EE3-4D59438A0DFF}"/>
              </a:ext>
            </a:extLst>
          </p:cNvPr>
          <p:cNvSpPr>
            <a:spLocks noGrp="1"/>
          </p:cNvSpPr>
          <p:nvPr>
            <p:ph type="title"/>
          </p:nvPr>
        </p:nvSpPr>
        <p:spPr>
          <a:xfrm>
            <a:off x="619125" y="304800"/>
            <a:ext cx="6924675" cy="681038"/>
          </a:xfrm>
        </p:spPr>
        <p:txBody>
          <a:bodyPr>
            <a:normAutofit fontScale="90000"/>
          </a:bodyPr>
          <a:lstStyle/>
          <a:p>
            <a:r>
              <a:rPr lang="es-MX" dirty="0"/>
              <a:t>Funcionamiento del sistema</a:t>
            </a:r>
          </a:p>
        </p:txBody>
      </p:sp>
      <p:sp>
        <p:nvSpPr>
          <p:cNvPr id="4" name="Rectangle 1">
            <a:extLst>
              <a:ext uri="{FF2B5EF4-FFF2-40B4-BE49-F238E27FC236}">
                <a16:creationId xmlns:a16="http://schemas.microsoft.com/office/drawing/2014/main" id="{0ABD2DE5-9B51-E85C-B0A7-FC47E03CE496}"/>
              </a:ext>
            </a:extLst>
          </p:cNvPr>
          <p:cNvSpPr>
            <a:spLocks noChangeArrowheads="1"/>
          </p:cNvSpPr>
          <p:nvPr/>
        </p:nvSpPr>
        <p:spPr bwMode="auto">
          <a:xfrm>
            <a:off x="838200" y="1494211"/>
            <a:ext cx="446660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El usuario ejecuta el programa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inicializa la máquina con una cinta vacía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agregan las transiciones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Al presionar un botón: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ejecuta una transición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actualiza la cinta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mueve el cabezal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Se muestra el resultado en pantalla </a:t>
            </a:r>
          </a:p>
        </p:txBody>
      </p:sp>
      <p:pic>
        <p:nvPicPr>
          <p:cNvPr id="6" name="Imagen 5">
            <a:extLst>
              <a:ext uri="{FF2B5EF4-FFF2-40B4-BE49-F238E27FC236}">
                <a16:creationId xmlns:a16="http://schemas.microsoft.com/office/drawing/2014/main" id="{5189ECF3-B52D-9B4D-A811-8A0DF32FB02C}"/>
              </a:ext>
            </a:extLst>
          </p:cNvPr>
          <p:cNvPicPr>
            <a:picLocks noChangeAspect="1"/>
          </p:cNvPicPr>
          <p:nvPr/>
        </p:nvPicPr>
        <p:blipFill>
          <a:blip r:embed="rId2"/>
          <a:stretch>
            <a:fillRect/>
          </a:stretch>
        </p:blipFill>
        <p:spPr>
          <a:xfrm>
            <a:off x="5865108" y="3589711"/>
            <a:ext cx="4398574" cy="3111475"/>
          </a:xfrm>
          <a:prstGeom prst="rect">
            <a:avLst/>
          </a:prstGeom>
        </p:spPr>
      </p:pic>
      <p:pic>
        <p:nvPicPr>
          <p:cNvPr id="8" name="Imagen 7">
            <a:extLst>
              <a:ext uri="{FF2B5EF4-FFF2-40B4-BE49-F238E27FC236}">
                <a16:creationId xmlns:a16="http://schemas.microsoft.com/office/drawing/2014/main" id="{76D0214C-8906-06B4-C99C-4FC36A2AD7BC}"/>
              </a:ext>
            </a:extLst>
          </p:cNvPr>
          <p:cNvPicPr>
            <a:picLocks noChangeAspect="1"/>
          </p:cNvPicPr>
          <p:nvPr/>
        </p:nvPicPr>
        <p:blipFill>
          <a:blip r:embed="rId3"/>
          <a:stretch>
            <a:fillRect/>
          </a:stretch>
        </p:blipFill>
        <p:spPr>
          <a:xfrm>
            <a:off x="5757302" y="934485"/>
            <a:ext cx="5739373" cy="2655226"/>
          </a:xfrm>
          <a:prstGeom prst="rect">
            <a:avLst/>
          </a:prstGeom>
        </p:spPr>
      </p:pic>
    </p:spTree>
    <p:extLst>
      <p:ext uri="{BB962C8B-B14F-4D97-AF65-F5344CB8AC3E}">
        <p14:creationId xmlns:p14="http://schemas.microsoft.com/office/powerpoint/2010/main" val="3860789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C9908-95B9-6DD5-C5E9-02CBF85E6824}"/>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2F37A760-EB7F-57AB-7F59-BC8095CF1CC8}"/>
              </a:ext>
            </a:extLst>
          </p:cNvPr>
          <p:cNvSpPr>
            <a:spLocks noGrp="1"/>
          </p:cNvSpPr>
          <p:nvPr>
            <p:ph idx="1"/>
          </p:nvPr>
        </p:nvSpPr>
        <p:spPr/>
        <p:txBody>
          <a:bodyPr>
            <a:normAutofit/>
          </a:bodyPr>
          <a:lstStyle/>
          <a:p>
            <a:pPr marL="0" indent="0" algn="just">
              <a:buNone/>
            </a:pPr>
            <a:r>
              <a:rPr lang="es-MX" sz="2000" dirty="0"/>
              <a:t>El proyecto permitió implementar de manera práctica el funcionamiento de una Máquina de Turing 2D, integrando conceptos teóricos con programación en Java. La simulación gráfica facilita la comprensión del comportamiento de la máquina, especialmente en el manejo de estados y transiciones.</a:t>
            </a:r>
          </a:p>
          <a:p>
            <a:pPr marL="0" indent="0" algn="just">
              <a:buNone/>
            </a:pPr>
            <a:r>
              <a:rPr lang="es-MX" sz="2000" dirty="0"/>
              <a:t>Además, se logró desarrollar una interfaz interactiva que permite observar el proceso paso a paso, fortaleciendo el aprendizaje de la teoría de la computación.</a:t>
            </a:r>
          </a:p>
          <a:p>
            <a:pPr marL="0" indent="0" algn="just">
              <a:buNone/>
            </a:pPr>
            <a:endParaRPr lang="es-MX" sz="2000" dirty="0"/>
          </a:p>
        </p:txBody>
      </p:sp>
    </p:spTree>
    <p:extLst>
      <p:ext uri="{BB962C8B-B14F-4D97-AF65-F5344CB8AC3E}">
        <p14:creationId xmlns:p14="http://schemas.microsoft.com/office/powerpoint/2010/main" val="34417345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647</Words>
  <Application>Microsoft Office PowerPoint</Application>
  <PresentationFormat>Panorámica</PresentationFormat>
  <Paragraphs>77</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Calibri Light</vt:lpstr>
      <vt:lpstr>Tema de Office</vt:lpstr>
      <vt:lpstr>Presentación de PowerPoint</vt:lpstr>
      <vt:lpstr>Introducción </vt:lpstr>
      <vt:lpstr>Justificación </vt:lpstr>
      <vt:lpstr>Presentación de PowerPoint</vt:lpstr>
      <vt:lpstr>Clase MaquinaTuring2D</vt:lpstr>
      <vt:lpstr>Clase transición </vt:lpstr>
      <vt:lpstr>Clase SimuladorTuring2D</vt:lpstr>
      <vt:lpstr>Clase TuringController</vt:lpstr>
      <vt:lpstr>Funcionamiento del sistema</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1</cp:revision>
  <dcterms:created xsi:type="dcterms:W3CDTF">2026-03-27T06:28:27Z</dcterms:created>
  <dcterms:modified xsi:type="dcterms:W3CDTF">2026-03-27T06:46:22Z</dcterms:modified>
</cp:coreProperties>
</file>