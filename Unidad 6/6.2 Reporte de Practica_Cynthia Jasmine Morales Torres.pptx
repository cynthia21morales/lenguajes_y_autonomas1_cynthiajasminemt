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D4BF27-5288-EB79-17A9-7BCDC6C5385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0C8D446F-1244-0AC2-CC2C-F1E288D075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78ECB733-6C09-620E-A7A7-889D22043CAE}"/>
              </a:ext>
            </a:extLst>
          </p:cNvPr>
          <p:cNvSpPr>
            <a:spLocks noGrp="1"/>
          </p:cNvSpPr>
          <p:nvPr>
            <p:ph type="dt" sz="half" idx="10"/>
          </p:nvPr>
        </p:nvSpPr>
        <p:spPr/>
        <p:txBody>
          <a:bodyPr/>
          <a:lstStyle/>
          <a:p>
            <a:fld id="{B0673D7D-3D47-41A3-AB91-515B0ABD1805}" type="datetimeFigureOut">
              <a:rPr lang="es-MX" smtClean="0"/>
              <a:t>27/03/2026</a:t>
            </a:fld>
            <a:endParaRPr lang="es-MX"/>
          </a:p>
        </p:txBody>
      </p:sp>
      <p:sp>
        <p:nvSpPr>
          <p:cNvPr id="5" name="Marcador de pie de página 4">
            <a:extLst>
              <a:ext uri="{FF2B5EF4-FFF2-40B4-BE49-F238E27FC236}">
                <a16:creationId xmlns:a16="http://schemas.microsoft.com/office/drawing/2014/main" id="{84CE254E-2EAE-4BCF-2268-DCCCCB3E0C5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DD5E111-B786-62BC-D404-DB90344880B1}"/>
              </a:ext>
            </a:extLst>
          </p:cNvPr>
          <p:cNvSpPr>
            <a:spLocks noGrp="1"/>
          </p:cNvSpPr>
          <p:nvPr>
            <p:ph type="sldNum" sz="quarter" idx="12"/>
          </p:nvPr>
        </p:nvSpPr>
        <p:spPr/>
        <p:txBody>
          <a:bodyPr/>
          <a:lstStyle/>
          <a:p>
            <a:fld id="{AC002F1A-99E3-45B6-81A7-C46C0076C5F9}" type="slidenum">
              <a:rPr lang="es-MX" smtClean="0"/>
              <a:t>‹Nº›</a:t>
            </a:fld>
            <a:endParaRPr lang="es-MX"/>
          </a:p>
        </p:txBody>
      </p:sp>
    </p:spTree>
    <p:extLst>
      <p:ext uri="{BB962C8B-B14F-4D97-AF65-F5344CB8AC3E}">
        <p14:creationId xmlns:p14="http://schemas.microsoft.com/office/powerpoint/2010/main" val="3261809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D2F26D-8ED3-0EC8-EDE7-FAD0E2038CE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30443F9-03FA-7F07-6B7B-581BFF13364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A36866A-B619-3EA6-2BED-B9EB9BDC8347}"/>
              </a:ext>
            </a:extLst>
          </p:cNvPr>
          <p:cNvSpPr>
            <a:spLocks noGrp="1"/>
          </p:cNvSpPr>
          <p:nvPr>
            <p:ph type="dt" sz="half" idx="10"/>
          </p:nvPr>
        </p:nvSpPr>
        <p:spPr/>
        <p:txBody>
          <a:bodyPr/>
          <a:lstStyle/>
          <a:p>
            <a:fld id="{B0673D7D-3D47-41A3-AB91-515B0ABD1805}" type="datetimeFigureOut">
              <a:rPr lang="es-MX" smtClean="0"/>
              <a:t>27/03/2026</a:t>
            </a:fld>
            <a:endParaRPr lang="es-MX"/>
          </a:p>
        </p:txBody>
      </p:sp>
      <p:sp>
        <p:nvSpPr>
          <p:cNvPr id="5" name="Marcador de pie de página 4">
            <a:extLst>
              <a:ext uri="{FF2B5EF4-FFF2-40B4-BE49-F238E27FC236}">
                <a16:creationId xmlns:a16="http://schemas.microsoft.com/office/drawing/2014/main" id="{05D11F0B-D084-EA67-874B-CFBDA67AB37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BB2FD97-D479-1EEB-D10A-3F7BB7BDCADF}"/>
              </a:ext>
            </a:extLst>
          </p:cNvPr>
          <p:cNvSpPr>
            <a:spLocks noGrp="1"/>
          </p:cNvSpPr>
          <p:nvPr>
            <p:ph type="sldNum" sz="quarter" idx="12"/>
          </p:nvPr>
        </p:nvSpPr>
        <p:spPr/>
        <p:txBody>
          <a:bodyPr/>
          <a:lstStyle/>
          <a:p>
            <a:fld id="{AC002F1A-99E3-45B6-81A7-C46C0076C5F9}" type="slidenum">
              <a:rPr lang="es-MX" smtClean="0"/>
              <a:t>‹Nº›</a:t>
            </a:fld>
            <a:endParaRPr lang="es-MX"/>
          </a:p>
        </p:txBody>
      </p:sp>
    </p:spTree>
    <p:extLst>
      <p:ext uri="{BB962C8B-B14F-4D97-AF65-F5344CB8AC3E}">
        <p14:creationId xmlns:p14="http://schemas.microsoft.com/office/powerpoint/2010/main" val="3169959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7E1F63-8A86-C8D4-63F5-95950B36A25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251F07D-A11D-DC8F-7039-589B649948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EFE99C1-FF20-E76C-3F32-1C87CB213709}"/>
              </a:ext>
            </a:extLst>
          </p:cNvPr>
          <p:cNvSpPr>
            <a:spLocks noGrp="1"/>
          </p:cNvSpPr>
          <p:nvPr>
            <p:ph type="dt" sz="half" idx="10"/>
          </p:nvPr>
        </p:nvSpPr>
        <p:spPr/>
        <p:txBody>
          <a:bodyPr/>
          <a:lstStyle/>
          <a:p>
            <a:fld id="{B0673D7D-3D47-41A3-AB91-515B0ABD1805}" type="datetimeFigureOut">
              <a:rPr lang="es-MX" smtClean="0"/>
              <a:t>27/03/2026</a:t>
            </a:fld>
            <a:endParaRPr lang="es-MX"/>
          </a:p>
        </p:txBody>
      </p:sp>
      <p:sp>
        <p:nvSpPr>
          <p:cNvPr id="5" name="Marcador de pie de página 4">
            <a:extLst>
              <a:ext uri="{FF2B5EF4-FFF2-40B4-BE49-F238E27FC236}">
                <a16:creationId xmlns:a16="http://schemas.microsoft.com/office/drawing/2014/main" id="{F0421DDD-3E31-BA93-CA5D-EB1537D185A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1B970D8-1D4B-EF4A-D389-136745D15894}"/>
              </a:ext>
            </a:extLst>
          </p:cNvPr>
          <p:cNvSpPr>
            <a:spLocks noGrp="1"/>
          </p:cNvSpPr>
          <p:nvPr>
            <p:ph type="sldNum" sz="quarter" idx="12"/>
          </p:nvPr>
        </p:nvSpPr>
        <p:spPr/>
        <p:txBody>
          <a:bodyPr/>
          <a:lstStyle/>
          <a:p>
            <a:fld id="{AC002F1A-99E3-45B6-81A7-C46C0076C5F9}" type="slidenum">
              <a:rPr lang="es-MX" smtClean="0"/>
              <a:t>‹Nº›</a:t>
            </a:fld>
            <a:endParaRPr lang="es-MX"/>
          </a:p>
        </p:txBody>
      </p:sp>
    </p:spTree>
    <p:extLst>
      <p:ext uri="{BB962C8B-B14F-4D97-AF65-F5344CB8AC3E}">
        <p14:creationId xmlns:p14="http://schemas.microsoft.com/office/powerpoint/2010/main" val="1911355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2C8D5D-5AEF-2D73-99D4-B0510215782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2646C76-F4A1-5CA1-7DB8-C6D4E26E181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F65CD9D7-CCCA-495F-A8E5-E85E24CDE61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767D9F9F-31BC-321C-FBB1-908E2F7EA53D}"/>
              </a:ext>
            </a:extLst>
          </p:cNvPr>
          <p:cNvSpPr>
            <a:spLocks noGrp="1"/>
          </p:cNvSpPr>
          <p:nvPr>
            <p:ph type="dt" sz="half" idx="10"/>
          </p:nvPr>
        </p:nvSpPr>
        <p:spPr/>
        <p:txBody>
          <a:bodyPr/>
          <a:lstStyle/>
          <a:p>
            <a:fld id="{B0673D7D-3D47-41A3-AB91-515B0ABD1805}" type="datetimeFigureOut">
              <a:rPr lang="es-MX" smtClean="0"/>
              <a:t>27/03/2026</a:t>
            </a:fld>
            <a:endParaRPr lang="es-MX"/>
          </a:p>
        </p:txBody>
      </p:sp>
      <p:sp>
        <p:nvSpPr>
          <p:cNvPr id="6" name="Marcador de pie de página 5">
            <a:extLst>
              <a:ext uri="{FF2B5EF4-FFF2-40B4-BE49-F238E27FC236}">
                <a16:creationId xmlns:a16="http://schemas.microsoft.com/office/drawing/2014/main" id="{1D000148-026B-CDCC-8C93-3356B89AB92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697D1F5-A2EF-13BD-2C46-A665F67404AB}"/>
              </a:ext>
            </a:extLst>
          </p:cNvPr>
          <p:cNvSpPr>
            <a:spLocks noGrp="1"/>
          </p:cNvSpPr>
          <p:nvPr>
            <p:ph type="sldNum" sz="quarter" idx="12"/>
          </p:nvPr>
        </p:nvSpPr>
        <p:spPr/>
        <p:txBody>
          <a:bodyPr/>
          <a:lstStyle/>
          <a:p>
            <a:fld id="{AC002F1A-99E3-45B6-81A7-C46C0076C5F9}" type="slidenum">
              <a:rPr lang="es-MX" smtClean="0"/>
              <a:t>‹Nº›</a:t>
            </a:fld>
            <a:endParaRPr lang="es-MX"/>
          </a:p>
        </p:txBody>
      </p:sp>
    </p:spTree>
    <p:extLst>
      <p:ext uri="{BB962C8B-B14F-4D97-AF65-F5344CB8AC3E}">
        <p14:creationId xmlns:p14="http://schemas.microsoft.com/office/powerpoint/2010/main" val="1913627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B8034F-A55B-EEBE-5EC1-661A65A5768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3FF8721-49C3-2162-0CD7-71639ED9BB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E401AEC-FB0F-0D5A-BA4F-7BA82B13BF0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EF7B6011-6455-6D69-39C5-53CA75EF27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A542838-656A-5836-84E0-1C00A8DD150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E6CEFB39-6238-B6EE-A811-0F12D6D29C1F}"/>
              </a:ext>
            </a:extLst>
          </p:cNvPr>
          <p:cNvSpPr>
            <a:spLocks noGrp="1"/>
          </p:cNvSpPr>
          <p:nvPr>
            <p:ph type="dt" sz="half" idx="10"/>
          </p:nvPr>
        </p:nvSpPr>
        <p:spPr/>
        <p:txBody>
          <a:bodyPr/>
          <a:lstStyle/>
          <a:p>
            <a:fld id="{B0673D7D-3D47-41A3-AB91-515B0ABD1805}" type="datetimeFigureOut">
              <a:rPr lang="es-MX" smtClean="0"/>
              <a:t>27/03/2026</a:t>
            </a:fld>
            <a:endParaRPr lang="es-MX"/>
          </a:p>
        </p:txBody>
      </p:sp>
      <p:sp>
        <p:nvSpPr>
          <p:cNvPr id="8" name="Marcador de pie de página 7">
            <a:extLst>
              <a:ext uri="{FF2B5EF4-FFF2-40B4-BE49-F238E27FC236}">
                <a16:creationId xmlns:a16="http://schemas.microsoft.com/office/drawing/2014/main" id="{70A28A3D-FCEB-F90A-9FA7-CA862014CE3A}"/>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CA6D350F-DC6B-1401-368B-F72AA12763ED}"/>
              </a:ext>
            </a:extLst>
          </p:cNvPr>
          <p:cNvSpPr>
            <a:spLocks noGrp="1"/>
          </p:cNvSpPr>
          <p:nvPr>
            <p:ph type="sldNum" sz="quarter" idx="12"/>
          </p:nvPr>
        </p:nvSpPr>
        <p:spPr/>
        <p:txBody>
          <a:bodyPr/>
          <a:lstStyle/>
          <a:p>
            <a:fld id="{AC002F1A-99E3-45B6-81A7-C46C0076C5F9}" type="slidenum">
              <a:rPr lang="es-MX" smtClean="0"/>
              <a:t>‹Nº›</a:t>
            </a:fld>
            <a:endParaRPr lang="es-MX"/>
          </a:p>
        </p:txBody>
      </p:sp>
    </p:spTree>
    <p:extLst>
      <p:ext uri="{BB962C8B-B14F-4D97-AF65-F5344CB8AC3E}">
        <p14:creationId xmlns:p14="http://schemas.microsoft.com/office/powerpoint/2010/main" val="3682144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B7B920-8C02-373D-6DA5-A7D617E8EE9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27A21367-EE78-F193-07E1-B56F47463B87}"/>
              </a:ext>
            </a:extLst>
          </p:cNvPr>
          <p:cNvSpPr>
            <a:spLocks noGrp="1"/>
          </p:cNvSpPr>
          <p:nvPr>
            <p:ph type="dt" sz="half" idx="10"/>
          </p:nvPr>
        </p:nvSpPr>
        <p:spPr/>
        <p:txBody>
          <a:bodyPr/>
          <a:lstStyle/>
          <a:p>
            <a:fld id="{B0673D7D-3D47-41A3-AB91-515B0ABD1805}" type="datetimeFigureOut">
              <a:rPr lang="es-MX" smtClean="0"/>
              <a:t>27/03/2026</a:t>
            </a:fld>
            <a:endParaRPr lang="es-MX"/>
          </a:p>
        </p:txBody>
      </p:sp>
      <p:sp>
        <p:nvSpPr>
          <p:cNvPr id="4" name="Marcador de pie de página 3">
            <a:extLst>
              <a:ext uri="{FF2B5EF4-FFF2-40B4-BE49-F238E27FC236}">
                <a16:creationId xmlns:a16="http://schemas.microsoft.com/office/drawing/2014/main" id="{6E6109E6-0CB9-A183-511E-656DE6A82345}"/>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87C42CE7-69BF-EF9E-15BB-1C584A0FF58D}"/>
              </a:ext>
            </a:extLst>
          </p:cNvPr>
          <p:cNvSpPr>
            <a:spLocks noGrp="1"/>
          </p:cNvSpPr>
          <p:nvPr>
            <p:ph type="sldNum" sz="quarter" idx="12"/>
          </p:nvPr>
        </p:nvSpPr>
        <p:spPr/>
        <p:txBody>
          <a:bodyPr/>
          <a:lstStyle/>
          <a:p>
            <a:fld id="{AC002F1A-99E3-45B6-81A7-C46C0076C5F9}" type="slidenum">
              <a:rPr lang="es-MX" smtClean="0"/>
              <a:t>‹Nº›</a:t>
            </a:fld>
            <a:endParaRPr lang="es-MX"/>
          </a:p>
        </p:txBody>
      </p:sp>
    </p:spTree>
    <p:extLst>
      <p:ext uri="{BB962C8B-B14F-4D97-AF65-F5344CB8AC3E}">
        <p14:creationId xmlns:p14="http://schemas.microsoft.com/office/powerpoint/2010/main" val="1806108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6F3BB10-4583-9960-3050-B91ACE6E727F}"/>
              </a:ext>
            </a:extLst>
          </p:cNvPr>
          <p:cNvSpPr>
            <a:spLocks noGrp="1"/>
          </p:cNvSpPr>
          <p:nvPr>
            <p:ph type="dt" sz="half" idx="10"/>
          </p:nvPr>
        </p:nvSpPr>
        <p:spPr/>
        <p:txBody>
          <a:bodyPr/>
          <a:lstStyle/>
          <a:p>
            <a:fld id="{B0673D7D-3D47-41A3-AB91-515B0ABD1805}" type="datetimeFigureOut">
              <a:rPr lang="es-MX" smtClean="0"/>
              <a:t>27/03/2026</a:t>
            </a:fld>
            <a:endParaRPr lang="es-MX"/>
          </a:p>
        </p:txBody>
      </p:sp>
      <p:sp>
        <p:nvSpPr>
          <p:cNvPr id="3" name="Marcador de pie de página 2">
            <a:extLst>
              <a:ext uri="{FF2B5EF4-FFF2-40B4-BE49-F238E27FC236}">
                <a16:creationId xmlns:a16="http://schemas.microsoft.com/office/drawing/2014/main" id="{AC08CB66-73EA-36F3-6031-2392B25DADE8}"/>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BA6C228D-077E-F19E-DDF0-F9A3DEF3878E}"/>
              </a:ext>
            </a:extLst>
          </p:cNvPr>
          <p:cNvSpPr>
            <a:spLocks noGrp="1"/>
          </p:cNvSpPr>
          <p:nvPr>
            <p:ph type="sldNum" sz="quarter" idx="12"/>
          </p:nvPr>
        </p:nvSpPr>
        <p:spPr/>
        <p:txBody>
          <a:bodyPr/>
          <a:lstStyle/>
          <a:p>
            <a:fld id="{AC002F1A-99E3-45B6-81A7-C46C0076C5F9}" type="slidenum">
              <a:rPr lang="es-MX" smtClean="0"/>
              <a:t>‹Nº›</a:t>
            </a:fld>
            <a:endParaRPr lang="es-MX"/>
          </a:p>
        </p:txBody>
      </p:sp>
    </p:spTree>
    <p:extLst>
      <p:ext uri="{BB962C8B-B14F-4D97-AF65-F5344CB8AC3E}">
        <p14:creationId xmlns:p14="http://schemas.microsoft.com/office/powerpoint/2010/main" val="1245696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5E1820-BAE4-0839-D660-CE88E2CAE6D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3805A3E-99C6-BAA0-0BB8-AB230F831B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1BC7D631-A91B-C4DF-0912-71CC44185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7CEE4FD-0F16-303A-5C2C-BCAF72BD481B}"/>
              </a:ext>
            </a:extLst>
          </p:cNvPr>
          <p:cNvSpPr>
            <a:spLocks noGrp="1"/>
          </p:cNvSpPr>
          <p:nvPr>
            <p:ph type="dt" sz="half" idx="10"/>
          </p:nvPr>
        </p:nvSpPr>
        <p:spPr/>
        <p:txBody>
          <a:bodyPr/>
          <a:lstStyle/>
          <a:p>
            <a:fld id="{B0673D7D-3D47-41A3-AB91-515B0ABD1805}" type="datetimeFigureOut">
              <a:rPr lang="es-MX" smtClean="0"/>
              <a:t>27/03/2026</a:t>
            </a:fld>
            <a:endParaRPr lang="es-MX"/>
          </a:p>
        </p:txBody>
      </p:sp>
      <p:sp>
        <p:nvSpPr>
          <p:cNvPr id="6" name="Marcador de pie de página 5">
            <a:extLst>
              <a:ext uri="{FF2B5EF4-FFF2-40B4-BE49-F238E27FC236}">
                <a16:creationId xmlns:a16="http://schemas.microsoft.com/office/drawing/2014/main" id="{B3700CC3-5F5A-C892-3082-95C78C8A083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ED0D3F1-7C69-A0A2-8999-71CD283D3E17}"/>
              </a:ext>
            </a:extLst>
          </p:cNvPr>
          <p:cNvSpPr>
            <a:spLocks noGrp="1"/>
          </p:cNvSpPr>
          <p:nvPr>
            <p:ph type="sldNum" sz="quarter" idx="12"/>
          </p:nvPr>
        </p:nvSpPr>
        <p:spPr/>
        <p:txBody>
          <a:bodyPr/>
          <a:lstStyle/>
          <a:p>
            <a:fld id="{AC002F1A-99E3-45B6-81A7-C46C0076C5F9}" type="slidenum">
              <a:rPr lang="es-MX" smtClean="0"/>
              <a:t>‹Nº›</a:t>
            </a:fld>
            <a:endParaRPr lang="es-MX"/>
          </a:p>
        </p:txBody>
      </p:sp>
    </p:spTree>
    <p:extLst>
      <p:ext uri="{BB962C8B-B14F-4D97-AF65-F5344CB8AC3E}">
        <p14:creationId xmlns:p14="http://schemas.microsoft.com/office/powerpoint/2010/main" val="3982416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E6BA4C-8B32-348A-08AF-AE682334ADF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1989324A-097E-42C7-6DA0-1B77C1F8E1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D8615D4D-C93D-E2FC-0180-70B2B70748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DAD1516-C758-A0CC-DFF9-E8FCB49616EC}"/>
              </a:ext>
            </a:extLst>
          </p:cNvPr>
          <p:cNvSpPr>
            <a:spLocks noGrp="1"/>
          </p:cNvSpPr>
          <p:nvPr>
            <p:ph type="dt" sz="half" idx="10"/>
          </p:nvPr>
        </p:nvSpPr>
        <p:spPr/>
        <p:txBody>
          <a:bodyPr/>
          <a:lstStyle/>
          <a:p>
            <a:fld id="{B0673D7D-3D47-41A3-AB91-515B0ABD1805}" type="datetimeFigureOut">
              <a:rPr lang="es-MX" smtClean="0"/>
              <a:t>27/03/2026</a:t>
            </a:fld>
            <a:endParaRPr lang="es-MX"/>
          </a:p>
        </p:txBody>
      </p:sp>
      <p:sp>
        <p:nvSpPr>
          <p:cNvPr id="6" name="Marcador de pie de página 5">
            <a:extLst>
              <a:ext uri="{FF2B5EF4-FFF2-40B4-BE49-F238E27FC236}">
                <a16:creationId xmlns:a16="http://schemas.microsoft.com/office/drawing/2014/main" id="{DE696BF6-FE74-924E-2B21-1048490616B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49D4FED-C588-ACCA-2B20-0C5415FF2FB5}"/>
              </a:ext>
            </a:extLst>
          </p:cNvPr>
          <p:cNvSpPr>
            <a:spLocks noGrp="1"/>
          </p:cNvSpPr>
          <p:nvPr>
            <p:ph type="sldNum" sz="quarter" idx="12"/>
          </p:nvPr>
        </p:nvSpPr>
        <p:spPr/>
        <p:txBody>
          <a:bodyPr/>
          <a:lstStyle/>
          <a:p>
            <a:fld id="{AC002F1A-99E3-45B6-81A7-C46C0076C5F9}" type="slidenum">
              <a:rPr lang="es-MX" smtClean="0"/>
              <a:t>‹Nº›</a:t>
            </a:fld>
            <a:endParaRPr lang="es-MX"/>
          </a:p>
        </p:txBody>
      </p:sp>
    </p:spTree>
    <p:extLst>
      <p:ext uri="{BB962C8B-B14F-4D97-AF65-F5344CB8AC3E}">
        <p14:creationId xmlns:p14="http://schemas.microsoft.com/office/powerpoint/2010/main" val="2861789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6DEAB7-0191-80B2-5995-F5EF651076C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D03E7B0A-DC34-C768-525C-0F9465D55CE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BA711E5-F7D6-D238-7C22-38EDCDE043C2}"/>
              </a:ext>
            </a:extLst>
          </p:cNvPr>
          <p:cNvSpPr>
            <a:spLocks noGrp="1"/>
          </p:cNvSpPr>
          <p:nvPr>
            <p:ph type="dt" sz="half" idx="10"/>
          </p:nvPr>
        </p:nvSpPr>
        <p:spPr/>
        <p:txBody>
          <a:bodyPr/>
          <a:lstStyle/>
          <a:p>
            <a:fld id="{B0673D7D-3D47-41A3-AB91-515B0ABD1805}" type="datetimeFigureOut">
              <a:rPr lang="es-MX" smtClean="0"/>
              <a:t>27/03/2026</a:t>
            </a:fld>
            <a:endParaRPr lang="es-MX"/>
          </a:p>
        </p:txBody>
      </p:sp>
      <p:sp>
        <p:nvSpPr>
          <p:cNvPr id="5" name="Marcador de pie de página 4">
            <a:extLst>
              <a:ext uri="{FF2B5EF4-FFF2-40B4-BE49-F238E27FC236}">
                <a16:creationId xmlns:a16="http://schemas.microsoft.com/office/drawing/2014/main" id="{712B3391-408F-9E1C-A541-B80631B727E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CCAD1E2-ACA4-F09C-DD00-60B1CBADDBC0}"/>
              </a:ext>
            </a:extLst>
          </p:cNvPr>
          <p:cNvSpPr>
            <a:spLocks noGrp="1"/>
          </p:cNvSpPr>
          <p:nvPr>
            <p:ph type="sldNum" sz="quarter" idx="12"/>
          </p:nvPr>
        </p:nvSpPr>
        <p:spPr/>
        <p:txBody>
          <a:bodyPr/>
          <a:lstStyle/>
          <a:p>
            <a:fld id="{AC002F1A-99E3-45B6-81A7-C46C0076C5F9}" type="slidenum">
              <a:rPr lang="es-MX" smtClean="0"/>
              <a:t>‹Nº›</a:t>
            </a:fld>
            <a:endParaRPr lang="es-MX"/>
          </a:p>
        </p:txBody>
      </p:sp>
    </p:spTree>
    <p:extLst>
      <p:ext uri="{BB962C8B-B14F-4D97-AF65-F5344CB8AC3E}">
        <p14:creationId xmlns:p14="http://schemas.microsoft.com/office/powerpoint/2010/main" val="3124084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102047E-E240-74A3-F567-7C654C8FA7A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725E598-0A9C-7DB5-9117-997EBEC710E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DF7FD6D-6C09-8D18-7FC5-1F61097A6F5E}"/>
              </a:ext>
            </a:extLst>
          </p:cNvPr>
          <p:cNvSpPr>
            <a:spLocks noGrp="1"/>
          </p:cNvSpPr>
          <p:nvPr>
            <p:ph type="dt" sz="half" idx="10"/>
          </p:nvPr>
        </p:nvSpPr>
        <p:spPr/>
        <p:txBody>
          <a:bodyPr/>
          <a:lstStyle/>
          <a:p>
            <a:fld id="{B0673D7D-3D47-41A3-AB91-515B0ABD1805}" type="datetimeFigureOut">
              <a:rPr lang="es-MX" smtClean="0"/>
              <a:t>27/03/2026</a:t>
            </a:fld>
            <a:endParaRPr lang="es-MX"/>
          </a:p>
        </p:txBody>
      </p:sp>
      <p:sp>
        <p:nvSpPr>
          <p:cNvPr id="5" name="Marcador de pie de página 4">
            <a:extLst>
              <a:ext uri="{FF2B5EF4-FFF2-40B4-BE49-F238E27FC236}">
                <a16:creationId xmlns:a16="http://schemas.microsoft.com/office/drawing/2014/main" id="{9A8336B5-3787-998C-28B5-15157AC77A7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ED60014-0BAA-7260-F567-AA7E4060297F}"/>
              </a:ext>
            </a:extLst>
          </p:cNvPr>
          <p:cNvSpPr>
            <a:spLocks noGrp="1"/>
          </p:cNvSpPr>
          <p:nvPr>
            <p:ph type="sldNum" sz="quarter" idx="12"/>
          </p:nvPr>
        </p:nvSpPr>
        <p:spPr/>
        <p:txBody>
          <a:bodyPr/>
          <a:lstStyle/>
          <a:p>
            <a:fld id="{AC002F1A-99E3-45B6-81A7-C46C0076C5F9}" type="slidenum">
              <a:rPr lang="es-MX" smtClean="0"/>
              <a:t>‹Nº›</a:t>
            </a:fld>
            <a:endParaRPr lang="es-MX"/>
          </a:p>
        </p:txBody>
      </p:sp>
    </p:spTree>
    <p:extLst>
      <p:ext uri="{BB962C8B-B14F-4D97-AF65-F5344CB8AC3E}">
        <p14:creationId xmlns:p14="http://schemas.microsoft.com/office/powerpoint/2010/main" val="1272280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61A1B9D-404C-8095-D80A-C7D764C2C6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99FF21B-22FB-9ACF-AD93-E77B51CE34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2672B51-DBC3-8AFA-6D34-2F06A1E57E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673D7D-3D47-41A3-AB91-515B0ABD1805}" type="datetimeFigureOut">
              <a:rPr lang="es-MX" smtClean="0"/>
              <a:t>27/03/2026</a:t>
            </a:fld>
            <a:endParaRPr lang="es-MX"/>
          </a:p>
        </p:txBody>
      </p:sp>
      <p:sp>
        <p:nvSpPr>
          <p:cNvPr id="5" name="Marcador de pie de página 4">
            <a:extLst>
              <a:ext uri="{FF2B5EF4-FFF2-40B4-BE49-F238E27FC236}">
                <a16:creationId xmlns:a16="http://schemas.microsoft.com/office/drawing/2014/main" id="{EED18E55-68C1-F680-C789-845F3EB958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9D7465E1-8E19-2F05-BFB2-C4B95C1B05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002F1A-99E3-45B6-81A7-C46C0076C5F9}" type="slidenum">
              <a:rPr lang="es-MX" smtClean="0"/>
              <a:t>‹Nº›</a:t>
            </a:fld>
            <a:endParaRPr lang="es-MX"/>
          </a:p>
        </p:txBody>
      </p:sp>
    </p:spTree>
    <p:extLst>
      <p:ext uri="{BB962C8B-B14F-4D97-AF65-F5344CB8AC3E}">
        <p14:creationId xmlns:p14="http://schemas.microsoft.com/office/powerpoint/2010/main" val="3563616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F70530F2-D044-2477-F429-3F82D4766399}"/>
              </a:ext>
            </a:extLst>
          </p:cNvPr>
          <p:cNvSpPr txBox="1"/>
          <p:nvPr/>
        </p:nvSpPr>
        <p:spPr>
          <a:xfrm>
            <a:off x="1116594" y="1982651"/>
            <a:ext cx="4622292" cy="3159904"/>
          </a:xfrm>
          <a:prstGeom prst="rect">
            <a:avLst/>
          </a:prstGeom>
          <a:noFill/>
        </p:spPr>
        <p:txBody>
          <a:bodyPr wrap="square">
            <a:spAutoFit/>
          </a:bodyPr>
          <a:lstStyle/>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Nombre del alumno: </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Cynthia Jasmine Morales Torres</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Numero de control</a:t>
            </a:r>
            <a:r>
              <a:rPr lang="es-MX" dirty="0">
                <a:latin typeface="Arial" panose="020B0604020202020204" pitchFamily="34" charset="0"/>
                <a:ea typeface="Calibri" panose="020F0502020204030204" pitchFamily="34" charset="0"/>
                <a:cs typeface="Arial" panose="020B0604020202020204" pitchFamily="34" charset="0"/>
              </a:rPr>
              <a:t>:</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231260014</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Semestre: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Sexto semestre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Especialidad:</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Ingeniería en Sistemas Computacionales.</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5" name="CuadroTexto 4">
            <a:extLst>
              <a:ext uri="{FF2B5EF4-FFF2-40B4-BE49-F238E27FC236}">
                <a16:creationId xmlns:a16="http://schemas.microsoft.com/office/drawing/2014/main" id="{5E8783DD-51BA-56AE-DBD4-0401E7B3B902}"/>
              </a:ext>
            </a:extLst>
          </p:cNvPr>
          <p:cNvSpPr txBox="1"/>
          <p:nvPr/>
        </p:nvSpPr>
        <p:spPr>
          <a:xfrm>
            <a:off x="5725433" y="1968009"/>
            <a:ext cx="6099048" cy="3159904"/>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Nombre del docente: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Ing. Francisco Javier Mingo Velázquez</a:t>
            </a:r>
          </a:p>
          <a:p>
            <a:pPr algn="ctr">
              <a:lnSpc>
                <a:spcPct val="107000"/>
              </a:lnSpc>
              <a:spcAft>
                <a:spcPts val="800"/>
              </a:spcAft>
            </a:pPr>
            <a:r>
              <a:rPr lang="es-MX" b="1" dirty="0">
                <a:effectLst/>
                <a:latin typeface="Arial" panose="020B0604020202020204" pitchFamily="34" charset="0"/>
                <a:ea typeface="Calibri" panose="020F0502020204030204" pitchFamily="34" charset="0"/>
                <a:cs typeface="Arial" panose="020B0604020202020204" pitchFamily="34" charset="0"/>
              </a:rPr>
              <a:t>Materia: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effectLst/>
                <a:latin typeface="Arial" panose="020B0604020202020204" pitchFamily="34" charset="0"/>
                <a:ea typeface="Calibri" panose="020F0502020204030204" pitchFamily="34" charset="0"/>
                <a:cs typeface="Arial" panose="020B0604020202020204" pitchFamily="34" charset="0"/>
              </a:rPr>
              <a:t>Lenguajes y Autómatas 1</a:t>
            </a:r>
            <a:endParaRPr lang="es-MX"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Nombre del trabajo:</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6.2 Reporte de Practica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Fecha de entrega:</a:t>
            </a:r>
          </a:p>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28/03/2026</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6" name="CuadroTexto 5">
            <a:extLst>
              <a:ext uri="{FF2B5EF4-FFF2-40B4-BE49-F238E27FC236}">
                <a16:creationId xmlns:a16="http://schemas.microsoft.com/office/drawing/2014/main" id="{6AC3AF60-A483-40F5-D6E3-4FBB9B5F2F0F}"/>
              </a:ext>
            </a:extLst>
          </p:cNvPr>
          <p:cNvSpPr txBox="1"/>
          <p:nvPr/>
        </p:nvSpPr>
        <p:spPr>
          <a:xfrm>
            <a:off x="2875026" y="5442826"/>
            <a:ext cx="6099048" cy="766172"/>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Frontera Comalapa, Chiapas. A 28 de Marzo del 2026.</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4908F202-78AC-BC3B-620F-5F4C1267C85C}"/>
              </a:ext>
            </a:extLst>
          </p:cNvPr>
          <p:cNvSpPr txBox="1"/>
          <p:nvPr/>
        </p:nvSpPr>
        <p:spPr>
          <a:xfrm>
            <a:off x="2872429" y="886925"/>
            <a:ext cx="6099048" cy="766172"/>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Instituto Tecnológico de Frontera Comalapa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Modalidad Mixta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grpSp>
        <p:nvGrpSpPr>
          <p:cNvPr id="8" name="Grupo 7">
            <a:extLst>
              <a:ext uri="{FF2B5EF4-FFF2-40B4-BE49-F238E27FC236}">
                <a16:creationId xmlns:a16="http://schemas.microsoft.com/office/drawing/2014/main" id="{E69ABC2F-190A-EFD7-3968-D8B69102681D}"/>
              </a:ext>
            </a:extLst>
          </p:cNvPr>
          <p:cNvGrpSpPr/>
          <p:nvPr/>
        </p:nvGrpSpPr>
        <p:grpSpPr>
          <a:xfrm>
            <a:off x="2676555" y="161731"/>
            <a:ext cx="6357600" cy="637319"/>
            <a:chOff x="0" y="0"/>
            <a:chExt cx="5454045" cy="554990"/>
          </a:xfrm>
        </p:grpSpPr>
        <p:pic>
          <p:nvPicPr>
            <p:cNvPr id="9" name="Imagen 8">
              <a:extLst>
                <a:ext uri="{FF2B5EF4-FFF2-40B4-BE49-F238E27FC236}">
                  <a16:creationId xmlns:a16="http://schemas.microsoft.com/office/drawing/2014/main" id="{A3BDEEE5-9DCA-95AB-3500-2EFFD5E3F3B9}"/>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0" b="100000" l="0" r="98790">
                          <a14:foregroundMark x1="69758" y1="22660" x2="69758" y2="22660"/>
                          <a14:foregroundMark x1="74194" y1="18227" x2="74194" y2="18227"/>
                          <a14:foregroundMark x1="84274" y1="16256" x2="84274" y2="16256"/>
                          <a14:foregroundMark x1="92339" y1="19704" x2="92339" y2="19704"/>
                          <a14:foregroundMark x1="95968" y1="25123" x2="95968" y2="25123"/>
                          <a14:foregroundMark x1="90323" y1="27094" x2="90323" y2="27094"/>
                          <a14:foregroundMark x1="80645" y1="21182" x2="80645" y2="21182"/>
                          <a14:foregroundMark x1="75806" y1="30542" x2="75806" y2="30542"/>
                          <a14:foregroundMark x1="75806" y1="36946" x2="75806" y2="36946"/>
                          <a14:foregroundMark x1="80242" y1="36453" x2="80242" y2="36453"/>
                          <a14:foregroundMark x1="80645" y1="30542" x2="80645" y2="30542"/>
                          <a14:foregroundMark x1="84677" y1="30049" x2="84677" y2="30049"/>
                          <a14:foregroundMark x1="84677" y1="36946" x2="84677" y2="36946"/>
                          <a14:foregroundMark x1="75403" y1="42857" x2="75403" y2="42857"/>
                          <a14:foregroundMark x1="81048" y1="46305" x2="81048" y2="46305"/>
                          <a14:foregroundMark x1="70161" y1="52217" x2="70161" y2="52217"/>
                          <a14:foregroundMark x1="77419" y1="51724" x2="77419" y2="51724"/>
                          <a14:foregroundMark x1="81452" y1="52217" x2="81452" y2="52217"/>
                          <a14:foregroundMark x1="85484" y1="51232" x2="85484" y2="51232"/>
                          <a14:foregroundMark x1="90323" y1="42365" x2="90323" y2="42365"/>
                        </a14:backgroundRemoval>
                      </a14:imgEffect>
                    </a14:imgLayer>
                  </a14:imgProps>
                </a:ext>
                <a:ext uri="{28A0092B-C50C-407E-A947-70E740481C1C}">
                  <a14:useLocalDpi xmlns:a14="http://schemas.microsoft.com/office/drawing/2010/main" val="0"/>
                </a:ext>
              </a:extLst>
            </a:blip>
            <a:srcRect b="29873"/>
            <a:stretch/>
          </p:blipFill>
          <p:spPr bwMode="auto">
            <a:xfrm>
              <a:off x="4486940" y="0"/>
              <a:ext cx="967105" cy="554990"/>
            </a:xfrm>
            <a:prstGeom prst="rect">
              <a:avLst/>
            </a:prstGeom>
            <a:ln>
              <a:noFill/>
            </a:ln>
            <a:extLst>
              <a:ext uri="{53640926-AAD7-44D8-BBD7-CCE9431645EC}">
                <a14:shadowObscured xmlns:a14="http://schemas.microsoft.com/office/drawing/2010/main"/>
              </a:ext>
            </a:extLst>
          </p:spPr>
        </p:pic>
        <p:pic>
          <p:nvPicPr>
            <p:cNvPr id="10" name="Imagen 9">
              <a:extLst>
                <a:ext uri="{FF2B5EF4-FFF2-40B4-BE49-F238E27FC236}">
                  <a16:creationId xmlns:a16="http://schemas.microsoft.com/office/drawing/2014/main" id="{11EDA46E-61A1-A036-A5F8-8A2F2E3BE1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3442" y="0"/>
              <a:ext cx="1221740" cy="539115"/>
            </a:xfrm>
            <a:prstGeom prst="rect">
              <a:avLst/>
            </a:prstGeom>
          </p:spPr>
        </p:pic>
        <p:pic>
          <p:nvPicPr>
            <p:cNvPr id="11" name="Imagen 10">
              <a:extLst>
                <a:ext uri="{FF2B5EF4-FFF2-40B4-BE49-F238E27FC236}">
                  <a16:creationId xmlns:a16="http://schemas.microsoft.com/office/drawing/2014/main" id="{9958EACC-5222-8D64-4E7B-1609C4F83D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615565" cy="541655"/>
            </a:xfrm>
            <a:prstGeom prst="rect">
              <a:avLst/>
            </a:prstGeom>
          </p:spPr>
        </p:pic>
        <p:cxnSp>
          <p:nvCxnSpPr>
            <p:cNvPr id="12" name="Conector recto 11">
              <a:extLst>
                <a:ext uri="{FF2B5EF4-FFF2-40B4-BE49-F238E27FC236}">
                  <a16:creationId xmlns:a16="http://schemas.microsoft.com/office/drawing/2014/main" id="{0AB39540-CD7A-A070-9BA6-276FA508DBBD}"/>
                </a:ext>
              </a:extLst>
            </p:cNvPr>
            <p:cNvCxnSpPr/>
            <p:nvPr/>
          </p:nvCxnSpPr>
          <p:spPr>
            <a:xfrm>
              <a:off x="2849526" y="53163"/>
              <a:ext cx="0" cy="435935"/>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151788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2854F6-B0DB-0FBC-534F-55F23F4E504B}"/>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1E5351F3-0D27-1C3A-01D3-8908839AF3A9}"/>
              </a:ext>
            </a:extLst>
          </p:cNvPr>
          <p:cNvSpPr>
            <a:spLocks noGrp="1"/>
          </p:cNvSpPr>
          <p:nvPr>
            <p:ph idx="1"/>
          </p:nvPr>
        </p:nvSpPr>
        <p:spPr/>
        <p:txBody>
          <a:bodyPr>
            <a:normAutofit/>
          </a:bodyPr>
          <a:lstStyle/>
          <a:p>
            <a:pPr marL="0" indent="0" algn="just">
              <a:buNone/>
            </a:pPr>
            <a:r>
              <a:rPr lang="es-MX" sz="2000" dirty="0"/>
              <a:t>Las Máquinas de Turing son modelos teóricos fundamentales en la computación, ya que permiten representar el funcionamiento de cualquier algoritmo mediante un conjunto de reglas, estados y una cinta de almacenamiento. Tradicionalmente, estas máquinas operan sobre una cinta unidimensional; sin embargo, existen extensiones como la Máquina de Turing bidimensional, la cual permite el movimiento del cabezal en múltiples direcciones.</a:t>
            </a:r>
          </a:p>
          <a:p>
            <a:pPr marL="0" indent="0" algn="just">
              <a:buNone/>
            </a:pPr>
            <a:r>
              <a:rPr lang="es-MX" sz="2000" dirty="0"/>
              <a:t>En esta práctica se desarrolló una simulación de una Máquina de Turing 2D utilizando </a:t>
            </a:r>
            <a:r>
              <a:rPr lang="es-MX" sz="2000" dirty="0" err="1"/>
              <a:t>JavaFX</a:t>
            </a:r>
            <a:r>
              <a:rPr lang="es-MX" sz="2000" dirty="0"/>
              <a:t>, con el objetivo de visualizar su funcionamiento mediante una interfaz gráfica interactiva.</a:t>
            </a:r>
          </a:p>
          <a:p>
            <a:pPr marL="0" indent="0" algn="just">
              <a:buNone/>
            </a:pPr>
            <a:endParaRPr lang="es-MX" sz="2000" dirty="0"/>
          </a:p>
        </p:txBody>
      </p:sp>
    </p:spTree>
    <p:extLst>
      <p:ext uri="{BB962C8B-B14F-4D97-AF65-F5344CB8AC3E}">
        <p14:creationId xmlns:p14="http://schemas.microsoft.com/office/powerpoint/2010/main" val="4222323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A0ACA0-666E-3C22-627C-DF068E708ED9}"/>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37ABCE5B-3A40-3B66-EDAE-D6B6665D2D6C}"/>
              </a:ext>
            </a:extLst>
          </p:cNvPr>
          <p:cNvSpPr>
            <a:spLocks noGrp="1"/>
          </p:cNvSpPr>
          <p:nvPr>
            <p:ph idx="1"/>
          </p:nvPr>
        </p:nvSpPr>
        <p:spPr/>
        <p:txBody>
          <a:bodyPr>
            <a:normAutofit/>
          </a:bodyPr>
          <a:lstStyle/>
          <a:p>
            <a:pPr marL="0" indent="0" algn="just">
              <a:buNone/>
            </a:pPr>
            <a:r>
              <a:rPr lang="es-MX" sz="2000" dirty="0"/>
              <a:t>El desarrollo de esta práctica permite comprender de manera más clara el comportamiento de las Máquinas de Turing, pasando de un enfoque teórico a una implementación práctica. Además, el uso de </a:t>
            </a:r>
            <a:r>
              <a:rPr lang="es-MX" sz="2000" dirty="0" err="1"/>
              <a:t>JavaFX</a:t>
            </a:r>
            <a:r>
              <a:rPr lang="es-MX" sz="2000" dirty="0"/>
              <a:t> facilita la representación visual de la cinta y el movimiento del cabezal, lo que mejora la interpretación del proceso de ejecución.</a:t>
            </a:r>
          </a:p>
          <a:p>
            <a:pPr marL="0" indent="0" algn="just">
              <a:buNone/>
            </a:pPr>
            <a:r>
              <a:rPr lang="es-MX" sz="2000" dirty="0"/>
              <a:t>Asimismo, este proyecto fortalece habilidades en programación orientada a objetos, manejo de interfaces gráficas y simulación de sistemas computacionales.</a:t>
            </a:r>
          </a:p>
          <a:p>
            <a:pPr marL="0" indent="0" algn="just">
              <a:buNone/>
            </a:pPr>
            <a:endParaRPr lang="es-MX" sz="2000" dirty="0"/>
          </a:p>
        </p:txBody>
      </p:sp>
    </p:spTree>
    <p:extLst>
      <p:ext uri="{BB962C8B-B14F-4D97-AF65-F5344CB8AC3E}">
        <p14:creationId xmlns:p14="http://schemas.microsoft.com/office/powerpoint/2010/main" val="2337016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A29D74-87E6-6906-B9D5-A7F8D8BDA601}"/>
              </a:ext>
            </a:extLst>
          </p:cNvPr>
          <p:cNvSpPr>
            <a:spLocks noGrp="1"/>
          </p:cNvSpPr>
          <p:nvPr>
            <p:ph type="title"/>
          </p:nvPr>
        </p:nvSpPr>
        <p:spPr/>
        <p:txBody>
          <a:bodyPr/>
          <a:lstStyle/>
          <a:p>
            <a:r>
              <a:rPr lang="es-MX" dirty="0"/>
              <a:t>Objetivo </a:t>
            </a:r>
          </a:p>
        </p:txBody>
      </p:sp>
      <p:sp>
        <p:nvSpPr>
          <p:cNvPr id="4" name="Rectangle 1">
            <a:extLst>
              <a:ext uri="{FF2B5EF4-FFF2-40B4-BE49-F238E27FC236}">
                <a16:creationId xmlns:a16="http://schemas.microsoft.com/office/drawing/2014/main" id="{A3F8A90D-C073-7C1B-EF07-E8794FAF0533}"/>
              </a:ext>
            </a:extLst>
          </p:cNvPr>
          <p:cNvSpPr>
            <a:spLocks noChangeArrowheads="1"/>
          </p:cNvSpPr>
          <p:nvPr/>
        </p:nvSpPr>
        <p:spPr bwMode="auto">
          <a:xfrm>
            <a:off x="913523" y="1995488"/>
            <a:ext cx="1036495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Objetivo general</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Desarrollar una aplicación en </a:t>
            </a:r>
            <a:r>
              <a:rPr lang="es-MX" altLang="es-MX" dirty="0" err="1"/>
              <a:t>JavaFX</a:t>
            </a:r>
            <a:r>
              <a:rPr lang="es-MX" altLang="es-MX" dirty="0"/>
              <a:t> que simule el funcionamiento de una Máquina de Turing bidimensional.</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Objetivos específicos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Implementar la estructura de una Máquina de Turing 2D.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Simular el comportamiento de transiciones y estados.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Visualizar la cinta en forma de matriz.</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Permitir la ejecución paso a paso y automática.</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p:txBody>
      </p:sp>
    </p:spTree>
    <p:extLst>
      <p:ext uri="{BB962C8B-B14F-4D97-AF65-F5344CB8AC3E}">
        <p14:creationId xmlns:p14="http://schemas.microsoft.com/office/powerpoint/2010/main" val="1018305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0C4E23-905B-E168-1141-AEF827216CF8}"/>
              </a:ext>
            </a:extLst>
          </p:cNvPr>
          <p:cNvSpPr>
            <a:spLocks noGrp="1"/>
          </p:cNvSpPr>
          <p:nvPr>
            <p:ph type="title"/>
          </p:nvPr>
        </p:nvSpPr>
        <p:spPr/>
        <p:txBody>
          <a:bodyPr/>
          <a:lstStyle/>
          <a:p>
            <a:r>
              <a:rPr lang="es-MX" dirty="0"/>
              <a:t>Marco teórico </a:t>
            </a:r>
          </a:p>
        </p:txBody>
      </p:sp>
      <p:sp>
        <p:nvSpPr>
          <p:cNvPr id="3" name="Marcador de contenido 2">
            <a:extLst>
              <a:ext uri="{FF2B5EF4-FFF2-40B4-BE49-F238E27FC236}">
                <a16:creationId xmlns:a16="http://schemas.microsoft.com/office/drawing/2014/main" id="{54ADEA7E-1C65-C729-D960-0B7E3713764A}"/>
              </a:ext>
            </a:extLst>
          </p:cNvPr>
          <p:cNvSpPr>
            <a:spLocks noGrp="1"/>
          </p:cNvSpPr>
          <p:nvPr>
            <p:ph idx="1"/>
          </p:nvPr>
        </p:nvSpPr>
        <p:spPr/>
        <p:txBody>
          <a:bodyPr>
            <a:normAutofit lnSpcReduction="10000"/>
          </a:bodyPr>
          <a:lstStyle/>
          <a:p>
            <a:pPr marL="0" indent="0" algn="just">
              <a:buNone/>
            </a:pPr>
            <a:r>
              <a:rPr lang="es-MX" sz="2000" dirty="0"/>
              <a:t>Una Máquina de Turing es un modelo abstracto que consiste en:</a:t>
            </a:r>
          </a:p>
          <a:p>
            <a:pPr marL="0" indent="0" algn="just">
              <a:buNone/>
            </a:pPr>
            <a:endParaRPr lang="es-MX" sz="2000" dirty="0"/>
          </a:p>
          <a:p>
            <a:pPr algn="just"/>
            <a:r>
              <a:rPr lang="es-MX" sz="2000" dirty="0"/>
              <a:t>Una cinta infinita donde se almacenan símbolos.</a:t>
            </a:r>
          </a:p>
          <a:p>
            <a:pPr algn="just"/>
            <a:r>
              <a:rPr lang="es-MX" sz="2000" dirty="0"/>
              <a:t>Un cabezal que lee y escribe símbolos.</a:t>
            </a:r>
          </a:p>
          <a:p>
            <a:pPr algn="just"/>
            <a:r>
              <a:rPr lang="es-MX" sz="2000" dirty="0"/>
              <a:t>Un conjunto de estados.</a:t>
            </a:r>
          </a:p>
          <a:p>
            <a:pPr algn="just"/>
            <a:r>
              <a:rPr lang="es-MX" sz="2000" dirty="0"/>
              <a:t>Un conjunto de transiciones.</a:t>
            </a:r>
          </a:p>
          <a:p>
            <a:pPr algn="just"/>
            <a:endParaRPr lang="es-MX" sz="2000" dirty="0"/>
          </a:p>
          <a:p>
            <a:pPr marL="0" indent="0" algn="just">
              <a:buNone/>
            </a:pPr>
            <a:r>
              <a:rPr lang="es-MX" sz="2000" dirty="0"/>
              <a:t>En una Máquina de Turing 2D, la cinta se representa como una matriz, permitiendo movimientos en cuatro direcciones: arriba, abajo, izquierda y derecha. Esto amplía la capacidad de simulación del modelo tradicional.</a:t>
            </a:r>
          </a:p>
          <a:p>
            <a:pPr marL="0" indent="0" algn="just">
              <a:buNone/>
            </a:pPr>
            <a:r>
              <a:rPr lang="es-MX" sz="2000" dirty="0"/>
              <a:t>Las transiciones determinan el comportamiento del sistema, especificando el símbolo a escribir, el siguiente estado y la dirección del movimiento del cabezal.</a:t>
            </a:r>
          </a:p>
          <a:p>
            <a:pPr marL="0" indent="0" algn="just">
              <a:buNone/>
            </a:pPr>
            <a:endParaRPr lang="es-MX" sz="2000" dirty="0"/>
          </a:p>
        </p:txBody>
      </p:sp>
    </p:spTree>
    <p:extLst>
      <p:ext uri="{BB962C8B-B14F-4D97-AF65-F5344CB8AC3E}">
        <p14:creationId xmlns:p14="http://schemas.microsoft.com/office/powerpoint/2010/main" val="185765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6D9E3CB-DF6D-EE2E-144C-D748C9A2B895}"/>
              </a:ext>
            </a:extLst>
          </p:cNvPr>
          <p:cNvSpPr>
            <a:spLocks noGrp="1"/>
          </p:cNvSpPr>
          <p:nvPr>
            <p:ph idx="1"/>
          </p:nvPr>
        </p:nvSpPr>
        <p:spPr>
          <a:xfrm>
            <a:off x="714375" y="387350"/>
            <a:ext cx="10515600" cy="688975"/>
          </a:xfrm>
        </p:spPr>
        <p:txBody>
          <a:bodyPr>
            <a:normAutofit/>
          </a:bodyPr>
          <a:lstStyle/>
          <a:p>
            <a:pPr marL="0" indent="0">
              <a:buNone/>
            </a:pPr>
            <a:r>
              <a:rPr lang="es-MX" sz="2000" dirty="0"/>
              <a:t>El sistema fue implementado utilizando el lenguaje Java con la biblioteca </a:t>
            </a:r>
            <a:r>
              <a:rPr lang="es-MX" sz="2000" dirty="0" err="1"/>
              <a:t>JavaFX</a:t>
            </a:r>
            <a:r>
              <a:rPr lang="es-MX" sz="2000" dirty="0"/>
              <a:t> para la interfaz gráfica.</a:t>
            </a:r>
          </a:p>
        </p:txBody>
      </p:sp>
      <p:sp>
        <p:nvSpPr>
          <p:cNvPr id="7" name="CuadroTexto 6">
            <a:extLst>
              <a:ext uri="{FF2B5EF4-FFF2-40B4-BE49-F238E27FC236}">
                <a16:creationId xmlns:a16="http://schemas.microsoft.com/office/drawing/2014/main" id="{926043FF-1F3C-43C8-9539-017C26983779}"/>
              </a:ext>
            </a:extLst>
          </p:cNvPr>
          <p:cNvSpPr txBox="1"/>
          <p:nvPr/>
        </p:nvSpPr>
        <p:spPr>
          <a:xfrm>
            <a:off x="561975" y="1399312"/>
            <a:ext cx="6096000" cy="1754326"/>
          </a:xfrm>
          <a:prstGeom prst="rect">
            <a:avLst/>
          </a:prstGeom>
          <a:noFill/>
        </p:spPr>
        <p:txBody>
          <a:bodyPr wrap="square">
            <a:spAutoFit/>
          </a:bodyPr>
          <a:lstStyle/>
          <a:p>
            <a:r>
              <a:rPr lang="es-MX" b="1" dirty="0"/>
              <a:t>Componentes principales:</a:t>
            </a:r>
          </a:p>
          <a:p>
            <a:pPr marL="285750" indent="-285750">
              <a:buFont typeface="Arial" panose="020B0604020202020204" pitchFamily="34" charset="0"/>
              <a:buChar char="•"/>
            </a:pPr>
            <a:r>
              <a:rPr lang="es-MX" b="1" dirty="0"/>
              <a:t>MaquinaTuring2D</a:t>
            </a:r>
            <a:r>
              <a:rPr lang="es-MX" dirty="0"/>
              <a:t>: Representa la cinta y el estado actual.</a:t>
            </a:r>
          </a:p>
          <a:p>
            <a:pPr marL="285750" indent="-285750">
              <a:buFont typeface="Arial" panose="020B0604020202020204" pitchFamily="34" charset="0"/>
              <a:buChar char="•"/>
            </a:pPr>
            <a:r>
              <a:rPr lang="es-MX" b="1" dirty="0" err="1"/>
              <a:t>Transicion</a:t>
            </a:r>
            <a:r>
              <a:rPr lang="es-MX" dirty="0"/>
              <a:t>: Define las reglas de cambio de estado y movimiento.</a:t>
            </a:r>
          </a:p>
          <a:p>
            <a:pPr marL="285750" indent="-285750">
              <a:buFont typeface="Arial" panose="020B0604020202020204" pitchFamily="34" charset="0"/>
              <a:buChar char="•"/>
            </a:pPr>
            <a:r>
              <a:rPr lang="es-MX" b="1" dirty="0"/>
              <a:t>SimuladorTuring2D</a:t>
            </a:r>
            <a:r>
              <a:rPr lang="es-MX" dirty="0"/>
              <a:t>: Ejecuta las transiciones paso a paso.</a:t>
            </a:r>
          </a:p>
          <a:p>
            <a:pPr marL="285750" indent="-285750">
              <a:buFont typeface="Arial" panose="020B0604020202020204" pitchFamily="34" charset="0"/>
              <a:buChar char="•"/>
            </a:pPr>
            <a:r>
              <a:rPr lang="es-MX" b="1" dirty="0" err="1"/>
              <a:t>TuringController</a:t>
            </a:r>
            <a:r>
              <a:rPr lang="es-MX" dirty="0"/>
              <a:t>: Controla la interacción con la interfaz.</a:t>
            </a:r>
          </a:p>
        </p:txBody>
      </p:sp>
      <p:pic>
        <p:nvPicPr>
          <p:cNvPr id="9" name="Imagen 8">
            <a:extLst>
              <a:ext uri="{FF2B5EF4-FFF2-40B4-BE49-F238E27FC236}">
                <a16:creationId xmlns:a16="http://schemas.microsoft.com/office/drawing/2014/main" id="{A71CC859-7C2C-3210-200B-691BB1CFFB4D}"/>
              </a:ext>
            </a:extLst>
          </p:cNvPr>
          <p:cNvPicPr>
            <a:picLocks noChangeAspect="1"/>
          </p:cNvPicPr>
          <p:nvPr/>
        </p:nvPicPr>
        <p:blipFill>
          <a:blip r:embed="rId2"/>
          <a:stretch>
            <a:fillRect/>
          </a:stretch>
        </p:blipFill>
        <p:spPr>
          <a:xfrm>
            <a:off x="234752" y="3220759"/>
            <a:ext cx="2156023" cy="3459568"/>
          </a:xfrm>
          <a:prstGeom prst="rect">
            <a:avLst/>
          </a:prstGeom>
        </p:spPr>
      </p:pic>
      <p:pic>
        <p:nvPicPr>
          <p:cNvPr id="11" name="Imagen 10">
            <a:extLst>
              <a:ext uri="{FF2B5EF4-FFF2-40B4-BE49-F238E27FC236}">
                <a16:creationId xmlns:a16="http://schemas.microsoft.com/office/drawing/2014/main" id="{FADA51CA-CFC3-D92F-0A51-ED2AC13FF80A}"/>
              </a:ext>
            </a:extLst>
          </p:cNvPr>
          <p:cNvPicPr>
            <a:picLocks noChangeAspect="1"/>
          </p:cNvPicPr>
          <p:nvPr/>
        </p:nvPicPr>
        <p:blipFill>
          <a:blip r:embed="rId3"/>
          <a:stretch>
            <a:fillRect/>
          </a:stretch>
        </p:blipFill>
        <p:spPr>
          <a:xfrm>
            <a:off x="2520752" y="3220759"/>
            <a:ext cx="3115110" cy="2595925"/>
          </a:xfrm>
          <a:prstGeom prst="rect">
            <a:avLst/>
          </a:prstGeom>
        </p:spPr>
      </p:pic>
      <p:pic>
        <p:nvPicPr>
          <p:cNvPr id="13" name="Imagen 12">
            <a:extLst>
              <a:ext uri="{FF2B5EF4-FFF2-40B4-BE49-F238E27FC236}">
                <a16:creationId xmlns:a16="http://schemas.microsoft.com/office/drawing/2014/main" id="{CF6DDDE6-5B60-7AC1-1B7D-3E619ED28079}"/>
              </a:ext>
            </a:extLst>
          </p:cNvPr>
          <p:cNvPicPr>
            <a:picLocks noChangeAspect="1"/>
          </p:cNvPicPr>
          <p:nvPr/>
        </p:nvPicPr>
        <p:blipFill>
          <a:blip r:embed="rId4"/>
          <a:stretch>
            <a:fillRect/>
          </a:stretch>
        </p:blipFill>
        <p:spPr>
          <a:xfrm>
            <a:off x="5765839" y="3164707"/>
            <a:ext cx="2622947" cy="3571672"/>
          </a:xfrm>
          <a:prstGeom prst="rect">
            <a:avLst/>
          </a:prstGeom>
        </p:spPr>
      </p:pic>
      <p:pic>
        <p:nvPicPr>
          <p:cNvPr id="15" name="Imagen 14">
            <a:extLst>
              <a:ext uri="{FF2B5EF4-FFF2-40B4-BE49-F238E27FC236}">
                <a16:creationId xmlns:a16="http://schemas.microsoft.com/office/drawing/2014/main" id="{DE53FAFF-B1A6-3626-6ED7-811FC4236A13}"/>
              </a:ext>
            </a:extLst>
          </p:cNvPr>
          <p:cNvPicPr>
            <a:picLocks noChangeAspect="1"/>
          </p:cNvPicPr>
          <p:nvPr/>
        </p:nvPicPr>
        <p:blipFill>
          <a:blip r:embed="rId5"/>
          <a:stretch>
            <a:fillRect/>
          </a:stretch>
        </p:blipFill>
        <p:spPr>
          <a:xfrm>
            <a:off x="8501254" y="1152525"/>
            <a:ext cx="2728721" cy="2276475"/>
          </a:xfrm>
          <a:prstGeom prst="rect">
            <a:avLst/>
          </a:prstGeom>
        </p:spPr>
      </p:pic>
      <p:pic>
        <p:nvPicPr>
          <p:cNvPr id="17" name="Imagen 16">
            <a:extLst>
              <a:ext uri="{FF2B5EF4-FFF2-40B4-BE49-F238E27FC236}">
                <a16:creationId xmlns:a16="http://schemas.microsoft.com/office/drawing/2014/main" id="{24D4B673-7967-1EA4-343A-E5A506FA6412}"/>
              </a:ext>
            </a:extLst>
          </p:cNvPr>
          <p:cNvPicPr>
            <a:picLocks noChangeAspect="1"/>
          </p:cNvPicPr>
          <p:nvPr/>
        </p:nvPicPr>
        <p:blipFill>
          <a:blip r:embed="rId6"/>
          <a:stretch>
            <a:fillRect/>
          </a:stretch>
        </p:blipFill>
        <p:spPr>
          <a:xfrm>
            <a:off x="8518763" y="3429000"/>
            <a:ext cx="2466034" cy="2892697"/>
          </a:xfrm>
          <a:prstGeom prst="rect">
            <a:avLst/>
          </a:prstGeom>
        </p:spPr>
      </p:pic>
    </p:spTree>
    <p:extLst>
      <p:ext uri="{BB962C8B-B14F-4D97-AF65-F5344CB8AC3E}">
        <p14:creationId xmlns:p14="http://schemas.microsoft.com/office/powerpoint/2010/main" val="811176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32FA840-C433-73F2-7D23-8A024B9A29A1}"/>
              </a:ext>
            </a:extLst>
          </p:cNvPr>
          <p:cNvSpPr>
            <a:spLocks noChangeArrowheads="1"/>
          </p:cNvSpPr>
          <p:nvPr/>
        </p:nvSpPr>
        <p:spPr bwMode="auto">
          <a:xfrm>
            <a:off x="668594" y="563176"/>
            <a:ext cx="650941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La cinta fue implementada como una matriz de caracteres, donde cada celda almacena un símbolo. El cabezal se representa mediante coordenadas dentro de la matriz.</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Se implementaron botones para ejecutar la simulación paso a paso y de forma automática, permitiendo observar el comportamiento dinámico del sistema.</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p:txBody>
      </p:sp>
      <p:sp>
        <p:nvSpPr>
          <p:cNvPr id="6" name="Rectangle 3">
            <a:extLst>
              <a:ext uri="{FF2B5EF4-FFF2-40B4-BE49-F238E27FC236}">
                <a16:creationId xmlns:a16="http://schemas.microsoft.com/office/drawing/2014/main" id="{888787E6-A024-4757-DE03-D3622864F1E0}"/>
              </a:ext>
            </a:extLst>
          </p:cNvPr>
          <p:cNvSpPr>
            <a:spLocks noChangeArrowheads="1"/>
          </p:cNvSpPr>
          <p:nvPr/>
        </p:nvSpPr>
        <p:spPr bwMode="auto">
          <a:xfrm>
            <a:off x="0" y="378510"/>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s-MX" altLang="es-MX"/>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a:p>
        </p:txBody>
      </p:sp>
      <p:pic>
        <p:nvPicPr>
          <p:cNvPr id="8" name="Imagen 7">
            <a:extLst>
              <a:ext uri="{FF2B5EF4-FFF2-40B4-BE49-F238E27FC236}">
                <a16:creationId xmlns:a16="http://schemas.microsoft.com/office/drawing/2014/main" id="{CE7138F0-0DA1-DBE3-9AA2-55512973D5C5}"/>
              </a:ext>
            </a:extLst>
          </p:cNvPr>
          <p:cNvPicPr>
            <a:picLocks noChangeAspect="1"/>
          </p:cNvPicPr>
          <p:nvPr/>
        </p:nvPicPr>
        <p:blipFill>
          <a:blip r:embed="rId2"/>
          <a:stretch>
            <a:fillRect/>
          </a:stretch>
        </p:blipFill>
        <p:spPr>
          <a:xfrm>
            <a:off x="804660" y="2990806"/>
            <a:ext cx="2905530" cy="628738"/>
          </a:xfrm>
          <a:prstGeom prst="rect">
            <a:avLst/>
          </a:prstGeom>
        </p:spPr>
      </p:pic>
      <p:sp>
        <p:nvSpPr>
          <p:cNvPr id="10" name="CuadroTexto 9">
            <a:extLst>
              <a:ext uri="{FF2B5EF4-FFF2-40B4-BE49-F238E27FC236}">
                <a16:creationId xmlns:a16="http://schemas.microsoft.com/office/drawing/2014/main" id="{A8333D7E-9F5D-A349-A6AC-135C2650AD23}"/>
              </a:ext>
            </a:extLst>
          </p:cNvPr>
          <p:cNvSpPr txBox="1"/>
          <p:nvPr/>
        </p:nvSpPr>
        <p:spPr>
          <a:xfrm>
            <a:off x="804660" y="3738850"/>
            <a:ext cx="6096000" cy="2031325"/>
          </a:xfrm>
          <a:prstGeom prst="rect">
            <a:avLst/>
          </a:prstGeom>
          <a:noFill/>
        </p:spPr>
        <p:txBody>
          <a:bodyPr wrap="square">
            <a:spAutoFit/>
          </a:bodyPr>
          <a:lstStyle/>
          <a:p>
            <a:r>
              <a:rPr lang="es-MX" dirty="0"/>
              <a:t>El programa desarrollado permite visualizar la ejecución de una Máquina de Turing 2D en tiempo real. Al presionar los botones, el sistema ejecuta transiciones, modifica la cinta y mueve el cabezal en distintas direcciones.</a:t>
            </a:r>
          </a:p>
          <a:p>
            <a:r>
              <a:rPr lang="es-MX" dirty="0"/>
              <a:t>Se logró observar cómo la máquina escribe símbolos y cambia de estado, generando patrones dentro de la matriz, lo cual facilita la comprensión del modelo teórico.</a:t>
            </a:r>
          </a:p>
        </p:txBody>
      </p:sp>
      <p:pic>
        <p:nvPicPr>
          <p:cNvPr id="12" name="Imagen 11">
            <a:extLst>
              <a:ext uri="{FF2B5EF4-FFF2-40B4-BE49-F238E27FC236}">
                <a16:creationId xmlns:a16="http://schemas.microsoft.com/office/drawing/2014/main" id="{6E7DF61F-3EAC-7C14-E1A6-02218414B902}"/>
              </a:ext>
            </a:extLst>
          </p:cNvPr>
          <p:cNvPicPr>
            <a:picLocks noChangeAspect="1"/>
          </p:cNvPicPr>
          <p:nvPr/>
        </p:nvPicPr>
        <p:blipFill>
          <a:blip r:embed="rId3"/>
          <a:stretch>
            <a:fillRect/>
          </a:stretch>
        </p:blipFill>
        <p:spPr>
          <a:xfrm>
            <a:off x="7174168" y="3455386"/>
            <a:ext cx="3210418" cy="2314789"/>
          </a:xfrm>
          <a:prstGeom prst="rect">
            <a:avLst/>
          </a:prstGeom>
        </p:spPr>
      </p:pic>
    </p:spTree>
    <p:extLst>
      <p:ext uri="{BB962C8B-B14F-4D97-AF65-F5344CB8AC3E}">
        <p14:creationId xmlns:p14="http://schemas.microsoft.com/office/powerpoint/2010/main" val="465779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4947C-2AB3-9EA8-ED69-85715AD6B98D}"/>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C84A913D-9E60-D124-FD19-8BFECF0B15D8}"/>
              </a:ext>
            </a:extLst>
          </p:cNvPr>
          <p:cNvSpPr>
            <a:spLocks noGrp="1"/>
          </p:cNvSpPr>
          <p:nvPr>
            <p:ph idx="1"/>
          </p:nvPr>
        </p:nvSpPr>
        <p:spPr/>
        <p:txBody>
          <a:bodyPr>
            <a:normAutofit/>
          </a:bodyPr>
          <a:lstStyle/>
          <a:p>
            <a:pPr marL="0" indent="0" algn="just">
              <a:buNone/>
            </a:pPr>
            <a:r>
              <a:rPr lang="es-MX" sz="2000" dirty="0"/>
              <a:t>La implementación de la Máquina de Turing 2D permitió comprender de manera práctica el funcionamiento de este modelo computacional. La visualización gráfica facilitó la interpretación de los cambios de estado y el movimiento del cabezal.</a:t>
            </a:r>
          </a:p>
          <a:p>
            <a:pPr marL="0" indent="0" algn="just">
              <a:buNone/>
            </a:pPr>
            <a:r>
              <a:rPr lang="es-MX" sz="2000" dirty="0"/>
              <a:t>Además, el uso de </a:t>
            </a:r>
            <a:r>
              <a:rPr lang="es-MX" sz="2000" dirty="0" err="1"/>
              <a:t>JavaFX</a:t>
            </a:r>
            <a:r>
              <a:rPr lang="es-MX" sz="2000" dirty="0"/>
              <a:t> permitió desarrollar una interfaz interactiva que mejora la experiencia del usuario. En conclusión, esta práctica refuerza tanto los conocimientos teóricos como las habilidades de programación, demostrando la aplicabilidad de los conceptos de la teoría de la computación.</a:t>
            </a:r>
          </a:p>
          <a:p>
            <a:pPr marL="0" indent="0" algn="just">
              <a:buNone/>
            </a:pPr>
            <a:endParaRPr lang="es-MX" sz="2000" dirty="0"/>
          </a:p>
        </p:txBody>
      </p:sp>
    </p:spTree>
    <p:extLst>
      <p:ext uri="{BB962C8B-B14F-4D97-AF65-F5344CB8AC3E}">
        <p14:creationId xmlns:p14="http://schemas.microsoft.com/office/powerpoint/2010/main" val="67424256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674</Words>
  <Application>Microsoft Office PowerPoint</Application>
  <PresentationFormat>Panorámica</PresentationFormat>
  <Paragraphs>58</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Calibri</vt:lpstr>
      <vt:lpstr>Calibri Light</vt:lpstr>
      <vt:lpstr>Tema de Office</vt:lpstr>
      <vt:lpstr>Presentación de PowerPoint</vt:lpstr>
      <vt:lpstr>Introducción </vt:lpstr>
      <vt:lpstr>Justificación </vt:lpstr>
      <vt:lpstr>Objetivo </vt:lpstr>
      <vt:lpstr>Marco teórico </vt:lpstr>
      <vt:lpstr>Presentación de PowerPoint</vt:lpstr>
      <vt:lpstr>Presentación de PowerPoint</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HP 840 G5</cp:lastModifiedBy>
  <cp:revision>1</cp:revision>
  <dcterms:created xsi:type="dcterms:W3CDTF">2026-03-27T06:11:14Z</dcterms:created>
  <dcterms:modified xsi:type="dcterms:W3CDTF">2026-03-27T06:21:19Z</dcterms:modified>
</cp:coreProperties>
</file>