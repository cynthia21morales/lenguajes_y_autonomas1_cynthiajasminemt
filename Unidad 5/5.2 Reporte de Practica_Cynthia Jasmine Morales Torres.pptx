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46" y="178"/>
      </p:cViewPr>
      <p:guideLst/>
    </p:cSldViewPr>
  </p:slideViewPr>
  <p:notesTextViewPr>
    <p:cViewPr>
      <p:scale>
        <a:sx n="25" d="100"/>
        <a:sy n="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81920A-BA5F-507F-2642-3937163E2EC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75B96D75-D018-5CAC-EDF8-6C4A9096BD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0956FD19-6313-188E-4C63-0741CC79417E}"/>
              </a:ext>
            </a:extLst>
          </p:cNvPr>
          <p:cNvSpPr>
            <a:spLocks noGrp="1"/>
          </p:cNvSpPr>
          <p:nvPr>
            <p:ph type="dt" sz="half" idx="10"/>
          </p:nvPr>
        </p:nvSpPr>
        <p:spPr/>
        <p:txBody>
          <a:bodyPr/>
          <a:lstStyle/>
          <a:p>
            <a:fld id="{3F4EF922-CF72-4555-9D2C-A5D3F8B62AA5}" type="datetimeFigureOut">
              <a:rPr lang="es-MX" smtClean="0"/>
              <a:t>26/03/2026</a:t>
            </a:fld>
            <a:endParaRPr lang="es-MX"/>
          </a:p>
        </p:txBody>
      </p:sp>
      <p:sp>
        <p:nvSpPr>
          <p:cNvPr id="5" name="Marcador de pie de página 4">
            <a:extLst>
              <a:ext uri="{FF2B5EF4-FFF2-40B4-BE49-F238E27FC236}">
                <a16:creationId xmlns:a16="http://schemas.microsoft.com/office/drawing/2014/main" id="{67D10DAF-007A-9969-7090-CBB871C7D6C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E71CBDE-FE33-4060-A8B4-F032E9A4D4C2}"/>
              </a:ext>
            </a:extLst>
          </p:cNvPr>
          <p:cNvSpPr>
            <a:spLocks noGrp="1"/>
          </p:cNvSpPr>
          <p:nvPr>
            <p:ph type="sldNum" sz="quarter" idx="12"/>
          </p:nvPr>
        </p:nvSpPr>
        <p:spPr/>
        <p:txBody>
          <a:bodyPr/>
          <a:lstStyle/>
          <a:p>
            <a:fld id="{77829C18-945D-4D61-9B8F-4EDCE5B75958}" type="slidenum">
              <a:rPr lang="es-MX" smtClean="0"/>
              <a:t>‹Nº›</a:t>
            </a:fld>
            <a:endParaRPr lang="es-MX"/>
          </a:p>
        </p:txBody>
      </p:sp>
    </p:spTree>
    <p:extLst>
      <p:ext uri="{BB962C8B-B14F-4D97-AF65-F5344CB8AC3E}">
        <p14:creationId xmlns:p14="http://schemas.microsoft.com/office/powerpoint/2010/main" val="4277368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E2C3CB-7CCE-7CEF-4385-67B3BB9E7A4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F9B200F-7528-E2CB-3D44-A9ED191E355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2ABBAD7-5709-E2D4-8FBB-26738CF01573}"/>
              </a:ext>
            </a:extLst>
          </p:cNvPr>
          <p:cNvSpPr>
            <a:spLocks noGrp="1"/>
          </p:cNvSpPr>
          <p:nvPr>
            <p:ph type="dt" sz="half" idx="10"/>
          </p:nvPr>
        </p:nvSpPr>
        <p:spPr/>
        <p:txBody>
          <a:bodyPr/>
          <a:lstStyle/>
          <a:p>
            <a:fld id="{3F4EF922-CF72-4555-9D2C-A5D3F8B62AA5}" type="datetimeFigureOut">
              <a:rPr lang="es-MX" smtClean="0"/>
              <a:t>26/03/2026</a:t>
            </a:fld>
            <a:endParaRPr lang="es-MX"/>
          </a:p>
        </p:txBody>
      </p:sp>
      <p:sp>
        <p:nvSpPr>
          <p:cNvPr id="5" name="Marcador de pie de página 4">
            <a:extLst>
              <a:ext uri="{FF2B5EF4-FFF2-40B4-BE49-F238E27FC236}">
                <a16:creationId xmlns:a16="http://schemas.microsoft.com/office/drawing/2014/main" id="{8ADAAB24-6BB3-7A33-8029-D5373129269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37AF218-E8D3-80D7-073A-164ED9E53B1F}"/>
              </a:ext>
            </a:extLst>
          </p:cNvPr>
          <p:cNvSpPr>
            <a:spLocks noGrp="1"/>
          </p:cNvSpPr>
          <p:nvPr>
            <p:ph type="sldNum" sz="quarter" idx="12"/>
          </p:nvPr>
        </p:nvSpPr>
        <p:spPr/>
        <p:txBody>
          <a:bodyPr/>
          <a:lstStyle/>
          <a:p>
            <a:fld id="{77829C18-945D-4D61-9B8F-4EDCE5B75958}" type="slidenum">
              <a:rPr lang="es-MX" smtClean="0"/>
              <a:t>‹Nº›</a:t>
            </a:fld>
            <a:endParaRPr lang="es-MX"/>
          </a:p>
        </p:txBody>
      </p:sp>
    </p:spTree>
    <p:extLst>
      <p:ext uri="{BB962C8B-B14F-4D97-AF65-F5344CB8AC3E}">
        <p14:creationId xmlns:p14="http://schemas.microsoft.com/office/powerpoint/2010/main" val="3522769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50E3D2-D7BC-E89A-532F-C6EF1FD7CA5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3685AFD-9950-69B0-262F-ED17073FFD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0F6B19B-2DE8-13DA-E789-0CFFCCC31043}"/>
              </a:ext>
            </a:extLst>
          </p:cNvPr>
          <p:cNvSpPr>
            <a:spLocks noGrp="1"/>
          </p:cNvSpPr>
          <p:nvPr>
            <p:ph type="dt" sz="half" idx="10"/>
          </p:nvPr>
        </p:nvSpPr>
        <p:spPr/>
        <p:txBody>
          <a:bodyPr/>
          <a:lstStyle/>
          <a:p>
            <a:fld id="{3F4EF922-CF72-4555-9D2C-A5D3F8B62AA5}" type="datetimeFigureOut">
              <a:rPr lang="es-MX" smtClean="0"/>
              <a:t>26/03/2026</a:t>
            </a:fld>
            <a:endParaRPr lang="es-MX"/>
          </a:p>
        </p:txBody>
      </p:sp>
      <p:sp>
        <p:nvSpPr>
          <p:cNvPr id="5" name="Marcador de pie de página 4">
            <a:extLst>
              <a:ext uri="{FF2B5EF4-FFF2-40B4-BE49-F238E27FC236}">
                <a16:creationId xmlns:a16="http://schemas.microsoft.com/office/drawing/2014/main" id="{18DE7ECD-AF83-ABA9-ED7A-8A18BA7009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55DDEE4-8C91-E8C7-8FBB-2FD6487C4ADF}"/>
              </a:ext>
            </a:extLst>
          </p:cNvPr>
          <p:cNvSpPr>
            <a:spLocks noGrp="1"/>
          </p:cNvSpPr>
          <p:nvPr>
            <p:ph type="sldNum" sz="quarter" idx="12"/>
          </p:nvPr>
        </p:nvSpPr>
        <p:spPr/>
        <p:txBody>
          <a:bodyPr/>
          <a:lstStyle/>
          <a:p>
            <a:fld id="{77829C18-945D-4D61-9B8F-4EDCE5B75958}" type="slidenum">
              <a:rPr lang="es-MX" smtClean="0"/>
              <a:t>‹Nº›</a:t>
            </a:fld>
            <a:endParaRPr lang="es-MX"/>
          </a:p>
        </p:txBody>
      </p:sp>
    </p:spTree>
    <p:extLst>
      <p:ext uri="{BB962C8B-B14F-4D97-AF65-F5344CB8AC3E}">
        <p14:creationId xmlns:p14="http://schemas.microsoft.com/office/powerpoint/2010/main" val="2143636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4C8BED-5BFC-C56A-6292-81E91FE17F3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8F5BB84-153A-F18D-4352-0F09074E147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AF81F9F-5554-6D0D-86B8-F0B5A98C70A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304B0292-8F4E-AB24-83E2-8B1E2A96F66F}"/>
              </a:ext>
            </a:extLst>
          </p:cNvPr>
          <p:cNvSpPr>
            <a:spLocks noGrp="1"/>
          </p:cNvSpPr>
          <p:nvPr>
            <p:ph type="dt" sz="half" idx="10"/>
          </p:nvPr>
        </p:nvSpPr>
        <p:spPr/>
        <p:txBody>
          <a:bodyPr/>
          <a:lstStyle/>
          <a:p>
            <a:fld id="{3F4EF922-CF72-4555-9D2C-A5D3F8B62AA5}" type="datetimeFigureOut">
              <a:rPr lang="es-MX" smtClean="0"/>
              <a:t>26/03/2026</a:t>
            </a:fld>
            <a:endParaRPr lang="es-MX"/>
          </a:p>
        </p:txBody>
      </p:sp>
      <p:sp>
        <p:nvSpPr>
          <p:cNvPr id="6" name="Marcador de pie de página 5">
            <a:extLst>
              <a:ext uri="{FF2B5EF4-FFF2-40B4-BE49-F238E27FC236}">
                <a16:creationId xmlns:a16="http://schemas.microsoft.com/office/drawing/2014/main" id="{522A3377-B271-B173-FD44-CBB3B627174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792ABF9-3204-F059-66B8-09A149D7CC63}"/>
              </a:ext>
            </a:extLst>
          </p:cNvPr>
          <p:cNvSpPr>
            <a:spLocks noGrp="1"/>
          </p:cNvSpPr>
          <p:nvPr>
            <p:ph type="sldNum" sz="quarter" idx="12"/>
          </p:nvPr>
        </p:nvSpPr>
        <p:spPr/>
        <p:txBody>
          <a:bodyPr/>
          <a:lstStyle/>
          <a:p>
            <a:fld id="{77829C18-945D-4D61-9B8F-4EDCE5B75958}" type="slidenum">
              <a:rPr lang="es-MX" smtClean="0"/>
              <a:t>‹Nº›</a:t>
            </a:fld>
            <a:endParaRPr lang="es-MX"/>
          </a:p>
        </p:txBody>
      </p:sp>
    </p:spTree>
    <p:extLst>
      <p:ext uri="{BB962C8B-B14F-4D97-AF65-F5344CB8AC3E}">
        <p14:creationId xmlns:p14="http://schemas.microsoft.com/office/powerpoint/2010/main" val="3947670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F3B514-AF10-A828-D3C3-E248DED7EB5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4C8D7C9-2250-25F4-1D10-17180BC33A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CDBBA04-C31F-8D43-E9BA-7E142AF9562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75F3C8BC-0D30-3839-FA7E-11CDF811F7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C56FE9D-7B60-B488-9D7F-FDC9EBF6D6A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BA05BE2D-F9AD-D405-AAC8-65950B3394EC}"/>
              </a:ext>
            </a:extLst>
          </p:cNvPr>
          <p:cNvSpPr>
            <a:spLocks noGrp="1"/>
          </p:cNvSpPr>
          <p:nvPr>
            <p:ph type="dt" sz="half" idx="10"/>
          </p:nvPr>
        </p:nvSpPr>
        <p:spPr/>
        <p:txBody>
          <a:bodyPr/>
          <a:lstStyle/>
          <a:p>
            <a:fld id="{3F4EF922-CF72-4555-9D2C-A5D3F8B62AA5}" type="datetimeFigureOut">
              <a:rPr lang="es-MX" smtClean="0"/>
              <a:t>26/03/2026</a:t>
            </a:fld>
            <a:endParaRPr lang="es-MX"/>
          </a:p>
        </p:txBody>
      </p:sp>
      <p:sp>
        <p:nvSpPr>
          <p:cNvPr id="8" name="Marcador de pie de página 7">
            <a:extLst>
              <a:ext uri="{FF2B5EF4-FFF2-40B4-BE49-F238E27FC236}">
                <a16:creationId xmlns:a16="http://schemas.microsoft.com/office/drawing/2014/main" id="{335F4524-FC21-EDD4-62BD-7CFD97F849A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27ADC80A-33DB-DE76-1A74-561C368843B7}"/>
              </a:ext>
            </a:extLst>
          </p:cNvPr>
          <p:cNvSpPr>
            <a:spLocks noGrp="1"/>
          </p:cNvSpPr>
          <p:nvPr>
            <p:ph type="sldNum" sz="quarter" idx="12"/>
          </p:nvPr>
        </p:nvSpPr>
        <p:spPr/>
        <p:txBody>
          <a:bodyPr/>
          <a:lstStyle/>
          <a:p>
            <a:fld id="{77829C18-945D-4D61-9B8F-4EDCE5B75958}" type="slidenum">
              <a:rPr lang="es-MX" smtClean="0"/>
              <a:t>‹Nº›</a:t>
            </a:fld>
            <a:endParaRPr lang="es-MX"/>
          </a:p>
        </p:txBody>
      </p:sp>
    </p:spTree>
    <p:extLst>
      <p:ext uri="{BB962C8B-B14F-4D97-AF65-F5344CB8AC3E}">
        <p14:creationId xmlns:p14="http://schemas.microsoft.com/office/powerpoint/2010/main" val="367545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DEF123-B553-4093-DEF5-85976161C01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1136792-2AE8-B3D7-7EB3-6614A11370C6}"/>
              </a:ext>
            </a:extLst>
          </p:cNvPr>
          <p:cNvSpPr>
            <a:spLocks noGrp="1"/>
          </p:cNvSpPr>
          <p:nvPr>
            <p:ph type="dt" sz="half" idx="10"/>
          </p:nvPr>
        </p:nvSpPr>
        <p:spPr/>
        <p:txBody>
          <a:bodyPr/>
          <a:lstStyle/>
          <a:p>
            <a:fld id="{3F4EF922-CF72-4555-9D2C-A5D3F8B62AA5}" type="datetimeFigureOut">
              <a:rPr lang="es-MX" smtClean="0"/>
              <a:t>26/03/2026</a:t>
            </a:fld>
            <a:endParaRPr lang="es-MX"/>
          </a:p>
        </p:txBody>
      </p:sp>
      <p:sp>
        <p:nvSpPr>
          <p:cNvPr id="4" name="Marcador de pie de página 3">
            <a:extLst>
              <a:ext uri="{FF2B5EF4-FFF2-40B4-BE49-F238E27FC236}">
                <a16:creationId xmlns:a16="http://schemas.microsoft.com/office/drawing/2014/main" id="{6A776DFD-F5EB-8D56-4B11-2822E4221E4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08F765E5-3E3A-FE82-EE94-8B8802EC6005}"/>
              </a:ext>
            </a:extLst>
          </p:cNvPr>
          <p:cNvSpPr>
            <a:spLocks noGrp="1"/>
          </p:cNvSpPr>
          <p:nvPr>
            <p:ph type="sldNum" sz="quarter" idx="12"/>
          </p:nvPr>
        </p:nvSpPr>
        <p:spPr/>
        <p:txBody>
          <a:bodyPr/>
          <a:lstStyle/>
          <a:p>
            <a:fld id="{77829C18-945D-4D61-9B8F-4EDCE5B75958}" type="slidenum">
              <a:rPr lang="es-MX" smtClean="0"/>
              <a:t>‹Nº›</a:t>
            </a:fld>
            <a:endParaRPr lang="es-MX"/>
          </a:p>
        </p:txBody>
      </p:sp>
    </p:spTree>
    <p:extLst>
      <p:ext uri="{BB962C8B-B14F-4D97-AF65-F5344CB8AC3E}">
        <p14:creationId xmlns:p14="http://schemas.microsoft.com/office/powerpoint/2010/main" val="2028598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5CC7048-AF5C-03D9-4FE9-7C6B22534A96}"/>
              </a:ext>
            </a:extLst>
          </p:cNvPr>
          <p:cNvSpPr>
            <a:spLocks noGrp="1"/>
          </p:cNvSpPr>
          <p:nvPr>
            <p:ph type="dt" sz="half" idx="10"/>
          </p:nvPr>
        </p:nvSpPr>
        <p:spPr/>
        <p:txBody>
          <a:bodyPr/>
          <a:lstStyle/>
          <a:p>
            <a:fld id="{3F4EF922-CF72-4555-9D2C-A5D3F8B62AA5}" type="datetimeFigureOut">
              <a:rPr lang="es-MX" smtClean="0"/>
              <a:t>26/03/2026</a:t>
            </a:fld>
            <a:endParaRPr lang="es-MX"/>
          </a:p>
        </p:txBody>
      </p:sp>
      <p:sp>
        <p:nvSpPr>
          <p:cNvPr id="3" name="Marcador de pie de página 2">
            <a:extLst>
              <a:ext uri="{FF2B5EF4-FFF2-40B4-BE49-F238E27FC236}">
                <a16:creationId xmlns:a16="http://schemas.microsoft.com/office/drawing/2014/main" id="{D94259D3-D3DF-4067-2783-3CB46B2F8E96}"/>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69707B7E-7101-A742-4409-ADAEC79BD063}"/>
              </a:ext>
            </a:extLst>
          </p:cNvPr>
          <p:cNvSpPr>
            <a:spLocks noGrp="1"/>
          </p:cNvSpPr>
          <p:nvPr>
            <p:ph type="sldNum" sz="quarter" idx="12"/>
          </p:nvPr>
        </p:nvSpPr>
        <p:spPr/>
        <p:txBody>
          <a:bodyPr/>
          <a:lstStyle/>
          <a:p>
            <a:fld id="{77829C18-945D-4D61-9B8F-4EDCE5B75958}" type="slidenum">
              <a:rPr lang="es-MX" smtClean="0"/>
              <a:t>‹Nº›</a:t>
            </a:fld>
            <a:endParaRPr lang="es-MX"/>
          </a:p>
        </p:txBody>
      </p:sp>
    </p:spTree>
    <p:extLst>
      <p:ext uri="{BB962C8B-B14F-4D97-AF65-F5344CB8AC3E}">
        <p14:creationId xmlns:p14="http://schemas.microsoft.com/office/powerpoint/2010/main" val="3724914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F4A772-C510-53B9-17CC-E1D586C353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D832B4C-723E-CF6A-2539-9B9D4F6614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04FEFE2A-6672-ECCA-E137-74506E21EF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A9C7A05-991F-0817-A867-ACE8FEA0C055}"/>
              </a:ext>
            </a:extLst>
          </p:cNvPr>
          <p:cNvSpPr>
            <a:spLocks noGrp="1"/>
          </p:cNvSpPr>
          <p:nvPr>
            <p:ph type="dt" sz="half" idx="10"/>
          </p:nvPr>
        </p:nvSpPr>
        <p:spPr/>
        <p:txBody>
          <a:bodyPr/>
          <a:lstStyle/>
          <a:p>
            <a:fld id="{3F4EF922-CF72-4555-9D2C-A5D3F8B62AA5}" type="datetimeFigureOut">
              <a:rPr lang="es-MX" smtClean="0"/>
              <a:t>26/03/2026</a:t>
            </a:fld>
            <a:endParaRPr lang="es-MX"/>
          </a:p>
        </p:txBody>
      </p:sp>
      <p:sp>
        <p:nvSpPr>
          <p:cNvPr id="6" name="Marcador de pie de página 5">
            <a:extLst>
              <a:ext uri="{FF2B5EF4-FFF2-40B4-BE49-F238E27FC236}">
                <a16:creationId xmlns:a16="http://schemas.microsoft.com/office/drawing/2014/main" id="{ADE02E57-0606-1DEB-7AD4-D8E26CFCDEC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2B87311-EA44-EB67-0C1F-3B57E915962A}"/>
              </a:ext>
            </a:extLst>
          </p:cNvPr>
          <p:cNvSpPr>
            <a:spLocks noGrp="1"/>
          </p:cNvSpPr>
          <p:nvPr>
            <p:ph type="sldNum" sz="quarter" idx="12"/>
          </p:nvPr>
        </p:nvSpPr>
        <p:spPr/>
        <p:txBody>
          <a:bodyPr/>
          <a:lstStyle/>
          <a:p>
            <a:fld id="{77829C18-945D-4D61-9B8F-4EDCE5B75958}" type="slidenum">
              <a:rPr lang="es-MX" smtClean="0"/>
              <a:t>‹Nº›</a:t>
            </a:fld>
            <a:endParaRPr lang="es-MX"/>
          </a:p>
        </p:txBody>
      </p:sp>
    </p:spTree>
    <p:extLst>
      <p:ext uri="{BB962C8B-B14F-4D97-AF65-F5344CB8AC3E}">
        <p14:creationId xmlns:p14="http://schemas.microsoft.com/office/powerpoint/2010/main" val="2263078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93B9C4-AE01-BEDF-C21B-D9D684DAC26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C1F05C65-D551-3549-52CA-E8D4F94D1E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7E529D87-1E9F-A68B-6285-35F7E6F50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92F10E-1168-0493-C885-399F9121D211}"/>
              </a:ext>
            </a:extLst>
          </p:cNvPr>
          <p:cNvSpPr>
            <a:spLocks noGrp="1"/>
          </p:cNvSpPr>
          <p:nvPr>
            <p:ph type="dt" sz="half" idx="10"/>
          </p:nvPr>
        </p:nvSpPr>
        <p:spPr/>
        <p:txBody>
          <a:bodyPr/>
          <a:lstStyle/>
          <a:p>
            <a:fld id="{3F4EF922-CF72-4555-9D2C-A5D3F8B62AA5}" type="datetimeFigureOut">
              <a:rPr lang="es-MX" smtClean="0"/>
              <a:t>26/03/2026</a:t>
            </a:fld>
            <a:endParaRPr lang="es-MX"/>
          </a:p>
        </p:txBody>
      </p:sp>
      <p:sp>
        <p:nvSpPr>
          <p:cNvPr id="6" name="Marcador de pie de página 5">
            <a:extLst>
              <a:ext uri="{FF2B5EF4-FFF2-40B4-BE49-F238E27FC236}">
                <a16:creationId xmlns:a16="http://schemas.microsoft.com/office/drawing/2014/main" id="{16DDFC33-8510-3066-411D-34F04171140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B939105-0E2D-66A4-0404-997A540036B0}"/>
              </a:ext>
            </a:extLst>
          </p:cNvPr>
          <p:cNvSpPr>
            <a:spLocks noGrp="1"/>
          </p:cNvSpPr>
          <p:nvPr>
            <p:ph type="sldNum" sz="quarter" idx="12"/>
          </p:nvPr>
        </p:nvSpPr>
        <p:spPr/>
        <p:txBody>
          <a:bodyPr/>
          <a:lstStyle/>
          <a:p>
            <a:fld id="{77829C18-945D-4D61-9B8F-4EDCE5B75958}" type="slidenum">
              <a:rPr lang="es-MX" smtClean="0"/>
              <a:t>‹Nº›</a:t>
            </a:fld>
            <a:endParaRPr lang="es-MX"/>
          </a:p>
        </p:txBody>
      </p:sp>
    </p:spTree>
    <p:extLst>
      <p:ext uri="{BB962C8B-B14F-4D97-AF65-F5344CB8AC3E}">
        <p14:creationId xmlns:p14="http://schemas.microsoft.com/office/powerpoint/2010/main" val="2492165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D168C5-E8AC-78A1-4DBE-0FCC987765F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D2DB394-CC09-40D7-8631-3E04C2D39E1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D6E71FE-BC8E-9251-6830-AD6EF65256E9}"/>
              </a:ext>
            </a:extLst>
          </p:cNvPr>
          <p:cNvSpPr>
            <a:spLocks noGrp="1"/>
          </p:cNvSpPr>
          <p:nvPr>
            <p:ph type="dt" sz="half" idx="10"/>
          </p:nvPr>
        </p:nvSpPr>
        <p:spPr/>
        <p:txBody>
          <a:bodyPr/>
          <a:lstStyle/>
          <a:p>
            <a:fld id="{3F4EF922-CF72-4555-9D2C-A5D3F8B62AA5}" type="datetimeFigureOut">
              <a:rPr lang="es-MX" smtClean="0"/>
              <a:t>26/03/2026</a:t>
            </a:fld>
            <a:endParaRPr lang="es-MX"/>
          </a:p>
        </p:txBody>
      </p:sp>
      <p:sp>
        <p:nvSpPr>
          <p:cNvPr id="5" name="Marcador de pie de página 4">
            <a:extLst>
              <a:ext uri="{FF2B5EF4-FFF2-40B4-BE49-F238E27FC236}">
                <a16:creationId xmlns:a16="http://schemas.microsoft.com/office/drawing/2014/main" id="{3605D98E-16A6-3394-1F3A-D428F1D23F8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0625D30-6AEE-B267-F7D7-2EB5AD2C1899}"/>
              </a:ext>
            </a:extLst>
          </p:cNvPr>
          <p:cNvSpPr>
            <a:spLocks noGrp="1"/>
          </p:cNvSpPr>
          <p:nvPr>
            <p:ph type="sldNum" sz="quarter" idx="12"/>
          </p:nvPr>
        </p:nvSpPr>
        <p:spPr/>
        <p:txBody>
          <a:bodyPr/>
          <a:lstStyle/>
          <a:p>
            <a:fld id="{77829C18-945D-4D61-9B8F-4EDCE5B75958}" type="slidenum">
              <a:rPr lang="es-MX" smtClean="0"/>
              <a:t>‹Nº›</a:t>
            </a:fld>
            <a:endParaRPr lang="es-MX"/>
          </a:p>
        </p:txBody>
      </p:sp>
    </p:spTree>
    <p:extLst>
      <p:ext uri="{BB962C8B-B14F-4D97-AF65-F5344CB8AC3E}">
        <p14:creationId xmlns:p14="http://schemas.microsoft.com/office/powerpoint/2010/main" val="3376435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7A8C921-9C4F-090F-F012-527838D3DD9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E00F58B-4A07-7CCD-6506-775B9F50058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A6AADA7-073E-CBA2-3B67-FD0D39327D42}"/>
              </a:ext>
            </a:extLst>
          </p:cNvPr>
          <p:cNvSpPr>
            <a:spLocks noGrp="1"/>
          </p:cNvSpPr>
          <p:nvPr>
            <p:ph type="dt" sz="half" idx="10"/>
          </p:nvPr>
        </p:nvSpPr>
        <p:spPr/>
        <p:txBody>
          <a:bodyPr/>
          <a:lstStyle/>
          <a:p>
            <a:fld id="{3F4EF922-CF72-4555-9D2C-A5D3F8B62AA5}" type="datetimeFigureOut">
              <a:rPr lang="es-MX" smtClean="0"/>
              <a:t>26/03/2026</a:t>
            </a:fld>
            <a:endParaRPr lang="es-MX"/>
          </a:p>
        </p:txBody>
      </p:sp>
      <p:sp>
        <p:nvSpPr>
          <p:cNvPr id="5" name="Marcador de pie de página 4">
            <a:extLst>
              <a:ext uri="{FF2B5EF4-FFF2-40B4-BE49-F238E27FC236}">
                <a16:creationId xmlns:a16="http://schemas.microsoft.com/office/drawing/2014/main" id="{B8310D0E-6E5B-1950-E314-D75958077C3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AAEC445-A264-536E-E3B4-9EF46EB6B2A9}"/>
              </a:ext>
            </a:extLst>
          </p:cNvPr>
          <p:cNvSpPr>
            <a:spLocks noGrp="1"/>
          </p:cNvSpPr>
          <p:nvPr>
            <p:ph type="sldNum" sz="quarter" idx="12"/>
          </p:nvPr>
        </p:nvSpPr>
        <p:spPr/>
        <p:txBody>
          <a:bodyPr/>
          <a:lstStyle/>
          <a:p>
            <a:fld id="{77829C18-945D-4D61-9B8F-4EDCE5B75958}" type="slidenum">
              <a:rPr lang="es-MX" smtClean="0"/>
              <a:t>‹Nº›</a:t>
            </a:fld>
            <a:endParaRPr lang="es-MX"/>
          </a:p>
        </p:txBody>
      </p:sp>
    </p:spTree>
    <p:extLst>
      <p:ext uri="{BB962C8B-B14F-4D97-AF65-F5344CB8AC3E}">
        <p14:creationId xmlns:p14="http://schemas.microsoft.com/office/powerpoint/2010/main" val="980593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A030A4E-E2D0-F6B8-6A49-01349B9285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21079F6-BE25-27FD-166B-6F567822C7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75F3724-175D-EEA0-EE7B-9A32B9D27A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4EF922-CF72-4555-9D2C-A5D3F8B62AA5}" type="datetimeFigureOut">
              <a:rPr lang="es-MX" smtClean="0"/>
              <a:t>26/03/2026</a:t>
            </a:fld>
            <a:endParaRPr lang="es-MX"/>
          </a:p>
        </p:txBody>
      </p:sp>
      <p:sp>
        <p:nvSpPr>
          <p:cNvPr id="5" name="Marcador de pie de página 4">
            <a:extLst>
              <a:ext uri="{FF2B5EF4-FFF2-40B4-BE49-F238E27FC236}">
                <a16:creationId xmlns:a16="http://schemas.microsoft.com/office/drawing/2014/main" id="{830AC97B-D4B2-5079-BFFC-6FBA55AFBE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47F8622D-E7BA-E55D-35B6-78530CD32E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829C18-945D-4D61-9B8F-4EDCE5B75958}" type="slidenum">
              <a:rPr lang="es-MX" smtClean="0"/>
              <a:t>‹Nº›</a:t>
            </a:fld>
            <a:endParaRPr lang="es-MX"/>
          </a:p>
        </p:txBody>
      </p:sp>
    </p:spTree>
    <p:extLst>
      <p:ext uri="{BB962C8B-B14F-4D97-AF65-F5344CB8AC3E}">
        <p14:creationId xmlns:p14="http://schemas.microsoft.com/office/powerpoint/2010/main" val="3705945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2AF050C-7B71-F5B0-6CED-C5C553E26BA0}"/>
              </a:ext>
            </a:extLst>
          </p:cNvPr>
          <p:cNvSpPr txBox="1"/>
          <p:nvPr/>
        </p:nvSpPr>
        <p:spPr>
          <a:xfrm>
            <a:off x="1116594" y="1929167"/>
            <a:ext cx="4622292" cy="3159904"/>
          </a:xfrm>
          <a:prstGeom prst="rect">
            <a:avLst/>
          </a:prstGeom>
          <a:noFill/>
        </p:spPr>
        <p:txBody>
          <a:bodyPr wrap="square">
            <a:spAutoFit/>
          </a:bodyPr>
          <a:lstStyle/>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Nombre del alumno: </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Cynthia Jasmine Morales Torres</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Numero de control</a:t>
            </a:r>
            <a:r>
              <a:rPr lang="es-MX" dirty="0">
                <a:latin typeface="Arial" panose="020B0604020202020204" pitchFamily="34" charset="0"/>
                <a:ea typeface="Calibri" panose="020F0502020204030204" pitchFamily="34" charset="0"/>
                <a:cs typeface="Arial" panose="020B0604020202020204" pitchFamily="34" charset="0"/>
              </a:rPr>
              <a:t>:</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231260014</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Sexto 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Especialidad:</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Ingeniería en Sistemas Computacionales.</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C18FA895-1736-E975-EBF9-5C03DD678299}"/>
              </a:ext>
            </a:extLst>
          </p:cNvPr>
          <p:cNvSpPr txBox="1"/>
          <p:nvPr/>
        </p:nvSpPr>
        <p:spPr>
          <a:xfrm>
            <a:off x="5738886" y="1929167"/>
            <a:ext cx="6099048" cy="3159904"/>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docente: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 Francisco Javier Mingo Velázquez</a:t>
            </a:r>
          </a:p>
          <a:p>
            <a:pPr algn="ctr">
              <a:lnSpc>
                <a:spcPct val="107000"/>
              </a:lnSpc>
              <a:spcAft>
                <a:spcPts val="800"/>
              </a:spcAft>
            </a:pPr>
            <a:r>
              <a:rPr lang="es-MX" b="1" dirty="0">
                <a:effectLst/>
                <a:latin typeface="Arial" panose="020B0604020202020204" pitchFamily="34" charset="0"/>
                <a:ea typeface="Calibri" panose="020F0502020204030204" pitchFamily="34" charset="0"/>
                <a:cs typeface="Arial" panose="020B0604020202020204" pitchFamily="34" charset="0"/>
              </a:rPr>
              <a:t>Materia: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effectLst/>
                <a:latin typeface="Arial" panose="020B0604020202020204" pitchFamily="34" charset="0"/>
                <a:ea typeface="Calibri" panose="020F0502020204030204" pitchFamily="34" charset="0"/>
                <a:cs typeface="Arial" panose="020B0604020202020204" pitchFamily="34" charset="0"/>
              </a:rPr>
              <a:t>Lenguajes y Autómatas 1</a:t>
            </a:r>
            <a:endParaRPr lang="es-MX"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trabajo:</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5</a:t>
            </a:r>
            <a:r>
              <a:rPr lang="es-MX" sz="1800" dirty="0">
                <a:effectLst/>
                <a:latin typeface="Arial" panose="020B0604020202020204" pitchFamily="34" charset="0"/>
                <a:ea typeface="Calibri" panose="020F0502020204030204" pitchFamily="34" charset="0"/>
                <a:cs typeface="Arial" panose="020B0604020202020204" pitchFamily="34" charset="0"/>
              </a:rPr>
              <a:t>.2 Reporte de Practica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Fecha de entrega:</a:t>
            </a: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19/03/2026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6" name="CuadroTexto 5">
            <a:extLst>
              <a:ext uri="{FF2B5EF4-FFF2-40B4-BE49-F238E27FC236}">
                <a16:creationId xmlns:a16="http://schemas.microsoft.com/office/drawing/2014/main" id="{1B214397-599E-1635-B44A-F6F8D22A4E24}"/>
              </a:ext>
            </a:extLst>
          </p:cNvPr>
          <p:cNvSpPr txBox="1"/>
          <p:nvPr/>
        </p:nvSpPr>
        <p:spPr>
          <a:xfrm>
            <a:off x="2875026" y="5442826"/>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Frontera Comalapa, Chiapas. A 19 de Marzo del 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DE0026EB-5771-6939-D837-ACC4FDB202A2}"/>
              </a:ext>
            </a:extLst>
          </p:cNvPr>
          <p:cNvSpPr txBox="1"/>
          <p:nvPr/>
        </p:nvSpPr>
        <p:spPr>
          <a:xfrm>
            <a:off x="2805831" y="923112"/>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Instituto Tecnológico de Frontera Comalapa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Modalidad Mixta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8" name="Grupo 7">
            <a:extLst>
              <a:ext uri="{FF2B5EF4-FFF2-40B4-BE49-F238E27FC236}">
                <a16:creationId xmlns:a16="http://schemas.microsoft.com/office/drawing/2014/main" id="{308AB302-0CA0-D4CF-DFD6-3D110600450A}"/>
              </a:ext>
            </a:extLst>
          </p:cNvPr>
          <p:cNvGrpSpPr/>
          <p:nvPr/>
        </p:nvGrpSpPr>
        <p:grpSpPr>
          <a:xfrm>
            <a:off x="2805831" y="285793"/>
            <a:ext cx="6357600" cy="637319"/>
            <a:chOff x="0" y="0"/>
            <a:chExt cx="5454045" cy="554990"/>
          </a:xfrm>
        </p:grpSpPr>
        <p:pic>
          <p:nvPicPr>
            <p:cNvPr id="9" name="Imagen 8">
              <a:extLst>
                <a:ext uri="{FF2B5EF4-FFF2-40B4-BE49-F238E27FC236}">
                  <a16:creationId xmlns:a16="http://schemas.microsoft.com/office/drawing/2014/main" id="{73447FDB-C0BF-F857-AF84-B7F799F467A4}"/>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0" b="100000" l="0" r="98790">
                          <a14:foregroundMark x1="69758" y1="22660" x2="69758" y2="22660"/>
                          <a14:foregroundMark x1="74194" y1="18227" x2="74194" y2="18227"/>
                          <a14:foregroundMark x1="84274" y1="16256" x2="84274" y2="16256"/>
                          <a14:foregroundMark x1="92339" y1="19704" x2="92339" y2="19704"/>
                          <a14:foregroundMark x1="95968" y1="25123" x2="95968" y2="25123"/>
                          <a14:foregroundMark x1="90323" y1="27094" x2="90323" y2="27094"/>
                          <a14:foregroundMark x1="80645" y1="21182" x2="80645" y2="21182"/>
                          <a14:foregroundMark x1="75806" y1="30542" x2="75806" y2="30542"/>
                          <a14:foregroundMark x1="75806" y1="36946" x2="75806" y2="36946"/>
                          <a14:foregroundMark x1="80242" y1="36453" x2="80242" y2="36453"/>
                          <a14:foregroundMark x1="80645" y1="30542" x2="80645" y2="30542"/>
                          <a14:foregroundMark x1="84677" y1="30049" x2="84677" y2="30049"/>
                          <a14:foregroundMark x1="84677" y1="36946" x2="84677" y2="36946"/>
                          <a14:foregroundMark x1="75403" y1="42857" x2="75403" y2="42857"/>
                          <a14:foregroundMark x1="81048" y1="46305" x2="81048" y2="46305"/>
                          <a14:foregroundMark x1="70161" y1="52217" x2="70161" y2="52217"/>
                          <a14:foregroundMark x1="77419" y1="51724" x2="77419" y2="51724"/>
                          <a14:foregroundMark x1="81452" y1="52217" x2="81452" y2="52217"/>
                          <a14:foregroundMark x1="85484" y1="51232" x2="85484" y2="51232"/>
                          <a14:foregroundMark x1="90323" y1="42365" x2="90323" y2="42365"/>
                        </a14:backgroundRemoval>
                      </a14:imgEffect>
                    </a14:imgLayer>
                  </a14:imgProps>
                </a:ext>
                <a:ext uri="{28A0092B-C50C-407E-A947-70E740481C1C}">
                  <a14:useLocalDpi xmlns:a14="http://schemas.microsoft.com/office/drawing/2010/main" val="0"/>
                </a:ext>
              </a:extLst>
            </a:blip>
            <a:srcRect b="29873"/>
            <a:stretch/>
          </p:blipFill>
          <p:spPr bwMode="auto">
            <a:xfrm>
              <a:off x="4486940" y="0"/>
              <a:ext cx="967105" cy="554990"/>
            </a:xfrm>
            <a:prstGeom prst="rect">
              <a:avLst/>
            </a:prstGeom>
            <a:ln>
              <a:noFill/>
            </a:ln>
            <a:extLst>
              <a:ext uri="{53640926-AAD7-44D8-BBD7-CCE9431645EC}">
                <a14:shadowObscured xmlns:a14="http://schemas.microsoft.com/office/drawing/2010/main"/>
              </a:ext>
            </a:extLst>
          </p:spPr>
        </p:pic>
        <p:pic>
          <p:nvPicPr>
            <p:cNvPr id="10" name="Imagen 9">
              <a:extLst>
                <a:ext uri="{FF2B5EF4-FFF2-40B4-BE49-F238E27FC236}">
                  <a16:creationId xmlns:a16="http://schemas.microsoft.com/office/drawing/2014/main" id="{7AEB4438-CB48-A4A9-B7FB-DBB241A480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3442" y="0"/>
              <a:ext cx="1221740" cy="539115"/>
            </a:xfrm>
            <a:prstGeom prst="rect">
              <a:avLst/>
            </a:prstGeom>
          </p:spPr>
        </p:pic>
        <p:pic>
          <p:nvPicPr>
            <p:cNvPr id="11" name="Imagen 10">
              <a:extLst>
                <a:ext uri="{FF2B5EF4-FFF2-40B4-BE49-F238E27FC236}">
                  <a16:creationId xmlns:a16="http://schemas.microsoft.com/office/drawing/2014/main" id="{88E7E177-CC64-487F-8F4C-04C097BD9B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615565" cy="541655"/>
            </a:xfrm>
            <a:prstGeom prst="rect">
              <a:avLst/>
            </a:prstGeom>
          </p:spPr>
        </p:pic>
        <p:cxnSp>
          <p:nvCxnSpPr>
            <p:cNvPr id="12" name="Conector recto 11">
              <a:extLst>
                <a:ext uri="{FF2B5EF4-FFF2-40B4-BE49-F238E27FC236}">
                  <a16:creationId xmlns:a16="http://schemas.microsoft.com/office/drawing/2014/main" id="{12811577-D60F-4EF6-2A90-42B0FD21F197}"/>
                </a:ext>
              </a:extLst>
            </p:cNvPr>
            <p:cNvCxnSpPr/>
            <p:nvPr/>
          </p:nvCxnSpPr>
          <p:spPr>
            <a:xfrm>
              <a:off x="2849526" y="53163"/>
              <a:ext cx="0" cy="435935"/>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88342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6DDC14-E4A3-3F05-1107-6854C9A8F165}"/>
              </a:ext>
            </a:extLst>
          </p:cNvPr>
          <p:cNvSpPr>
            <a:spLocks noGrp="1"/>
          </p:cNvSpPr>
          <p:nvPr>
            <p:ph type="title"/>
          </p:nvPr>
        </p:nvSpPr>
        <p:spPr/>
        <p:txBody>
          <a:bodyPr/>
          <a:lstStyle/>
          <a:p>
            <a:r>
              <a:rPr lang="es-MX" dirty="0"/>
              <a:t>INTRODUCCION </a:t>
            </a:r>
          </a:p>
        </p:txBody>
      </p:sp>
      <p:sp>
        <p:nvSpPr>
          <p:cNvPr id="3" name="Marcador de contenido 2">
            <a:extLst>
              <a:ext uri="{FF2B5EF4-FFF2-40B4-BE49-F238E27FC236}">
                <a16:creationId xmlns:a16="http://schemas.microsoft.com/office/drawing/2014/main" id="{DB0B9604-B2D0-6EFE-3509-56015DC0346B}"/>
              </a:ext>
            </a:extLst>
          </p:cNvPr>
          <p:cNvSpPr>
            <a:spLocks noGrp="1"/>
          </p:cNvSpPr>
          <p:nvPr>
            <p:ph idx="1"/>
          </p:nvPr>
        </p:nvSpPr>
        <p:spPr/>
        <p:txBody>
          <a:bodyPr/>
          <a:lstStyle/>
          <a:p>
            <a:pPr marL="0" indent="0" algn="just">
              <a:buNone/>
            </a:pPr>
            <a:r>
              <a:rPr lang="es-MX" dirty="0"/>
              <a:t>Este reporte presenta el desarrollo de una práctica enfocada en la construcción de un analizador léxico y sintáctico, utilizando el lenguaje de programación Java y herramientas como </a:t>
            </a:r>
            <a:r>
              <a:rPr lang="es-MX" dirty="0" err="1"/>
              <a:t>JavaFX</a:t>
            </a:r>
            <a:r>
              <a:rPr lang="es-MX" dirty="0"/>
              <a:t> para la interfaz gráfica. A lo largo del proyecto se implementaron diferentes clases que permiten leer, interpretar y validar fragmentos de código, simulando el funcionamiento básico de un compilador. El objetivo principal es comprender cómo un sistema puede analizar instrucciones escritas y verificar si cumplen con las reglas de un lenguaje definido.</a:t>
            </a:r>
          </a:p>
        </p:txBody>
      </p:sp>
    </p:spTree>
    <p:extLst>
      <p:ext uri="{BB962C8B-B14F-4D97-AF65-F5344CB8AC3E}">
        <p14:creationId xmlns:p14="http://schemas.microsoft.com/office/powerpoint/2010/main" val="2765914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1CE3CF-A355-366B-B138-8B96DFDD3216}"/>
              </a:ext>
            </a:extLst>
          </p:cNvPr>
          <p:cNvSpPr>
            <a:spLocks noGrp="1"/>
          </p:cNvSpPr>
          <p:nvPr>
            <p:ph type="title"/>
          </p:nvPr>
        </p:nvSpPr>
        <p:spPr/>
        <p:txBody>
          <a:bodyPr/>
          <a:lstStyle/>
          <a:p>
            <a:r>
              <a:rPr lang="es-MX" dirty="0"/>
              <a:t>JUSTIFICACION</a:t>
            </a:r>
          </a:p>
        </p:txBody>
      </p:sp>
      <p:sp>
        <p:nvSpPr>
          <p:cNvPr id="3" name="Marcador de contenido 2">
            <a:extLst>
              <a:ext uri="{FF2B5EF4-FFF2-40B4-BE49-F238E27FC236}">
                <a16:creationId xmlns:a16="http://schemas.microsoft.com/office/drawing/2014/main" id="{257E579E-BE34-4C15-BB08-0D0B421148C5}"/>
              </a:ext>
            </a:extLst>
          </p:cNvPr>
          <p:cNvSpPr>
            <a:spLocks noGrp="1"/>
          </p:cNvSpPr>
          <p:nvPr>
            <p:ph idx="1"/>
          </p:nvPr>
        </p:nvSpPr>
        <p:spPr/>
        <p:txBody>
          <a:bodyPr/>
          <a:lstStyle/>
          <a:p>
            <a:pPr marL="0" indent="0" algn="just">
              <a:buNone/>
            </a:pPr>
            <a:r>
              <a:rPr lang="es-MX" dirty="0"/>
              <a:t>La realización de esta práctica es importante porque permite aplicar los conocimientos teóricos de la materia de Lenguajes y Autómatas, llevándolos a un entorno práctico. El desarrollo de un analizador léxico y sintáctico ayuda a entender cómo funcionan los compiladores e intérpretes, herramientas fundamentales en el área de la programación. Además, el uso de Java y </a:t>
            </a:r>
            <a:r>
              <a:rPr lang="es-MX" dirty="0" err="1"/>
              <a:t>JavaFX</a:t>
            </a:r>
            <a:r>
              <a:rPr lang="es-MX" dirty="0"/>
              <a:t> fortalece habilidades en el desarrollo de software, estructuración de código y diseño de interfaces, lo cual es esencial para la formación profesional en Ingeniería en Sistemas Computacionales.</a:t>
            </a:r>
          </a:p>
        </p:txBody>
      </p:sp>
    </p:spTree>
    <p:extLst>
      <p:ext uri="{BB962C8B-B14F-4D97-AF65-F5344CB8AC3E}">
        <p14:creationId xmlns:p14="http://schemas.microsoft.com/office/powerpoint/2010/main" val="3979270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E40ECB-C9AE-040B-1FCB-AD4332AE489A}"/>
              </a:ext>
            </a:extLst>
          </p:cNvPr>
          <p:cNvSpPr>
            <a:spLocks noGrp="1"/>
          </p:cNvSpPr>
          <p:nvPr>
            <p:ph type="title"/>
          </p:nvPr>
        </p:nvSpPr>
        <p:spPr/>
        <p:txBody>
          <a:bodyPr/>
          <a:lstStyle/>
          <a:p>
            <a:r>
              <a:rPr lang="es-MX" dirty="0"/>
              <a:t>1.Comenzamos con la creación de nuestro proyecto :</a:t>
            </a:r>
          </a:p>
        </p:txBody>
      </p:sp>
      <p:pic>
        <p:nvPicPr>
          <p:cNvPr id="13" name="Marcador de contenido 4">
            <a:extLst>
              <a:ext uri="{FF2B5EF4-FFF2-40B4-BE49-F238E27FC236}">
                <a16:creationId xmlns:a16="http://schemas.microsoft.com/office/drawing/2014/main" id="{17631DF0-2902-31EC-BE03-840A42994F12}"/>
              </a:ext>
            </a:extLst>
          </p:cNvPr>
          <p:cNvPicPr>
            <a:picLocks noGrp="1" noChangeAspect="1"/>
          </p:cNvPicPr>
          <p:nvPr>
            <p:ph idx="1"/>
          </p:nvPr>
        </p:nvPicPr>
        <p:blipFill>
          <a:blip r:embed="rId2"/>
          <a:stretch>
            <a:fillRect/>
          </a:stretch>
        </p:blipFill>
        <p:spPr>
          <a:xfrm>
            <a:off x="4528778" y="1736961"/>
            <a:ext cx="3938944" cy="982902"/>
          </a:xfrm>
        </p:spPr>
      </p:pic>
      <p:sp>
        <p:nvSpPr>
          <p:cNvPr id="14" name="CuadroTexto 13">
            <a:extLst>
              <a:ext uri="{FF2B5EF4-FFF2-40B4-BE49-F238E27FC236}">
                <a16:creationId xmlns:a16="http://schemas.microsoft.com/office/drawing/2014/main" id="{4291C62F-0EA4-8DC2-E55D-373D188973CA}"/>
              </a:ext>
            </a:extLst>
          </p:cNvPr>
          <p:cNvSpPr txBox="1"/>
          <p:nvPr/>
        </p:nvSpPr>
        <p:spPr>
          <a:xfrm>
            <a:off x="933450" y="1866900"/>
            <a:ext cx="3067050" cy="646331"/>
          </a:xfrm>
          <a:prstGeom prst="rect">
            <a:avLst/>
          </a:prstGeom>
          <a:noFill/>
        </p:spPr>
        <p:txBody>
          <a:bodyPr wrap="square" rtlCol="0">
            <a:spAutoFit/>
          </a:bodyPr>
          <a:lstStyle/>
          <a:p>
            <a:r>
              <a:rPr lang="es-MX" dirty="0"/>
              <a:t>Crearemos nuestro proyecto en la parte superior derecha:</a:t>
            </a:r>
          </a:p>
        </p:txBody>
      </p:sp>
      <p:sp>
        <p:nvSpPr>
          <p:cNvPr id="15" name="CuadroTexto 14">
            <a:extLst>
              <a:ext uri="{FF2B5EF4-FFF2-40B4-BE49-F238E27FC236}">
                <a16:creationId xmlns:a16="http://schemas.microsoft.com/office/drawing/2014/main" id="{36F5A2DA-208D-CE4F-0AD7-5F6AF09C835B}"/>
              </a:ext>
            </a:extLst>
          </p:cNvPr>
          <p:cNvSpPr txBox="1"/>
          <p:nvPr/>
        </p:nvSpPr>
        <p:spPr>
          <a:xfrm>
            <a:off x="652856" y="2985442"/>
            <a:ext cx="3314700" cy="923330"/>
          </a:xfrm>
          <a:prstGeom prst="rect">
            <a:avLst/>
          </a:prstGeom>
          <a:noFill/>
        </p:spPr>
        <p:txBody>
          <a:bodyPr wrap="square" rtlCol="0">
            <a:spAutoFit/>
          </a:bodyPr>
          <a:lstStyle/>
          <a:p>
            <a:pPr algn="just"/>
            <a:r>
              <a:rPr lang="es-MX" dirty="0"/>
              <a:t>En seguida nos saldrán una pantalla en la cual utilizaremos </a:t>
            </a:r>
            <a:r>
              <a:rPr lang="es-MX" dirty="0" err="1"/>
              <a:t>javaFx</a:t>
            </a:r>
            <a:endParaRPr lang="es-MX" dirty="0"/>
          </a:p>
        </p:txBody>
      </p:sp>
      <p:pic>
        <p:nvPicPr>
          <p:cNvPr id="16" name="Imagen 15">
            <a:extLst>
              <a:ext uri="{FF2B5EF4-FFF2-40B4-BE49-F238E27FC236}">
                <a16:creationId xmlns:a16="http://schemas.microsoft.com/office/drawing/2014/main" id="{0CF1094C-AEB9-F7A2-11F9-A371392EAC81}"/>
              </a:ext>
            </a:extLst>
          </p:cNvPr>
          <p:cNvPicPr>
            <a:picLocks noChangeAspect="1"/>
          </p:cNvPicPr>
          <p:nvPr/>
        </p:nvPicPr>
        <p:blipFill>
          <a:blip r:embed="rId3"/>
          <a:stretch>
            <a:fillRect/>
          </a:stretch>
        </p:blipFill>
        <p:spPr>
          <a:xfrm>
            <a:off x="4599787" y="3429000"/>
            <a:ext cx="3894381" cy="1924049"/>
          </a:xfrm>
          <a:prstGeom prst="rect">
            <a:avLst/>
          </a:prstGeom>
        </p:spPr>
      </p:pic>
      <p:sp>
        <p:nvSpPr>
          <p:cNvPr id="17" name="CuadroTexto 16">
            <a:extLst>
              <a:ext uri="{FF2B5EF4-FFF2-40B4-BE49-F238E27FC236}">
                <a16:creationId xmlns:a16="http://schemas.microsoft.com/office/drawing/2014/main" id="{61091F80-C19E-0FFC-4E11-58840CC57CC8}"/>
              </a:ext>
            </a:extLst>
          </p:cNvPr>
          <p:cNvSpPr txBox="1"/>
          <p:nvPr/>
        </p:nvSpPr>
        <p:spPr>
          <a:xfrm>
            <a:off x="596955" y="4252138"/>
            <a:ext cx="3362325" cy="1477328"/>
          </a:xfrm>
          <a:prstGeom prst="rect">
            <a:avLst/>
          </a:prstGeom>
          <a:noFill/>
        </p:spPr>
        <p:txBody>
          <a:bodyPr wrap="square" rtlCol="0">
            <a:spAutoFit/>
          </a:bodyPr>
          <a:lstStyle/>
          <a:p>
            <a:pPr algn="just"/>
            <a:r>
              <a:rPr lang="es-MX" dirty="0"/>
              <a:t>En </a:t>
            </a:r>
            <a:r>
              <a:rPr lang="es-MX" dirty="0" err="1"/>
              <a:t>name</a:t>
            </a:r>
            <a:r>
              <a:rPr lang="es-MX" dirty="0"/>
              <a:t> colocaremos el nombre de nuestro proyecto sin dejar espacio, y en seguida daremos </a:t>
            </a:r>
            <a:r>
              <a:rPr lang="es-MX" dirty="0" err="1"/>
              <a:t>click</a:t>
            </a:r>
            <a:r>
              <a:rPr lang="es-MX" dirty="0"/>
              <a:t> en </a:t>
            </a:r>
            <a:r>
              <a:rPr lang="es-MX" dirty="0" err="1"/>
              <a:t>next</a:t>
            </a:r>
            <a:r>
              <a:rPr lang="es-MX" dirty="0"/>
              <a:t> en la parte inferior derecha:</a:t>
            </a:r>
          </a:p>
        </p:txBody>
      </p:sp>
      <p:cxnSp>
        <p:nvCxnSpPr>
          <p:cNvPr id="18" name="Conector recto de flecha 17">
            <a:extLst>
              <a:ext uri="{FF2B5EF4-FFF2-40B4-BE49-F238E27FC236}">
                <a16:creationId xmlns:a16="http://schemas.microsoft.com/office/drawing/2014/main" id="{35C03CEE-E47A-6C18-E727-6C8C1CAFBC7F}"/>
              </a:ext>
            </a:extLst>
          </p:cNvPr>
          <p:cNvCxnSpPr>
            <a:cxnSpLocks/>
          </p:cNvCxnSpPr>
          <p:nvPr/>
        </p:nvCxnSpPr>
        <p:spPr>
          <a:xfrm>
            <a:off x="2310206" y="3609974"/>
            <a:ext cx="2218572" cy="98107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9" name="Conector recto de flecha 18">
            <a:extLst>
              <a:ext uri="{FF2B5EF4-FFF2-40B4-BE49-F238E27FC236}">
                <a16:creationId xmlns:a16="http://schemas.microsoft.com/office/drawing/2014/main" id="{EAEB6FF2-5082-3DAF-E238-0B34C6FAB56C}"/>
              </a:ext>
            </a:extLst>
          </p:cNvPr>
          <p:cNvCxnSpPr>
            <a:cxnSpLocks/>
          </p:cNvCxnSpPr>
          <p:nvPr/>
        </p:nvCxnSpPr>
        <p:spPr>
          <a:xfrm flipV="1">
            <a:off x="3959280" y="3816606"/>
            <a:ext cx="1879545" cy="133231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0" name="Conector recto de flecha 19">
            <a:extLst>
              <a:ext uri="{FF2B5EF4-FFF2-40B4-BE49-F238E27FC236}">
                <a16:creationId xmlns:a16="http://schemas.microsoft.com/office/drawing/2014/main" id="{CB2D4926-B649-3D6E-5D0F-A9B339012E17}"/>
              </a:ext>
            </a:extLst>
          </p:cNvPr>
          <p:cNvCxnSpPr>
            <a:cxnSpLocks/>
          </p:cNvCxnSpPr>
          <p:nvPr/>
        </p:nvCxnSpPr>
        <p:spPr>
          <a:xfrm flipV="1">
            <a:off x="3163549" y="2230926"/>
            <a:ext cx="2202180" cy="7926"/>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24" name="CuadroTexto 23">
            <a:extLst>
              <a:ext uri="{FF2B5EF4-FFF2-40B4-BE49-F238E27FC236}">
                <a16:creationId xmlns:a16="http://schemas.microsoft.com/office/drawing/2014/main" id="{5040E4AC-21CD-D89B-C7A8-D5E5832C6822}"/>
              </a:ext>
            </a:extLst>
          </p:cNvPr>
          <p:cNvSpPr txBox="1"/>
          <p:nvPr/>
        </p:nvSpPr>
        <p:spPr>
          <a:xfrm>
            <a:off x="8753475" y="1690688"/>
            <a:ext cx="2990850" cy="1200329"/>
          </a:xfrm>
          <a:prstGeom prst="rect">
            <a:avLst/>
          </a:prstGeom>
          <a:noFill/>
        </p:spPr>
        <p:txBody>
          <a:bodyPr wrap="square" rtlCol="0">
            <a:spAutoFit/>
          </a:bodyPr>
          <a:lstStyle/>
          <a:p>
            <a:r>
              <a:rPr lang="es-MX" dirty="0"/>
              <a:t>En la siguiente ventanilla seleccionamos las primeras dos opciones y damos </a:t>
            </a:r>
            <a:r>
              <a:rPr lang="es-MX" dirty="0" err="1"/>
              <a:t>click</a:t>
            </a:r>
            <a:r>
              <a:rPr lang="es-MX" dirty="0"/>
              <a:t> en crear:</a:t>
            </a:r>
          </a:p>
        </p:txBody>
      </p:sp>
      <p:pic>
        <p:nvPicPr>
          <p:cNvPr id="25" name="Imagen 24">
            <a:extLst>
              <a:ext uri="{FF2B5EF4-FFF2-40B4-BE49-F238E27FC236}">
                <a16:creationId xmlns:a16="http://schemas.microsoft.com/office/drawing/2014/main" id="{0525136D-D159-AF2F-3D48-53C4BD0EF703}"/>
              </a:ext>
            </a:extLst>
          </p:cNvPr>
          <p:cNvPicPr>
            <a:picLocks noChangeAspect="1"/>
          </p:cNvPicPr>
          <p:nvPr/>
        </p:nvPicPr>
        <p:blipFill>
          <a:blip r:embed="rId4"/>
          <a:stretch>
            <a:fillRect/>
          </a:stretch>
        </p:blipFill>
        <p:spPr>
          <a:xfrm>
            <a:off x="8694973" y="3225068"/>
            <a:ext cx="3259158" cy="2457725"/>
          </a:xfrm>
          <a:prstGeom prst="rect">
            <a:avLst/>
          </a:prstGeom>
        </p:spPr>
      </p:pic>
    </p:spTree>
    <p:extLst>
      <p:ext uri="{BB962C8B-B14F-4D97-AF65-F5344CB8AC3E}">
        <p14:creationId xmlns:p14="http://schemas.microsoft.com/office/powerpoint/2010/main" val="3518933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418FAE-4CFF-0B31-09D6-D5D6A3165C64}"/>
              </a:ext>
            </a:extLst>
          </p:cNvPr>
          <p:cNvSpPr>
            <a:spLocks noGrp="1"/>
          </p:cNvSpPr>
          <p:nvPr>
            <p:ph type="title"/>
          </p:nvPr>
        </p:nvSpPr>
        <p:spPr/>
        <p:txBody>
          <a:bodyPr/>
          <a:lstStyle/>
          <a:p>
            <a:r>
              <a:rPr lang="es-MX" dirty="0"/>
              <a:t>2. Continuamos con la creación de nuestros paquetes y clases de las siguiente forma:</a:t>
            </a:r>
          </a:p>
        </p:txBody>
      </p:sp>
      <p:pic>
        <p:nvPicPr>
          <p:cNvPr id="5" name="Imagen 4">
            <a:extLst>
              <a:ext uri="{FF2B5EF4-FFF2-40B4-BE49-F238E27FC236}">
                <a16:creationId xmlns:a16="http://schemas.microsoft.com/office/drawing/2014/main" id="{A95EE42C-371F-B05E-5C87-2CC3528634C1}"/>
              </a:ext>
            </a:extLst>
          </p:cNvPr>
          <p:cNvPicPr>
            <a:picLocks noChangeAspect="1"/>
          </p:cNvPicPr>
          <p:nvPr/>
        </p:nvPicPr>
        <p:blipFill>
          <a:blip r:embed="rId2"/>
          <a:stretch>
            <a:fillRect/>
          </a:stretch>
        </p:blipFill>
        <p:spPr>
          <a:xfrm>
            <a:off x="838200" y="1902901"/>
            <a:ext cx="3051243" cy="4187107"/>
          </a:xfrm>
          <a:prstGeom prst="rect">
            <a:avLst/>
          </a:prstGeom>
        </p:spPr>
      </p:pic>
      <p:sp>
        <p:nvSpPr>
          <p:cNvPr id="6" name="CuadroTexto 5">
            <a:extLst>
              <a:ext uri="{FF2B5EF4-FFF2-40B4-BE49-F238E27FC236}">
                <a16:creationId xmlns:a16="http://schemas.microsoft.com/office/drawing/2014/main" id="{492C957D-225B-0628-1274-8D6682E6ADC9}"/>
              </a:ext>
            </a:extLst>
          </p:cNvPr>
          <p:cNvSpPr txBox="1"/>
          <p:nvPr/>
        </p:nvSpPr>
        <p:spPr>
          <a:xfrm>
            <a:off x="4143375" y="1902901"/>
            <a:ext cx="4610100" cy="923330"/>
          </a:xfrm>
          <a:prstGeom prst="rect">
            <a:avLst/>
          </a:prstGeom>
          <a:noFill/>
        </p:spPr>
        <p:txBody>
          <a:bodyPr wrap="square" rtlCol="0">
            <a:spAutoFit/>
          </a:bodyPr>
          <a:lstStyle/>
          <a:p>
            <a:r>
              <a:rPr lang="es-MX" dirty="0"/>
              <a:t>Cada clase será funcional para nuestro proyecto sobre todo la clase analizador sintáctico que es la clase principal</a:t>
            </a:r>
          </a:p>
        </p:txBody>
      </p:sp>
      <p:pic>
        <p:nvPicPr>
          <p:cNvPr id="8" name="Imagen 7">
            <a:extLst>
              <a:ext uri="{FF2B5EF4-FFF2-40B4-BE49-F238E27FC236}">
                <a16:creationId xmlns:a16="http://schemas.microsoft.com/office/drawing/2014/main" id="{3B377D52-ECE7-BB65-5305-50097EA6C5C3}"/>
              </a:ext>
            </a:extLst>
          </p:cNvPr>
          <p:cNvPicPr>
            <a:picLocks noChangeAspect="1"/>
          </p:cNvPicPr>
          <p:nvPr/>
        </p:nvPicPr>
        <p:blipFill>
          <a:blip r:embed="rId3"/>
          <a:stretch>
            <a:fillRect/>
          </a:stretch>
        </p:blipFill>
        <p:spPr>
          <a:xfrm>
            <a:off x="4314587" y="4222448"/>
            <a:ext cx="3410426" cy="809738"/>
          </a:xfrm>
          <a:prstGeom prst="rect">
            <a:avLst/>
          </a:prstGeom>
        </p:spPr>
      </p:pic>
      <p:sp>
        <p:nvSpPr>
          <p:cNvPr id="9" name="CuadroTexto 8">
            <a:extLst>
              <a:ext uri="{FF2B5EF4-FFF2-40B4-BE49-F238E27FC236}">
                <a16:creationId xmlns:a16="http://schemas.microsoft.com/office/drawing/2014/main" id="{B9A04BD6-BE54-77C1-38C7-2B39F6212BB0}"/>
              </a:ext>
            </a:extLst>
          </p:cNvPr>
          <p:cNvSpPr txBox="1"/>
          <p:nvPr/>
        </p:nvSpPr>
        <p:spPr>
          <a:xfrm>
            <a:off x="4286250" y="2924175"/>
            <a:ext cx="4610100" cy="1200329"/>
          </a:xfrm>
          <a:prstGeom prst="rect">
            <a:avLst/>
          </a:prstGeom>
          <a:noFill/>
        </p:spPr>
        <p:txBody>
          <a:bodyPr wrap="square" rtlCol="0">
            <a:spAutoFit/>
          </a:bodyPr>
          <a:lstStyle/>
          <a:p>
            <a:r>
              <a:rPr lang="es-MX" dirty="0"/>
              <a:t>Comenzamos con nuestra primer clase que es el </a:t>
            </a:r>
            <a:r>
              <a:rPr lang="es-MX" dirty="0" err="1"/>
              <a:t>analizadorcontroller</a:t>
            </a:r>
            <a:r>
              <a:rPr lang="es-MX" dirty="0"/>
              <a:t> el cual trabaja en conjunto con el analizador-</a:t>
            </a:r>
            <a:r>
              <a:rPr lang="es-MX" dirty="0" err="1"/>
              <a:t>view.fxml</a:t>
            </a:r>
            <a:r>
              <a:rPr lang="es-MX" dirty="0"/>
              <a:t> para el funcionamiento de la interfaz</a:t>
            </a:r>
          </a:p>
        </p:txBody>
      </p:sp>
      <p:pic>
        <p:nvPicPr>
          <p:cNvPr id="11" name="Imagen 10">
            <a:extLst>
              <a:ext uri="{FF2B5EF4-FFF2-40B4-BE49-F238E27FC236}">
                <a16:creationId xmlns:a16="http://schemas.microsoft.com/office/drawing/2014/main" id="{B57B8076-5D5E-0617-CCE3-56540E3DD68B}"/>
              </a:ext>
            </a:extLst>
          </p:cNvPr>
          <p:cNvPicPr>
            <a:picLocks noChangeAspect="1"/>
          </p:cNvPicPr>
          <p:nvPr/>
        </p:nvPicPr>
        <p:blipFill>
          <a:blip r:embed="rId4"/>
          <a:stretch>
            <a:fillRect/>
          </a:stretch>
        </p:blipFill>
        <p:spPr>
          <a:xfrm>
            <a:off x="4314587" y="5149180"/>
            <a:ext cx="3810532" cy="885949"/>
          </a:xfrm>
          <a:prstGeom prst="rect">
            <a:avLst/>
          </a:prstGeom>
        </p:spPr>
      </p:pic>
    </p:spTree>
    <p:extLst>
      <p:ext uri="{BB962C8B-B14F-4D97-AF65-F5344CB8AC3E}">
        <p14:creationId xmlns:p14="http://schemas.microsoft.com/office/powerpoint/2010/main" val="1868425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3C452D-AC45-47BC-B496-38C03BDB80D6}"/>
              </a:ext>
            </a:extLst>
          </p:cNvPr>
          <p:cNvSpPr>
            <a:spLocks noGrp="1"/>
          </p:cNvSpPr>
          <p:nvPr>
            <p:ph type="title"/>
          </p:nvPr>
        </p:nvSpPr>
        <p:spPr/>
        <p:txBody>
          <a:bodyPr/>
          <a:lstStyle/>
          <a:p>
            <a:r>
              <a:rPr lang="es-MX" dirty="0"/>
              <a:t>3. Analizador </a:t>
            </a:r>
            <a:r>
              <a:rPr lang="es-MX" dirty="0" err="1"/>
              <a:t>controller</a:t>
            </a:r>
            <a:r>
              <a:rPr lang="es-MX" dirty="0"/>
              <a:t> partes </a:t>
            </a:r>
            <a:r>
              <a:rPr lang="es-MX" dirty="0" err="1"/>
              <a:t>escenciales</a:t>
            </a:r>
            <a:r>
              <a:rPr lang="es-MX" dirty="0"/>
              <a:t>:</a:t>
            </a:r>
          </a:p>
        </p:txBody>
      </p:sp>
      <p:pic>
        <p:nvPicPr>
          <p:cNvPr id="9" name="Marcador de contenido 8">
            <a:extLst>
              <a:ext uri="{FF2B5EF4-FFF2-40B4-BE49-F238E27FC236}">
                <a16:creationId xmlns:a16="http://schemas.microsoft.com/office/drawing/2014/main" id="{CA6167F2-CF30-B7F0-12E6-4A8C0963331F}"/>
              </a:ext>
            </a:extLst>
          </p:cNvPr>
          <p:cNvPicPr>
            <a:picLocks noGrp="1" noChangeAspect="1"/>
          </p:cNvPicPr>
          <p:nvPr>
            <p:ph idx="1"/>
          </p:nvPr>
        </p:nvPicPr>
        <p:blipFill>
          <a:blip r:embed="rId2"/>
          <a:stretch>
            <a:fillRect/>
          </a:stretch>
        </p:blipFill>
        <p:spPr>
          <a:xfrm>
            <a:off x="118828" y="1690688"/>
            <a:ext cx="3362794" cy="2562583"/>
          </a:xfrm>
        </p:spPr>
      </p:pic>
      <p:sp>
        <p:nvSpPr>
          <p:cNvPr id="11" name="CuadroTexto 10">
            <a:extLst>
              <a:ext uri="{FF2B5EF4-FFF2-40B4-BE49-F238E27FC236}">
                <a16:creationId xmlns:a16="http://schemas.microsoft.com/office/drawing/2014/main" id="{99B0001F-3E4D-53DA-D3D0-833F2270D532}"/>
              </a:ext>
            </a:extLst>
          </p:cNvPr>
          <p:cNvSpPr txBox="1"/>
          <p:nvPr/>
        </p:nvSpPr>
        <p:spPr>
          <a:xfrm>
            <a:off x="410342" y="1850471"/>
            <a:ext cx="3290653" cy="2031325"/>
          </a:xfrm>
          <a:prstGeom prst="rect">
            <a:avLst/>
          </a:prstGeom>
          <a:noFill/>
        </p:spPr>
        <p:txBody>
          <a:bodyPr wrap="square">
            <a:spAutoFit/>
          </a:bodyPr>
          <a:lstStyle/>
          <a:p>
            <a:r>
              <a:rPr lang="es-MX" dirty="0">
                <a:solidFill>
                  <a:schemeClr val="bg1"/>
                </a:solidFill>
              </a:rPr>
              <a:t>DONDE ESCRIBES tu código</a:t>
            </a:r>
          </a:p>
          <a:p>
            <a:endParaRPr lang="es-MX" dirty="0">
              <a:solidFill>
                <a:schemeClr val="bg1"/>
              </a:solidFill>
            </a:endParaRPr>
          </a:p>
          <a:p>
            <a:r>
              <a:rPr lang="es-MX" dirty="0">
                <a:solidFill>
                  <a:schemeClr val="bg1"/>
                </a:solidFill>
              </a:rPr>
              <a:t> </a:t>
            </a:r>
          </a:p>
          <a:p>
            <a:r>
              <a:rPr lang="es-MX" dirty="0">
                <a:solidFill>
                  <a:schemeClr val="bg1"/>
                </a:solidFill>
              </a:rPr>
              <a:t>DONDE SALEN los resultados</a:t>
            </a:r>
          </a:p>
          <a:p>
            <a:endParaRPr lang="es-MX" dirty="0"/>
          </a:p>
          <a:p>
            <a:endParaRPr lang="es-MX" dirty="0"/>
          </a:p>
          <a:p>
            <a:r>
              <a:rPr lang="es-MX" dirty="0">
                <a:solidFill>
                  <a:schemeClr val="bg1"/>
                </a:solidFill>
              </a:rPr>
              <a:t>EL BOTÓN que hace todo</a:t>
            </a:r>
          </a:p>
        </p:txBody>
      </p:sp>
      <p:pic>
        <p:nvPicPr>
          <p:cNvPr id="13" name="Imagen 12">
            <a:extLst>
              <a:ext uri="{FF2B5EF4-FFF2-40B4-BE49-F238E27FC236}">
                <a16:creationId xmlns:a16="http://schemas.microsoft.com/office/drawing/2014/main" id="{EB2B5770-6BE5-53E3-0DC7-9BEABBFF1118}"/>
              </a:ext>
            </a:extLst>
          </p:cNvPr>
          <p:cNvPicPr>
            <a:picLocks noChangeAspect="1"/>
          </p:cNvPicPr>
          <p:nvPr/>
        </p:nvPicPr>
        <p:blipFill>
          <a:blip r:embed="rId3"/>
          <a:stretch>
            <a:fillRect/>
          </a:stretch>
        </p:blipFill>
        <p:spPr>
          <a:xfrm>
            <a:off x="3543899" y="1723113"/>
            <a:ext cx="5166481" cy="4749609"/>
          </a:xfrm>
          <a:prstGeom prst="rect">
            <a:avLst/>
          </a:prstGeom>
        </p:spPr>
      </p:pic>
      <p:sp>
        <p:nvSpPr>
          <p:cNvPr id="14" name="CuadroTexto 13">
            <a:extLst>
              <a:ext uri="{FF2B5EF4-FFF2-40B4-BE49-F238E27FC236}">
                <a16:creationId xmlns:a16="http://schemas.microsoft.com/office/drawing/2014/main" id="{E20558AA-65CB-156E-1CD5-7442075F6D74}"/>
              </a:ext>
            </a:extLst>
          </p:cNvPr>
          <p:cNvSpPr txBox="1"/>
          <p:nvPr/>
        </p:nvSpPr>
        <p:spPr>
          <a:xfrm>
            <a:off x="4362450" y="1401248"/>
            <a:ext cx="2047875" cy="369332"/>
          </a:xfrm>
          <a:prstGeom prst="rect">
            <a:avLst/>
          </a:prstGeom>
          <a:noFill/>
        </p:spPr>
        <p:txBody>
          <a:bodyPr wrap="square" rtlCol="0">
            <a:spAutoFit/>
          </a:bodyPr>
          <a:lstStyle/>
          <a:p>
            <a:r>
              <a:rPr lang="es-MX" dirty="0"/>
              <a:t>Núcleo </a:t>
            </a:r>
          </a:p>
        </p:txBody>
      </p:sp>
      <p:sp>
        <p:nvSpPr>
          <p:cNvPr id="16" name="CuadroTexto 15">
            <a:extLst>
              <a:ext uri="{FF2B5EF4-FFF2-40B4-BE49-F238E27FC236}">
                <a16:creationId xmlns:a16="http://schemas.microsoft.com/office/drawing/2014/main" id="{C80CA753-8E5C-7895-2BB4-9D4CD7F7456D}"/>
              </a:ext>
            </a:extLst>
          </p:cNvPr>
          <p:cNvSpPr txBox="1"/>
          <p:nvPr/>
        </p:nvSpPr>
        <p:spPr>
          <a:xfrm>
            <a:off x="8491007" y="3082254"/>
            <a:ext cx="3472393" cy="2308324"/>
          </a:xfrm>
          <a:prstGeom prst="rect">
            <a:avLst/>
          </a:prstGeom>
          <a:noFill/>
        </p:spPr>
        <p:txBody>
          <a:bodyPr wrap="square">
            <a:spAutoFit/>
          </a:bodyPr>
          <a:lstStyle/>
          <a:p>
            <a:pPr marL="285750" indent="-285750">
              <a:buFont typeface="Arial" panose="020B0604020202020204" pitchFamily="34" charset="0"/>
              <a:buChar char="•"/>
            </a:pPr>
            <a:r>
              <a:rPr lang="es-MX" dirty="0" err="1"/>
              <a:t>Leé</a:t>
            </a:r>
            <a:r>
              <a:rPr lang="es-MX" dirty="0"/>
              <a:t> el código y lo divide en pedacitos (tokens)</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Revisa si los pedacitos forman oraciones correctas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Muestra los pedacitos + “sintaxis correcta!"</a:t>
            </a:r>
          </a:p>
        </p:txBody>
      </p:sp>
    </p:spTree>
    <p:extLst>
      <p:ext uri="{BB962C8B-B14F-4D97-AF65-F5344CB8AC3E}">
        <p14:creationId xmlns:p14="http://schemas.microsoft.com/office/powerpoint/2010/main" val="2115677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8B82F2-BA16-EF4C-5707-8B883D73F414}"/>
              </a:ext>
            </a:extLst>
          </p:cNvPr>
          <p:cNvSpPr>
            <a:spLocks noGrp="1"/>
          </p:cNvSpPr>
          <p:nvPr>
            <p:ph type="title"/>
          </p:nvPr>
        </p:nvSpPr>
        <p:spPr/>
        <p:txBody>
          <a:bodyPr/>
          <a:lstStyle/>
          <a:p>
            <a:r>
              <a:rPr lang="es-MX" dirty="0"/>
              <a:t>4. Seguimos con la </a:t>
            </a:r>
            <a:r>
              <a:rPr lang="es-MX" dirty="0" err="1"/>
              <a:t>gramatica</a:t>
            </a:r>
            <a:endParaRPr lang="es-MX" dirty="0"/>
          </a:p>
        </p:txBody>
      </p:sp>
      <p:pic>
        <p:nvPicPr>
          <p:cNvPr id="5" name="Marcador de contenido 4">
            <a:extLst>
              <a:ext uri="{FF2B5EF4-FFF2-40B4-BE49-F238E27FC236}">
                <a16:creationId xmlns:a16="http://schemas.microsoft.com/office/drawing/2014/main" id="{239E3510-DF19-C476-29DA-6BE0398B92D9}"/>
              </a:ext>
            </a:extLst>
          </p:cNvPr>
          <p:cNvPicPr>
            <a:picLocks noGrp="1" noChangeAspect="1"/>
          </p:cNvPicPr>
          <p:nvPr>
            <p:ph idx="1"/>
          </p:nvPr>
        </p:nvPicPr>
        <p:blipFill>
          <a:blip r:embed="rId2"/>
          <a:stretch>
            <a:fillRect/>
          </a:stretch>
        </p:blipFill>
        <p:spPr>
          <a:xfrm>
            <a:off x="7886700" y="365125"/>
            <a:ext cx="2343477" cy="847843"/>
          </a:xfrm>
        </p:spPr>
      </p:pic>
      <p:pic>
        <p:nvPicPr>
          <p:cNvPr id="7" name="Imagen 6">
            <a:extLst>
              <a:ext uri="{FF2B5EF4-FFF2-40B4-BE49-F238E27FC236}">
                <a16:creationId xmlns:a16="http://schemas.microsoft.com/office/drawing/2014/main" id="{1F219565-52A1-88A4-23D5-82DE716B2E35}"/>
              </a:ext>
            </a:extLst>
          </p:cNvPr>
          <p:cNvPicPr>
            <a:picLocks noChangeAspect="1"/>
          </p:cNvPicPr>
          <p:nvPr/>
        </p:nvPicPr>
        <p:blipFill>
          <a:blip r:embed="rId3"/>
          <a:srcRect t="44517" b="18652"/>
          <a:stretch/>
        </p:blipFill>
        <p:spPr>
          <a:xfrm>
            <a:off x="487812" y="1623059"/>
            <a:ext cx="3564885" cy="1353313"/>
          </a:xfrm>
          <a:prstGeom prst="rect">
            <a:avLst/>
          </a:prstGeom>
        </p:spPr>
      </p:pic>
      <p:sp>
        <p:nvSpPr>
          <p:cNvPr id="8" name="Rectangle 1">
            <a:extLst>
              <a:ext uri="{FF2B5EF4-FFF2-40B4-BE49-F238E27FC236}">
                <a16:creationId xmlns:a16="http://schemas.microsoft.com/office/drawing/2014/main" id="{503DFD3C-BEAF-5731-B447-8AF310B37220}"/>
              </a:ext>
            </a:extLst>
          </p:cNvPr>
          <p:cNvSpPr>
            <a:spLocks noChangeArrowheads="1"/>
          </p:cNvSpPr>
          <p:nvPr/>
        </p:nvSpPr>
        <p:spPr bwMode="auto">
          <a:xfrm>
            <a:off x="487812" y="3109823"/>
            <a:ext cx="3564885"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AutoNum type="arabicPeriod"/>
              <a:tabLst/>
            </a:pPr>
            <a:r>
              <a:rPr lang="es-MX" altLang="es-MX" sz="1400" dirty="0"/>
              <a:t>Crea las reglas del lenguaje</a:t>
            </a:r>
          </a:p>
          <a:p>
            <a:pPr marR="0" lvl="0" algn="l" defTabSz="914400" rtl="0" eaLnBrk="0" fontAlgn="base" latinLnBrk="0" hangingPunct="0">
              <a:lnSpc>
                <a:spcPct val="100000"/>
              </a:lnSpc>
              <a:spcBef>
                <a:spcPct val="0"/>
              </a:spcBef>
              <a:spcAft>
                <a:spcPct val="0"/>
              </a:spcAft>
              <a:buClrTx/>
              <a:buSzTx/>
              <a:tabLst/>
            </a:pPr>
            <a:endParaRPr lang="es-MX" altLang="es-MX" sz="1400"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t>2. Define EXPRESION (2 formas)</a:t>
            </a:r>
          </a:p>
          <a:p>
            <a:pPr marL="0" marR="0" lvl="0" indent="0" algn="l" defTabSz="914400" rtl="0" eaLnBrk="0" fontAlgn="base" latinLnBrk="0" hangingPunct="0">
              <a:lnSpc>
                <a:spcPct val="100000"/>
              </a:lnSpc>
              <a:spcBef>
                <a:spcPct val="0"/>
              </a:spcBef>
              <a:spcAft>
                <a:spcPct val="0"/>
              </a:spcAft>
              <a:buClrTx/>
              <a:buSzTx/>
              <a:tabLst/>
            </a:pPr>
            <a:endParaRPr lang="es-MX" altLang="es-MX" sz="1400" dirty="0"/>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Guarda 3 reglas que dice qué código es válido</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a:t>
            </a:r>
            <a:r>
              <a:rPr lang="es-MX" altLang="es-MX" sz="1400" dirty="0" err="1"/>
              <a:t>int</a:t>
            </a:r>
            <a:r>
              <a:rPr lang="es-MX" altLang="es-MX" sz="1400" dirty="0"/>
              <a:t> x = 5;" valido</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a:t>
            </a:r>
            <a:r>
              <a:rPr lang="es-MX" altLang="es-MX" sz="1400" dirty="0" err="1"/>
              <a:t>int</a:t>
            </a:r>
            <a:r>
              <a:rPr lang="es-MX" altLang="es-MX" sz="1400" dirty="0"/>
              <a:t> x = 5 + 3;" valido</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a:t>
            </a:r>
            <a:r>
              <a:rPr lang="es-MX" altLang="es-MX" sz="1400" dirty="0" err="1"/>
              <a:t>int</a:t>
            </a:r>
            <a:r>
              <a:rPr lang="es-MX" altLang="es-MX" sz="1400" dirty="0"/>
              <a:t> x = </a:t>
            </a:r>
            <a:r>
              <a:rPr lang="es-MX" altLang="es-MX" sz="1400" dirty="0" err="1"/>
              <a:t>abc</a:t>
            </a:r>
            <a:r>
              <a:rPr lang="es-MX" altLang="es-MX" sz="1400" dirty="0"/>
              <a:t>;" no valido</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 El </a:t>
            </a:r>
            <a:r>
              <a:rPr lang="es-MX" altLang="es-MX" sz="1400" dirty="0" err="1"/>
              <a:t>parser</a:t>
            </a:r>
            <a:r>
              <a:rPr lang="es-MX" altLang="es-MX" sz="1400" dirty="0"/>
              <a:t> usa estas reglas para verificar si tu código "habla correctamente" el lenguaje.</a:t>
            </a:r>
          </a:p>
        </p:txBody>
      </p:sp>
      <p:pic>
        <p:nvPicPr>
          <p:cNvPr id="14" name="Imagen 13">
            <a:extLst>
              <a:ext uri="{FF2B5EF4-FFF2-40B4-BE49-F238E27FC236}">
                <a16:creationId xmlns:a16="http://schemas.microsoft.com/office/drawing/2014/main" id="{A0657992-77A0-002B-C435-1BE2D969BBF7}"/>
              </a:ext>
            </a:extLst>
          </p:cNvPr>
          <p:cNvPicPr>
            <a:picLocks noChangeAspect="1"/>
          </p:cNvPicPr>
          <p:nvPr/>
        </p:nvPicPr>
        <p:blipFill>
          <a:blip r:embed="rId4"/>
          <a:stretch>
            <a:fillRect/>
          </a:stretch>
        </p:blipFill>
        <p:spPr>
          <a:xfrm>
            <a:off x="4666766" y="1623059"/>
            <a:ext cx="4553015" cy="2717871"/>
          </a:xfrm>
          <a:prstGeom prst="rect">
            <a:avLst/>
          </a:prstGeom>
        </p:spPr>
      </p:pic>
      <p:sp>
        <p:nvSpPr>
          <p:cNvPr id="15" name="Rectangle 4">
            <a:extLst>
              <a:ext uri="{FF2B5EF4-FFF2-40B4-BE49-F238E27FC236}">
                <a16:creationId xmlns:a16="http://schemas.microsoft.com/office/drawing/2014/main" id="{6F31E31C-3A08-C69C-0EDC-D4D4D81030F8}"/>
              </a:ext>
            </a:extLst>
          </p:cNvPr>
          <p:cNvSpPr>
            <a:spLocks noChangeArrowheads="1"/>
          </p:cNvSpPr>
          <p:nvPr/>
        </p:nvSpPr>
        <p:spPr bwMode="auto">
          <a:xfrm>
            <a:off x="4666766" y="4276884"/>
            <a:ext cx="5775684"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s-MX" altLang="es-MX" dirty="0"/>
              <a:t>Define 2 variables:</a:t>
            </a:r>
          </a:p>
          <a:p>
            <a:pPr marL="457200" marR="0" lvl="1" indent="0" algn="l" defTabSz="914400" rtl="0" eaLnBrk="0" fontAlgn="base" latinLnBrk="0" hangingPunct="0">
              <a:lnSpc>
                <a:spcPct val="100000"/>
              </a:lnSpc>
              <a:spcBef>
                <a:spcPct val="0"/>
              </a:spcBef>
              <a:spcAft>
                <a:spcPct val="0"/>
              </a:spcAft>
              <a:buClrTx/>
              <a:buSzTx/>
              <a:buFontTx/>
              <a:buChar char="•"/>
              <a:tabLst/>
            </a:pPr>
            <a:r>
              <a:rPr lang="es-MX" altLang="es-MX" dirty="0"/>
              <a:t>izquierda: guarda el no-terminal (</a:t>
            </a:r>
            <a:r>
              <a:rPr lang="es-MX" altLang="es-MX" dirty="0" err="1"/>
              <a:t>ej</a:t>
            </a:r>
            <a:r>
              <a:rPr lang="es-MX" altLang="es-MX" dirty="0"/>
              <a:t>: "DECLARACION")</a:t>
            </a:r>
          </a:p>
          <a:p>
            <a:pPr marL="457200" marR="0" lvl="1" indent="0" algn="l" defTabSz="914400" rtl="0" eaLnBrk="0" fontAlgn="base" latinLnBrk="0" hangingPunct="0">
              <a:lnSpc>
                <a:spcPct val="100000"/>
              </a:lnSpc>
              <a:spcBef>
                <a:spcPct val="0"/>
              </a:spcBef>
              <a:spcAft>
                <a:spcPct val="0"/>
              </a:spcAft>
              <a:buClrTx/>
              <a:buSzTx/>
              <a:buFontTx/>
              <a:buChar char="•"/>
              <a:tabLst/>
            </a:pPr>
            <a:r>
              <a:rPr lang="es-MX" altLang="es-MX" dirty="0"/>
              <a:t>derecha: guarda la lista de símbolos que lo reemplazan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lang="es-MX" altLang="es-MX" dirty="0"/>
              <a:t>Constructor: recibe izquierda y derecha, las guarda</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lang="es-MX" altLang="es-MX" dirty="0" err="1"/>
              <a:t>Getters</a:t>
            </a:r>
            <a:r>
              <a:rPr lang="es-MX" altLang="es-MX" dirty="0"/>
              <a:t>: </a:t>
            </a:r>
            <a:r>
              <a:rPr lang="es-MX" altLang="es-MX" dirty="0" err="1"/>
              <a:t>getIzquierda</a:t>
            </a:r>
            <a:r>
              <a:rPr lang="es-MX" altLang="es-MX" dirty="0"/>
              <a:t>() y </a:t>
            </a:r>
            <a:r>
              <a:rPr lang="es-MX" altLang="es-MX" dirty="0" err="1"/>
              <a:t>getDerecha</a:t>
            </a:r>
            <a:r>
              <a:rPr lang="es-MX" altLang="es-MX" dirty="0"/>
              <a:t>() devuelven los valores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lang="es-MX" altLang="es-MX" dirty="0" err="1"/>
              <a:t>toString</a:t>
            </a:r>
            <a:r>
              <a:rPr lang="es-MX" altLang="es-MX" dirty="0"/>
              <a:t>(): convierte la producción en texto legible:</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p:txBody>
      </p:sp>
    </p:spTree>
    <p:extLst>
      <p:ext uri="{BB962C8B-B14F-4D97-AF65-F5344CB8AC3E}">
        <p14:creationId xmlns:p14="http://schemas.microsoft.com/office/powerpoint/2010/main" val="2816570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E9B2B9-C3B0-B720-C569-942B4C134EEF}"/>
              </a:ext>
            </a:extLst>
          </p:cNvPr>
          <p:cNvSpPr>
            <a:spLocks noGrp="1"/>
          </p:cNvSpPr>
          <p:nvPr>
            <p:ph type="title"/>
          </p:nvPr>
        </p:nvSpPr>
        <p:spPr>
          <a:xfrm>
            <a:off x="0" y="0"/>
            <a:ext cx="2697480" cy="798531"/>
          </a:xfrm>
        </p:spPr>
        <p:txBody>
          <a:bodyPr/>
          <a:lstStyle/>
          <a:p>
            <a:r>
              <a:rPr lang="es-MX" dirty="0"/>
              <a:t>5. </a:t>
            </a:r>
            <a:r>
              <a:rPr lang="es-MX" dirty="0" err="1"/>
              <a:t>Lexico</a:t>
            </a:r>
            <a:endParaRPr lang="es-MX" dirty="0"/>
          </a:p>
        </p:txBody>
      </p:sp>
      <p:pic>
        <p:nvPicPr>
          <p:cNvPr id="5" name="Marcador de contenido 4">
            <a:extLst>
              <a:ext uri="{FF2B5EF4-FFF2-40B4-BE49-F238E27FC236}">
                <a16:creationId xmlns:a16="http://schemas.microsoft.com/office/drawing/2014/main" id="{E2F713AA-67CA-D8CB-1383-0B6BF51B753C}"/>
              </a:ext>
            </a:extLst>
          </p:cNvPr>
          <p:cNvPicPr>
            <a:picLocks noGrp="1" noChangeAspect="1"/>
          </p:cNvPicPr>
          <p:nvPr>
            <p:ph idx="1"/>
          </p:nvPr>
        </p:nvPicPr>
        <p:blipFill>
          <a:blip r:embed="rId2"/>
          <a:stretch>
            <a:fillRect/>
          </a:stretch>
        </p:blipFill>
        <p:spPr>
          <a:xfrm>
            <a:off x="2205185" y="162718"/>
            <a:ext cx="2265216" cy="823715"/>
          </a:xfrm>
        </p:spPr>
      </p:pic>
      <p:sp>
        <p:nvSpPr>
          <p:cNvPr id="7" name="CuadroTexto 6">
            <a:extLst>
              <a:ext uri="{FF2B5EF4-FFF2-40B4-BE49-F238E27FC236}">
                <a16:creationId xmlns:a16="http://schemas.microsoft.com/office/drawing/2014/main" id="{4D3BC3CC-74D6-5323-43FD-9643DB5BC03A}"/>
              </a:ext>
            </a:extLst>
          </p:cNvPr>
          <p:cNvSpPr txBox="1"/>
          <p:nvPr/>
        </p:nvSpPr>
        <p:spPr>
          <a:xfrm>
            <a:off x="208744" y="1349360"/>
            <a:ext cx="3992881" cy="954107"/>
          </a:xfrm>
          <a:prstGeom prst="rect">
            <a:avLst/>
          </a:prstGeom>
          <a:noFill/>
        </p:spPr>
        <p:txBody>
          <a:bodyPr wrap="square">
            <a:spAutoFit/>
          </a:bodyPr>
          <a:lstStyle/>
          <a:p>
            <a:r>
              <a:rPr lang="es-MX" sz="1400" dirty="0"/>
              <a:t>En esta clase </a:t>
            </a:r>
            <a:r>
              <a:rPr lang="es-MX" sz="1400" dirty="0" err="1"/>
              <a:t>AnalizadorLexico</a:t>
            </a:r>
            <a:r>
              <a:rPr lang="es-MX" sz="1400" dirty="0"/>
              <a:t> se Lee el texto y lo convierte en tokens (números, variables, operadores) para que otro programa o mas bien la otra clase lo entienda.</a:t>
            </a:r>
          </a:p>
        </p:txBody>
      </p:sp>
      <p:pic>
        <p:nvPicPr>
          <p:cNvPr id="9" name="Imagen 8">
            <a:extLst>
              <a:ext uri="{FF2B5EF4-FFF2-40B4-BE49-F238E27FC236}">
                <a16:creationId xmlns:a16="http://schemas.microsoft.com/office/drawing/2014/main" id="{96E71382-4EB2-0D62-09C8-C88B6AA4A11C}"/>
              </a:ext>
            </a:extLst>
          </p:cNvPr>
          <p:cNvPicPr>
            <a:picLocks noChangeAspect="1"/>
          </p:cNvPicPr>
          <p:nvPr/>
        </p:nvPicPr>
        <p:blipFill>
          <a:blip r:embed="rId3"/>
          <a:stretch>
            <a:fillRect/>
          </a:stretch>
        </p:blipFill>
        <p:spPr>
          <a:xfrm>
            <a:off x="208744" y="2423160"/>
            <a:ext cx="3829434" cy="3429000"/>
          </a:xfrm>
          <a:prstGeom prst="rect">
            <a:avLst/>
          </a:prstGeom>
        </p:spPr>
      </p:pic>
      <p:pic>
        <p:nvPicPr>
          <p:cNvPr id="11" name="Imagen 10">
            <a:extLst>
              <a:ext uri="{FF2B5EF4-FFF2-40B4-BE49-F238E27FC236}">
                <a16:creationId xmlns:a16="http://schemas.microsoft.com/office/drawing/2014/main" id="{84E4765E-8EA8-4D4F-3F2D-4FFBE24D316B}"/>
              </a:ext>
            </a:extLst>
          </p:cNvPr>
          <p:cNvPicPr>
            <a:picLocks noChangeAspect="1"/>
          </p:cNvPicPr>
          <p:nvPr/>
        </p:nvPicPr>
        <p:blipFill>
          <a:blip r:embed="rId4"/>
          <a:stretch>
            <a:fillRect/>
          </a:stretch>
        </p:blipFill>
        <p:spPr>
          <a:xfrm>
            <a:off x="4330829" y="3166271"/>
            <a:ext cx="3709631" cy="2443645"/>
          </a:xfrm>
          <a:prstGeom prst="rect">
            <a:avLst/>
          </a:prstGeom>
        </p:spPr>
      </p:pic>
      <p:pic>
        <p:nvPicPr>
          <p:cNvPr id="13" name="Imagen 12">
            <a:extLst>
              <a:ext uri="{FF2B5EF4-FFF2-40B4-BE49-F238E27FC236}">
                <a16:creationId xmlns:a16="http://schemas.microsoft.com/office/drawing/2014/main" id="{55820B1F-DD25-342B-AD20-E6ADAF894D17}"/>
              </a:ext>
            </a:extLst>
          </p:cNvPr>
          <p:cNvPicPr>
            <a:picLocks noChangeAspect="1"/>
          </p:cNvPicPr>
          <p:nvPr/>
        </p:nvPicPr>
        <p:blipFill>
          <a:blip r:embed="rId5"/>
          <a:stretch>
            <a:fillRect/>
          </a:stretch>
        </p:blipFill>
        <p:spPr>
          <a:xfrm>
            <a:off x="8242761" y="2984997"/>
            <a:ext cx="3829435" cy="2616149"/>
          </a:xfrm>
          <a:prstGeom prst="rect">
            <a:avLst/>
          </a:prstGeom>
        </p:spPr>
      </p:pic>
      <p:sp>
        <p:nvSpPr>
          <p:cNvPr id="14" name="Rectangle 1">
            <a:extLst>
              <a:ext uri="{FF2B5EF4-FFF2-40B4-BE49-F238E27FC236}">
                <a16:creationId xmlns:a16="http://schemas.microsoft.com/office/drawing/2014/main" id="{40892851-D8B0-5B1E-5E0E-DFDC344E9600}"/>
              </a:ext>
            </a:extLst>
          </p:cNvPr>
          <p:cNvSpPr>
            <a:spLocks noChangeArrowheads="1"/>
          </p:cNvSpPr>
          <p:nvPr/>
        </p:nvSpPr>
        <p:spPr bwMode="auto">
          <a:xfrm>
            <a:off x="4330829" y="1248083"/>
            <a:ext cx="347205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200" dirty="0"/>
              <a:t>Este código define un conjunto de categorías (tipos) para clasificar las partes del código que el analizador léxico encuentra.</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t>Usa un </a:t>
            </a:r>
            <a:r>
              <a:rPr lang="es-MX" altLang="es-MX" sz="1200" dirty="0" err="1"/>
              <a:t>enum</a:t>
            </a:r>
            <a:r>
              <a:rPr lang="es-MX" altLang="es-MX" sz="1200" dirty="0"/>
              <a:t> para listar tipos como: INT, ID, NUM, MAS, IGUAL, etc.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t>Cada tipo representa algo del lenguaje (número, variable, operador, etc.).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t>El analizador usa estos tipos para etiquetar cada token.</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200" dirty="0"/>
          </a:p>
        </p:txBody>
      </p:sp>
      <p:sp>
        <p:nvSpPr>
          <p:cNvPr id="15" name="Rectangle 2">
            <a:extLst>
              <a:ext uri="{FF2B5EF4-FFF2-40B4-BE49-F238E27FC236}">
                <a16:creationId xmlns:a16="http://schemas.microsoft.com/office/drawing/2014/main" id="{421143B3-A3FF-8207-E40D-F0038D858AB6}"/>
              </a:ext>
            </a:extLst>
          </p:cNvPr>
          <p:cNvSpPr>
            <a:spLocks noChangeArrowheads="1"/>
          </p:cNvSpPr>
          <p:nvPr/>
        </p:nvSpPr>
        <p:spPr bwMode="auto">
          <a:xfrm>
            <a:off x="8362564" y="1364600"/>
            <a:ext cx="382943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200" dirty="0"/>
              <a:t>Este código crea un objeto que representa cada token encontrado en el análisis.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t>Guarda el tipo (NUM, ID, etc.)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t>Guarda el texto real ("10", "x", "+")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200" dirty="0"/>
              <a:t>Permite mostrarlo fácilmente como: TIPO -&gt; valor </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200" dirty="0"/>
          </a:p>
        </p:txBody>
      </p:sp>
    </p:spTree>
    <p:extLst>
      <p:ext uri="{BB962C8B-B14F-4D97-AF65-F5344CB8AC3E}">
        <p14:creationId xmlns:p14="http://schemas.microsoft.com/office/powerpoint/2010/main" val="3604329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7B5F8B-1FE4-A7ED-97F2-C7B041704959}"/>
              </a:ext>
            </a:extLst>
          </p:cNvPr>
          <p:cNvSpPr>
            <a:spLocks noGrp="1"/>
          </p:cNvSpPr>
          <p:nvPr>
            <p:ph type="title"/>
          </p:nvPr>
        </p:nvSpPr>
        <p:spPr>
          <a:xfrm>
            <a:off x="0" y="0"/>
            <a:ext cx="3256280" cy="478155"/>
          </a:xfrm>
        </p:spPr>
        <p:txBody>
          <a:bodyPr>
            <a:normAutofit fontScale="90000"/>
          </a:bodyPr>
          <a:lstStyle/>
          <a:p>
            <a:r>
              <a:rPr lang="es-MX" dirty="0"/>
              <a:t>6.Sintactico </a:t>
            </a:r>
          </a:p>
        </p:txBody>
      </p:sp>
      <p:sp>
        <p:nvSpPr>
          <p:cNvPr id="3" name="Marcador de contenido 2">
            <a:extLst>
              <a:ext uri="{FF2B5EF4-FFF2-40B4-BE49-F238E27FC236}">
                <a16:creationId xmlns:a16="http://schemas.microsoft.com/office/drawing/2014/main" id="{00995F4B-D00F-9202-1D09-D61D6DD32893}"/>
              </a:ext>
            </a:extLst>
          </p:cNvPr>
          <p:cNvSpPr>
            <a:spLocks noGrp="1"/>
          </p:cNvSpPr>
          <p:nvPr>
            <p:ph idx="1"/>
          </p:nvPr>
        </p:nvSpPr>
        <p:spPr>
          <a:xfrm>
            <a:off x="226060" y="1090303"/>
            <a:ext cx="3134360" cy="694055"/>
          </a:xfrm>
        </p:spPr>
        <p:txBody>
          <a:bodyPr>
            <a:normAutofit/>
          </a:bodyPr>
          <a:lstStyle/>
          <a:p>
            <a:pPr marL="0" indent="0">
              <a:buNone/>
            </a:pPr>
            <a:r>
              <a:rPr lang="es-MX" sz="1200" dirty="0"/>
              <a:t>Este código es un analizador sintáctico: revisa que los tokens estén en el orden correcto según las reglas del lenguaje.</a:t>
            </a:r>
          </a:p>
        </p:txBody>
      </p:sp>
      <p:pic>
        <p:nvPicPr>
          <p:cNvPr id="5" name="Imagen 4">
            <a:extLst>
              <a:ext uri="{FF2B5EF4-FFF2-40B4-BE49-F238E27FC236}">
                <a16:creationId xmlns:a16="http://schemas.microsoft.com/office/drawing/2014/main" id="{3C36CB63-67BE-B9CE-5461-B23241594265}"/>
              </a:ext>
            </a:extLst>
          </p:cNvPr>
          <p:cNvPicPr>
            <a:picLocks noChangeAspect="1"/>
          </p:cNvPicPr>
          <p:nvPr/>
        </p:nvPicPr>
        <p:blipFill>
          <a:blip r:embed="rId2"/>
          <a:stretch>
            <a:fillRect/>
          </a:stretch>
        </p:blipFill>
        <p:spPr>
          <a:xfrm>
            <a:off x="2568451" y="0"/>
            <a:ext cx="1771897" cy="562053"/>
          </a:xfrm>
          <a:prstGeom prst="rect">
            <a:avLst/>
          </a:prstGeom>
        </p:spPr>
      </p:pic>
      <p:sp>
        <p:nvSpPr>
          <p:cNvPr id="7" name="CuadroTexto 6">
            <a:extLst>
              <a:ext uri="{FF2B5EF4-FFF2-40B4-BE49-F238E27FC236}">
                <a16:creationId xmlns:a16="http://schemas.microsoft.com/office/drawing/2014/main" id="{9A7AE1BF-DBA1-072B-DCBE-80E2EF6BC121}"/>
              </a:ext>
            </a:extLst>
          </p:cNvPr>
          <p:cNvSpPr txBox="1"/>
          <p:nvPr/>
        </p:nvSpPr>
        <p:spPr>
          <a:xfrm>
            <a:off x="226060" y="1700460"/>
            <a:ext cx="3030220" cy="461665"/>
          </a:xfrm>
          <a:prstGeom prst="rect">
            <a:avLst/>
          </a:prstGeom>
          <a:noFill/>
        </p:spPr>
        <p:txBody>
          <a:bodyPr wrap="square">
            <a:spAutoFit/>
          </a:bodyPr>
          <a:lstStyle/>
          <a:p>
            <a:r>
              <a:rPr lang="es-MX" sz="1200" dirty="0"/>
              <a:t>Sirve para comprobar que el código esté bien estructurado según las reglas del lenguaje.</a:t>
            </a:r>
          </a:p>
        </p:txBody>
      </p:sp>
      <p:pic>
        <p:nvPicPr>
          <p:cNvPr id="9" name="Imagen 8">
            <a:extLst>
              <a:ext uri="{FF2B5EF4-FFF2-40B4-BE49-F238E27FC236}">
                <a16:creationId xmlns:a16="http://schemas.microsoft.com/office/drawing/2014/main" id="{E4C08D9C-5644-66B1-7D46-EE8132B6BE0A}"/>
              </a:ext>
            </a:extLst>
          </p:cNvPr>
          <p:cNvPicPr>
            <a:picLocks noChangeAspect="1"/>
          </p:cNvPicPr>
          <p:nvPr/>
        </p:nvPicPr>
        <p:blipFill>
          <a:blip r:embed="rId3"/>
          <a:stretch>
            <a:fillRect/>
          </a:stretch>
        </p:blipFill>
        <p:spPr>
          <a:xfrm>
            <a:off x="226295" y="4995051"/>
            <a:ext cx="4114053" cy="1778108"/>
          </a:xfrm>
          <a:prstGeom prst="rect">
            <a:avLst/>
          </a:prstGeom>
        </p:spPr>
      </p:pic>
      <p:pic>
        <p:nvPicPr>
          <p:cNvPr id="11" name="Imagen 10">
            <a:extLst>
              <a:ext uri="{FF2B5EF4-FFF2-40B4-BE49-F238E27FC236}">
                <a16:creationId xmlns:a16="http://schemas.microsoft.com/office/drawing/2014/main" id="{9D0C8384-E091-C0AF-1C23-8F7165645879}"/>
              </a:ext>
            </a:extLst>
          </p:cNvPr>
          <p:cNvPicPr>
            <a:picLocks noChangeAspect="1"/>
          </p:cNvPicPr>
          <p:nvPr/>
        </p:nvPicPr>
        <p:blipFill>
          <a:blip r:embed="rId4"/>
          <a:stretch>
            <a:fillRect/>
          </a:stretch>
        </p:blipFill>
        <p:spPr>
          <a:xfrm>
            <a:off x="4635500" y="1700460"/>
            <a:ext cx="4801270" cy="1333686"/>
          </a:xfrm>
          <a:prstGeom prst="rect">
            <a:avLst/>
          </a:prstGeom>
        </p:spPr>
      </p:pic>
      <p:pic>
        <p:nvPicPr>
          <p:cNvPr id="13" name="Imagen 12">
            <a:extLst>
              <a:ext uri="{FF2B5EF4-FFF2-40B4-BE49-F238E27FC236}">
                <a16:creationId xmlns:a16="http://schemas.microsoft.com/office/drawing/2014/main" id="{401211CA-9467-DB88-1530-34B148902159}"/>
              </a:ext>
            </a:extLst>
          </p:cNvPr>
          <p:cNvPicPr>
            <a:picLocks noChangeAspect="1"/>
          </p:cNvPicPr>
          <p:nvPr/>
        </p:nvPicPr>
        <p:blipFill>
          <a:blip r:embed="rId5"/>
          <a:stretch>
            <a:fillRect/>
          </a:stretch>
        </p:blipFill>
        <p:spPr>
          <a:xfrm>
            <a:off x="545743" y="2242492"/>
            <a:ext cx="3199849" cy="2746139"/>
          </a:xfrm>
          <a:prstGeom prst="rect">
            <a:avLst/>
          </a:prstGeom>
        </p:spPr>
      </p:pic>
      <p:sp>
        <p:nvSpPr>
          <p:cNvPr id="15" name="CuadroTexto 14">
            <a:extLst>
              <a:ext uri="{FF2B5EF4-FFF2-40B4-BE49-F238E27FC236}">
                <a16:creationId xmlns:a16="http://schemas.microsoft.com/office/drawing/2014/main" id="{916E33B0-6086-EDD8-D4B6-F73AD1869324}"/>
              </a:ext>
            </a:extLst>
          </p:cNvPr>
          <p:cNvSpPr txBox="1"/>
          <p:nvPr/>
        </p:nvSpPr>
        <p:spPr>
          <a:xfrm>
            <a:off x="4635500" y="1054129"/>
            <a:ext cx="6202680" cy="646331"/>
          </a:xfrm>
          <a:prstGeom prst="rect">
            <a:avLst/>
          </a:prstGeom>
          <a:noFill/>
        </p:spPr>
        <p:txBody>
          <a:bodyPr wrap="square">
            <a:spAutoFit/>
          </a:bodyPr>
          <a:lstStyle/>
          <a:p>
            <a:r>
              <a:rPr lang="es-MX" dirty="0"/>
              <a:t>Este código define un </a:t>
            </a:r>
            <a:r>
              <a:rPr lang="es-MX" b="1" dirty="0"/>
              <a:t>error personalizado</a:t>
            </a:r>
            <a:r>
              <a:rPr lang="es-MX" dirty="0"/>
              <a:t> para el analizador sintáctico.</a:t>
            </a:r>
          </a:p>
        </p:txBody>
      </p:sp>
      <p:sp>
        <p:nvSpPr>
          <p:cNvPr id="16" name="Rectangle 1">
            <a:extLst>
              <a:ext uri="{FF2B5EF4-FFF2-40B4-BE49-F238E27FC236}">
                <a16:creationId xmlns:a16="http://schemas.microsoft.com/office/drawing/2014/main" id="{120625C7-D6D9-9C58-23C6-57A7F17A2EF6}"/>
              </a:ext>
            </a:extLst>
          </p:cNvPr>
          <p:cNvSpPr>
            <a:spLocks noChangeArrowheads="1"/>
          </p:cNvSpPr>
          <p:nvPr/>
        </p:nvSpPr>
        <p:spPr bwMode="auto">
          <a:xfrm>
            <a:off x="4780742" y="3034146"/>
            <a:ext cx="591219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sz="140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a:t>Crea una clase que hereda de RuntimeException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a:t>Permite lanzar errores con mensajes claros cuando hay fallos en la sintaxis </a:t>
            </a:r>
          </a:p>
        </p:txBody>
      </p:sp>
    </p:spTree>
    <p:extLst>
      <p:ext uri="{BB962C8B-B14F-4D97-AF65-F5344CB8AC3E}">
        <p14:creationId xmlns:p14="http://schemas.microsoft.com/office/powerpoint/2010/main" val="3263172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DF0ADC-4784-ED83-05D7-2558DF7B9931}"/>
              </a:ext>
            </a:extLst>
          </p:cNvPr>
          <p:cNvSpPr>
            <a:spLocks noGrp="1"/>
          </p:cNvSpPr>
          <p:nvPr>
            <p:ph type="title"/>
          </p:nvPr>
        </p:nvSpPr>
        <p:spPr/>
        <p:txBody>
          <a:bodyPr/>
          <a:lstStyle/>
          <a:p>
            <a:r>
              <a:rPr lang="es-MX" dirty="0"/>
              <a:t>7. </a:t>
            </a:r>
            <a:r>
              <a:rPr lang="es-MX" dirty="0" err="1"/>
              <a:t>MainApplication</a:t>
            </a:r>
            <a:endParaRPr lang="es-MX" dirty="0"/>
          </a:p>
        </p:txBody>
      </p:sp>
      <p:pic>
        <p:nvPicPr>
          <p:cNvPr id="5" name="Marcador de contenido 4">
            <a:extLst>
              <a:ext uri="{FF2B5EF4-FFF2-40B4-BE49-F238E27FC236}">
                <a16:creationId xmlns:a16="http://schemas.microsoft.com/office/drawing/2014/main" id="{F13DC54D-B7D2-FD91-DCA9-0EB7F431CC24}"/>
              </a:ext>
            </a:extLst>
          </p:cNvPr>
          <p:cNvPicPr>
            <a:picLocks noGrp="1" noChangeAspect="1"/>
          </p:cNvPicPr>
          <p:nvPr>
            <p:ph idx="1"/>
          </p:nvPr>
        </p:nvPicPr>
        <p:blipFill>
          <a:blip r:embed="rId2"/>
          <a:stretch>
            <a:fillRect/>
          </a:stretch>
        </p:blipFill>
        <p:spPr>
          <a:xfrm>
            <a:off x="957613" y="1580892"/>
            <a:ext cx="8630854" cy="3696216"/>
          </a:xfrm>
        </p:spPr>
      </p:pic>
      <p:sp>
        <p:nvSpPr>
          <p:cNvPr id="6" name="CuadroTexto 5">
            <a:extLst>
              <a:ext uri="{FF2B5EF4-FFF2-40B4-BE49-F238E27FC236}">
                <a16:creationId xmlns:a16="http://schemas.microsoft.com/office/drawing/2014/main" id="{C0D4E88F-58C5-5D27-F565-8C3DC308B672}"/>
              </a:ext>
            </a:extLst>
          </p:cNvPr>
          <p:cNvSpPr txBox="1"/>
          <p:nvPr/>
        </p:nvSpPr>
        <p:spPr>
          <a:xfrm>
            <a:off x="975360" y="5648960"/>
            <a:ext cx="8138160" cy="646331"/>
          </a:xfrm>
          <a:prstGeom prst="rect">
            <a:avLst/>
          </a:prstGeom>
          <a:noFill/>
        </p:spPr>
        <p:txBody>
          <a:bodyPr wrap="square" rtlCol="0">
            <a:spAutoFit/>
          </a:bodyPr>
          <a:lstStyle/>
          <a:p>
            <a:r>
              <a:rPr lang="es-MX" dirty="0"/>
              <a:t>En esta sección se da </a:t>
            </a:r>
            <a:r>
              <a:rPr lang="es-MX" dirty="0" err="1"/>
              <a:t>iniciode</a:t>
            </a:r>
            <a:r>
              <a:rPr lang="es-MX" dirty="0"/>
              <a:t> nuestro programa y en donde podremos interactuar con la interfaz ya al </a:t>
            </a:r>
            <a:r>
              <a:rPr lang="es-MX" dirty="0" err="1"/>
              <a:t>aver</a:t>
            </a:r>
            <a:r>
              <a:rPr lang="es-MX" dirty="0"/>
              <a:t> ejecutado sin errores</a:t>
            </a:r>
          </a:p>
        </p:txBody>
      </p:sp>
    </p:spTree>
    <p:extLst>
      <p:ext uri="{BB962C8B-B14F-4D97-AF65-F5344CB8AC3E}">
        <p14:creationId xmlns:p14="http://schemas.microsoft.com/office/powerpoint/2010/main" val="1831405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0D7243-DC87-949F-295A-3E77F4BA3F95}"/>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C1D5DE1F-EB4A-A223-1EA1-0DD6F7453D9E}"/>
              </a:ext>
            </a:extLst>
          </p:cNvPr>
          <p:cNvSpPr>
            <a:spLocks noGrp="1"/>
          </p:cNvSpPr>
          <p:nvPr>
            <p:ph idx="1"/>
          </p:nvPr>
        </p:nvSpPr>
        <p:spPr/>
        <p:txBody>
          <a:bodyPr/>
          <a:lstStyle/>
          <a:p>
            <a:pPr marL="0" indent="0" algn="just">
              <a:buNone/>
            </a:pPr>
            <a:r>
              <a:rPr lang="es-MX" dirty="0"/>
              <a:t>En conclusión, esta práctica permitió comprender de manera clara el proceso de análisis de código, desde la identificación de tokens hasta la validación de la estructura sintáctica. Se logró implementar un sistema funcional capaz de detectar errores y confirmar cuando una expresión es correcta. Este proyecto no solo refuerza los conocimientos teóricos, sino que también desarrolla habilidades prácticas en programación y lógica, siendo una base importante para futuros proyectos relacionados con compiladores y desarrollo de software.</a:t>
            </a:r>
          </a:p>
        </p:txBody>
      </p:sp>
    </p:spTree>
    <p:extLst>
      <p:ext uri="{BB962C8B-B14F-4D97-AF65-F5344CB8AC3E}">
        <p14:creationId xmlns:p14="http://schemas.microsoft.com/office/powerpoint/2010/main" val="196197117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878</Words>
  <Application>Microsoft Office PowerPoint</Application>
  <PresentationFormat>Panorámica</PresentationFormat>
  <Paragraphs>84</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Calibri Light</vt:lpstr>
      <vt:lpstr>Tema de Office</vt:lpstr>
      <vt:lpstr>Presentación de PowerPoint</vt:lpstr>
      <vt:lpstr>INTRODUCCION </vt:lpstr>
      <vt:lpstr>JUSTIFICACION</vt:lpstr>
      <vt:lpstr>1.Comenzamos con la creación de nuestro proyecto :</vt:lpstr>
      <vt:lpstr>2. Continuamos con la creación de nuestros paquetes y clases de las siguiente forma:</vt:lpstr>
      <vt:lpstr>3. Analizador controller partes escenciales:</vt:lpstr>
      <vt:lpstr>4. Seguimos con la gramatica</vt:lpstr>
      <vt:lpstr>5. Lexico</vt:lpstr>
      <vt:lpstr>6.Sintactico </vt:lpstr>
      <vt:lpstr>7. MainApplication</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2</cp:revision>
  <dcterms:created xsi:type="dcterms:W3CDTF">2026-03-27T03:58:30Z</dcterms:created>
  <dcterms:modified xsi:type="dcterms:W3CDTF">2026-03-27T04:54:57Z</dcterms:modified>
</cp:coreProperties>
</file>