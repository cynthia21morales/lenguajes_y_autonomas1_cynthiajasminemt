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sldIdLst>
    <p:sldId id="256" r:id="rId2"/>
    <p:sldId id="257" r:id="rId3"/>
    <p:sldId id="258" r:id="rId4"/>
    <p:sldId id="270" r:id="rId5"/>
    <p:sldId id="259" r:id="rId6"/>
    <p:sldId id="268" r:id="rId7"/>
    <p:sldId id="269" r:id="rId8"/>
    <p:sldId id="266"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780" autoAdjust="0"/>
    <p:restoredTop sz="94660"/>
  </p:normalViewPr>
  <p:slideViewPr>
    <p:cSldViewPr snapToGrid="0">
      <p:cViewPr>
        <p:scale>
          <a:sx n="75" d="100"/>
          <a:sy n="75" d="100"/>
        </p:scale>
        <p:origin x="619" y="1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B7A6475-605B-48B5-9EC0-B8F15175C777}" type="datetimeFigureOut">
              <a:rPr lang="es-MX" smtClean="0"/>
              <a:t>16/03/2026</a:t>
            </a:fld>
            <a:endParaRPr lang="es-MX"/>
          </a:p>
        </p:txBody>
      </p:sp>
      <p:sp>
        <p:nvSpPr>
          <p:cNvPr id="5" name="Footer Placeholder 4"/>
          <p:cNvSpPr>
            <a:spLocks noGrp="1"/>
          </p:cNvSpPr>
          <p:nvPr>
            <p:ph type="ftr" sz="quarter" idx="11"/>
          </p:nvPr>
        </p:nvSpPr>
        <p:spPr/>
        <p:txBody>
          <a:bodyPr/>
          <a:lstStyle/>
          <a:p>
            <a:endParaRPr lang="es-MX"/>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AD6CF54-55E7-4971-A2F9-680D05A85056}" type="slidenum">
              <a:rPr lang="es-MX" smtClean="0"/>
              <a:t>‹Nº›</a:t>
            </a:fld>
            <a:endParaRPr lang="es-MX"/>
          </a:p>
        </p:txBody>
      </p:sp>
    </p:spTree>
    <p:extLst>
      <p:ext uri="{BB962C8B-B14F-4D97-AF65-F5344CB8AC3E}">
        <p14:creationId xmlns:p14="http://schemas.microsoft.com/office/powerpoint/2010/main" val="3236955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B7A6475-605B-48B5-9EC0-B8F15175C777}" type="datetimeFigureOut">
              <a:rPr lang="es-MX" smtClean="0"/>
              <a:t>16/03/2026</a:t>
            </a:fld>
            <a:endParaRPr lang="es-MX"/>
          </a:p>
        </p:txBody>
      </p:sp>
      <p:sp>
        <p:nvSpPr>
          <p:cNvPr id="5" name="Footer Placeholder 4"/>
          <p:cNvSpPr>
            <a:spLocks noGrp="1"/>
          </p:cNvSpPr>
          <p:nvPr>
            <p:ph type="ftr" sz="quarter" idx="11"/>
          </p:nvPr>
        </p:nvSpPr>
        <p:spPr/>
        <p:txBody>
          <a:bodyPr/>
          <a:lstStyle/>
          <a:p>
            <a:endParaRPr lang="es-MX"/>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AD6CF54-55E7-4971-A2F9-680D05A85056}" type="slidenum">
              <a:rPr lang="es-MX" smtClean="0"/>
              <a:t>‹Nº›</a:t>
            </a:fld>
            <a:endParaRPr lang="es-MX"/>
          </a:p>
        </p:txBody>
      </p:sp>
    </p:spTree>
    <p:extLst>
      <p:ext uri="{BB962C8B-B14F-4D97-AF65-F5344CB8AC3E}">
        <p14:creationId xmlns:p14="http://schemas.microsoft.com/office/powerpoint/2010/main" val="3599270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B7A6475-605B-48B5-9EC0-B8F15175C777}" type="datetimeFigureOut">
              <a:rPr lang="es-MX" smtClean="0"/>
              <a:t>16/03/2026</a:t>
            </a:fld>
            <a:endParaRPr lang="es-MX"/>
          </a:p>
        </p:txBody>
      </p:sp>
      <p:sp>
        <p:nvSpPr>
          <p:cNvPr id="5" name="Footer Placeholder 4"/>
          <p:cNvSpPr>
            <a:spLocks noGrp="1"/>
          </p:cNvSpPr>
          <p:nvPr>
            <p:ph type="ftr" sz="quarter" idx="11"/>
          </p:nvPr>
        </p:nvSpPr>
        <p:spPr/>
        <p:txBody>
          <a:bodyPr/>
          <a:lstStyle/>
          <a:p>
            <a:endParaRPr lang="es-MX"/>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AD6CF54-55E7-4971-A2F9-680D05A85056}" type="slidenum">
              <a:rPr lang="es-MX" smtClean="0"/>
              <a:t>‹Nº›</a:t>
            </a:fld>
            <a:endParaRPr lang="es-MX"/>
          </a:p>
        </p:txBody>
      </p:sp>
    </p:spTree>
    <p:extLst>
      <p:ext uri="{BB962C8B-B14F-4D97-AF65-F5344CB8AC3E}">
        <p14:creationId xmlns:p14="http://schemas.microsoft.com/office/powerpoint/2010/main" val="1179789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B7A6475-605B-48B5-9EC0-B8F15175C777}" type="datetimeFigureOut">
              <a:rPr lang="es-MX" smtClean="0"/>
              <a:t>16/03/2026</a:t>
            </a:fld>
            <a:endParaRPr lang="es-MX"/>
          </a:p>
        </p:txBody>
      </p:sp>
      <p:sp>
        <p:nvSpPr>
          <p:cNvPr id="6" name="Footer Placeholder 5"/>
          <p:cNvSpPr>
            <a:spLocks noGrp="1"/>
          </p:cNvSpPr>
          <p:nvPr>
            <p:ph type="ftr" sz="quarter" idx="11"/>
          </p:nvPr>
        </p:nvSpPr>
        <p:spPr/>
        <p:txBody>
          <a:bodyPr/>
          <a:lstStyle/>
          <a:p>
            <a:endParaRPr lang="es-MX"/>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AD6CF54-55E7-4971-A2F9-680D05A85056}" type="slidenum">
              <a:rPr lang="es-MX" smtClean="0"/>
              <a:t>‹Nº›</a:t>
            </a:fld>
            <a:endParaRPr lang="es-MX"/>
          </a:p>
        </p:txBody>
      </p:sp>
    </p:spTree>
    <p:extLst>
      <p:ext uri="{BB962C8B-B14F-4D97-AF65-F5344CB8AC3E}">
        <p14:creationId xmlns:p14="http://schemas.microsoft.com/office/powerpoint/2010/main" val="1349391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B7A6475-605B-48B5-9EC0-B8F15175C777}" type="datetimeFigureOut">
              <a:rPr lang="es-MX" smtClean="0"/>
              <a:t>16/03/2026</a:t>
            </a:fld>
            <a:endParaRPr lang="es-MX"/>
          </a:p>
        </p:txBody>
      </p:sp>
      <p:sp>
        <p:nvSpPr>
          <p:cNvPr id="8" name="Footer Placeholder 7"/>
          <p:cNvSpPr>
            <a:spLocks noGrp="1"/>
          </p:cNvSpPr>
          <p:nvPr>
            <p:ph type="ftr" sz="quarter" idx="11"/>
          </p:nvPr>
        </p:nvSpPr>
        <p:spPr/>
        <p:txBody>
          <a:bodyPr/>
          <a:lstStyle/>
          <a:p>
            <a:endParaRPr lang="es-MX"/>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AD6CF54-55E7-4971-A2F9-680D05A85056}" type="slidenum">
              <a:rPr lang="es-MX" smtClean="0"/>
              <a:t>‹Nº›</a:t>
            </a:fld>
            <a:endParaRPr lang="es-MX"/>
          </a:p>
        </p:txBody>
      </p:sp>
    </p:spTree>
    <p:extLst>
      <p:ext uri="{BB962C8B-B14F-4D97-AF65-F5344CB8AC3E}">
        <p14:creationId xmlns:p14="http://schemas.microsoft.com/office/powerpoint/2010/main" val="2682021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B7A6475-605B-48B5-9EC0-B8F15175C777}" type="datetimeFigureOut">
              <a:rPr lang="es-MX" smtClean="0"/>
              <a:t>16/03/2026</a:t>
            </a:fld>
            <a:endParaRPr lang="es-MX"/>
          </a:p>
        </p:txBody>
      </p:sp>
      <p:sp>
        <p:nvSpPr>
          <p:cNvPr id="4" name="Footer Placeholder 3"/>
          <p:cNvSpPr>
            <a:spLocks noGrp="1"/>
          </p:cNvSpPr>
          <p:nvPr>
            <p:ph type="ftr" sz="quarter" idx="11"/>
          </p:nvPr>
        </p:nvSpPr>
        <p:spPr/>
        <p:txBody>
          <a:bodyPr/>
          <a:lstStyle/>
          <a:p>
            <a:endParaRPr lang="es-MX"/>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AD6CF54-55E7-4971-A2F9-680D05A85056}" type="slidenum">
              <a:rPr lang="es-MX" smtClean="0"/>
              <a:t>‹Nº›</a:t>
            </a:fld>
            <a:endParaRPr lang="es-MX"/>
          </a:p>
        </p:txBody>
      </p:sp>
    </p:spTree>
    <p:extLst>
      <p:ext uri="{BB962C8B-B14F-4D97-AF65-F5344CB8AC3E}">
        <p14:creationId xmlns:p14="http://schemas.microsoft.com/office/powerpoint/2010/main" val="3240672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7A6475-605B-48B5-9EC0-B8F15175C777}" type="datetimeFigureOut">
              <a:rPr lang="es-MX" smtClean="0"/>
              <a:t>16/03/2026</a:t>
            </a:fld>
            <a:endParaRPr lang="es-MX"/>
          </a:p>
        </p:txBody>
      </p:sp>
      <p:sp>
        <p:nvSpPr>
          <p:cNvPr id="3" name="Footer Placeholder 2"/>
          <p:cNvSpPr>
            <a:spLocks noGrp="1"/>
          </p:cNvSpPr>
          <p:nvPr>
            <p:ph type="ftr" sz="quarter" idx="11"/>
          </p:nvPr>
        </p:nvSpPr>
        <p:spPr/>
        <p:txBody>
          <a:bodyPr/>
          <a:lstStyle/>
          <a:p>
            <a:endParaRPr lang="es-MX"/>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AD6CF54-55E7-4971-A2F9-680D05A85056}" type="slidenum">
              <a:rPr lang="es-MX" smtClean="0"/>
              <a:t>‹Nº›</a:t>
            </a:fld>
            <a:endParaRPr lang="es-MX"/>
          </a:p>
        </p:txBody>
      </p:sp>
    </p:spTree>
    <p:extLst>
      <p:ext uri="{BB962C8B-B14F-4D97-AF65-F5344CB8AC3E}">
        <p14:creationId xmlns:p14="http://schemas.microsoft.com/office/powerpoint/2010/main" val="293457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B7A6475-605B-48B5-9EC0-B8F15175C777}" type="datetimeFigureOut">
              <a:rPr lang="es-MX" smtClean="0"/>
              <a:t>16/03/2026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AD6CF54-55E7-4971-A2F9-680D05A85056}" type="slidenum">
              <a:rPr lang="es-MX" smtClean="0"/>
              <a:t>‹Nº›</a:t>
            </a:fld>
            <a:endParaRPr lang="es-MX"/>
          </a:p>
        </p:txBody>
      </p:sp>
    </p:spTree>
    <p:extLst>
      <p:ext uri="{BB962C8B-B14F-4D97-AF65-F5344CB8AC3E}">
        <p14:creationId xmlns:p14="http://schemas.microsoft.com/office/powerpoint/2010/main" val="1326359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B7A6475-605B-48B5-9EC0-B8F15175C777}" type="datetimeFigureOut">
              <a:rPr lang="es-MX" smtClean="0"/>
              <a:t>16/03/2026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AD6CF54-55E7-4971-A2F9-680D05A85056}" type="slidenum">
              <a:rPr lang="es-MX" smtClean="0"/>
              <a:t>‹Nº›</a:t>
            </a:fld>
            <a:endParaRPr lang="es-MX"/>
          </a:p>
        </p:txBody>
      </p:sp>
    </p:spTree>
    <p:extLst>
      <p:ext uri="{BB962C8B-B14F-4D97-AF65-F5344CB8AC3E}">
        <p14:creationId xmlns:p14="http://schemas.microsoft.com/office/powerpoint/2010/main" val="1498488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B7A6475-605B-48B5-9EC0-B8F15175C777}" type="datetimeFigureOut">
              <a:rPr lang="es-MX" smtClean="0"/>
              <a:t>16/03/2026</a:t>
            </a:fld>
            <a:endParaRPr lang="es-MX"/>
          </a:p>
        </p:txBody>
      </p:sp>
      <p:sp>
        <p:nvSpPr>
          <p:cNvPr id="5" name="Footer Placeholder 4"/>
          <p:cNvSpPr>
            <a:spLocks noGrp="1"/>
          </p:cNvSpPr>
          <p:nvPr>
            <p:ph type="ftr" sz="quarter" idx="11"/>
          </p:nvPr>
        </p:nvSpPr>
        <p:spPr/>
        <p:txBody>
          <a:bodyPr/>
          <a:lstStyle/>
          <a:p>
            <a:endParaRPr lang="es-MX"/>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AD6CF54-55E7-4971-A2F9-680D05A85056}" type="slidenum">
              <a:rPr lang="es-MX" smtClean="0"/>
              <a:t>‹Nº›</a:t>
            </a:fld>
            <a:endParaRPr lang="es-MX"/>
          </a:p>
        </p:txBody>
      </p:sp>
    </p:spTree>
    <p:extLst>
      <p:ext uri="{BB962C8B-B14F-4D97-AF65-F5344CB8AC3E}">
        <p14:creationId xmlns:p14="http://schemas.microsoft.com/office/powerpoint/2010/main" val="3937242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B7A6475-605B-48B5-9EC0-B8F15175C777}" type="datetimeFigureOut">
              <a:rPr lang="es-MX" smtClean="0"/>
              <a:t>16/03/2026</a:t>
            </a:fld>
            <a:endParaRPr lang="es-MX"/>
          </a:p>
        </p:txBody>
      </p:sp>
      <p:sp>
        <p:nvSpPr>
          <p:cNvPr id="5" name="Footer Placeholder 4"/>
          <p:cNvSpPr>
            <a:spLocks noGrp="1"/>
          </p:cNvSpPr>
          <p:nvPr>
            <p:ph type="ftr" sz="quarter" idx="11"/>
          </p:nvPr>
        </p:nvSpPr>
        <p:spPr/>
        <p:txBody>
          <a:bodyPr/>
          <a:lstStyle/>
          <a:p>
            <a:endParaRPr lang="es-MX"/>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AD6CF54-55E7-4971-A2F9-680D05A85056}" type="slidenum">
              <a:rPr lang="es-MX" smtClean="0"/>
              <a:t>‹Nº›</a:t>
            </a:fld>
            <a:endParaRPr lang="es-MX"/>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485715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8B7A6475-605B-48B5-9EC0-B8F15175C777}" type="datetimeFigureOut">
              <a:rPr lang="es-MX" smtClean="0"/>
              <a:t>16/03/2026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AD6CF54-55E7-4971-A2F9-680D05A85056}" type="slidenum">
              <a:rPr lang="es-MX" smtClean="0"/>
              <a:t>‹Nº›</a:t>
            </a:fld>
            <a:endParaRPr lang="es-MX"/>
          </a:p>
        </p:txBody>
      </p:sp>
    </p:spTree>
    <p:extLst>
      <p:ext uri="{BB962C8B-B14F-4D97-AF65-F5344CB8AC3E}">
        <p14:creationId xmlns:p14="http://schemas.microsoft.com/office/powerpoint/2010/main" val="42013234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8B7A6475-605B-48B5-9EC0-B8F15175C777}" type="datetimeFigureOut">
              <a:rPr lang="es-MX" smtClean="0"/>
              <a:t>16/03/2026</a:t>
            </a:fld>
            <a:endParaRPr lang="es-MX"/>
          </a:p>
        </p:txBody>
      </p:sp>
      <p:sp>
        <p:nvSpPr>
          <p:cNvPr id="6" name="Footer Placeholder 5"/>
          <p:cNvSpPr>
            <a:spLocks noGrp="1"/>
          </p:cNvSpPr>
          <p:nvPr>
            <p:ph type="ftr" sz="quarter" idx="11"/>
          </p:nvPr>
        </p:nvSpPr>
        <p:spPr/>
        <p:txBody>
          <a:bodyPr/>
          <a:lstStyle/>
          <a:p>
            <a:endParaRPr lang="es-MX"/>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AD6CF54-55E7-4971-A2F9-680D05A85056}" type="slidenum">
              <a:rPr lang="es-MX" smtClean="0"/>
              <a:t>‹Nº›</a:t>
            </a:fld>
            <a:endParaRPr lang="es-MX"/>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83024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8B7A6475-605B-48B5-9EC0-B8F15175C777}" type="datetimeFigureOut">
              <a:rPr lang="es-MX" smtClean="0"/>
              <a:t>16/03/2026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AD6CF54-55E7-4971-A2F9-680D05A85056}" type="slidenum">
              <a:rPr lang="es-MX" smtClean="0"/>
              <a:t>‹Nº›</a:t>
            </a:fld>
            <a:endParaRPr lang="es-MX"/>
          </a:p>
        </p:txBody>
      </p:sp>
    </p:spTree>
    <p:extLst>
      <p:ext uri="{BB962C8B-B14F-4D97-AF65-F5344CB8AC3E}">
        <p14:creationId xmlns:p14="http://schemas.microsoft.com/office/powerpoint/2010/main" val="1717793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B7A6475-605B-48B5-9EC0-B8F15175C777}" type="datetimeFigureOut">
              <a:rPr lang="es-MX" smtClean="0"/>
              <a:t>16/03/2026</a:t>
            </a:fld>
            <a:endParaRPr lang="es-MX"/>
          </a:p>
        </p:txBody>
      </p:sp>
      <p:sp>
        <p:nvSpPr>
          <p:cNvPr id="5" name="Footer Placeholder 4"/>
          <p:cNvSpPr>
            <a:spLocks noGrp="1"/>
          </p:cNvSpPr>
          <p:nvPr>
            <p:ph type="ftr" sz="quarter" idx="11"/>
          </p:nvPr>
        </p:nvSpPr>
        <p:spPr/>
        <p:txBody>
          <a:bodyPr/>
          <a:lstStyle/>
          <a:p>
            <a:endParaRPr lang="es-MX"/>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AD6CF54-55E7-4971-A2F9-680D05A85056}" type="slidenum">
              <a:rPr lang="es-MX" smtClean="0"/>
              <a:t>‹Nº›</a:t>
            </a:fld>
            <a:endParaRPr lang="es-MX"/>
          </a:p>
        </p:txBody>
      </p:sp>
    </p:spTree>
    <p:extLst>
      <p:ext uri="{BB962C8B-B14F-4D97-AF65-F5344CB8AC3E}">
        <p14:creationId xmlns:p14="http://schemas.microsoft.com/office/powerpoint/2010/main" val="32219173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B7A6475-605B-48B5-9EC0-B8F15175C777}" type="datetimeFigureOut">
              <a:rPr lang="es-MX" smtClean="0"/>
              <a:t>16/03/2026</a:t>
            </a:fld>
            <a:endParaRPr lang="es-MX"/>
          </a:p>
        </p:txBody>
      </p:sp>
      <p:sp>
        <p:nvSpPr>
          <p:cNvPr id="5" name="Footer Placeholder 4"/>
          <p:cNvSpPr>
            <a:spLocks noGrp="1"/>
          </p:cNvSpPr>
          <p:nvPr>
            <p:ph type="ftr" sz="quarter" idx="11"/>
          </p:nvPr>
        </p:nvSpPr>
        <p:spPr/>
        <p:txBody>
          <a:bodyPr/>
          <a:lstStyle/>
          <a:p>
            <a:endParaRPr lang="es-MX"/>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AD6CF54-55E7-4971-A2F9-680D05A85056}" type="slidenum">
              <a:rPr lang="es-MX" smtClean="0"/>
              <a:t>‹Nº›</a:t>
            </a:fld>
            <a:endParaRPr lang="es-MX"/>
          </a:p>
        </p:txBody>
      </p:sp>
    </p:spTree>
    <p:extLst>
      <p:ext uri="{BB962C8B-B14F-4D97-AF65-F5344CB8AC3E}">
        <p14:creationId xmlns:p14="http://schemas.microsoft.com/office/powerpoint/2010/main" val="1871209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B7A6475-605B-48B5-9EC0-B8F15175C777}" type="datetimeFigureOut">
              <a:rPr lang="es-MX" smtClean="0"/>
              <a:t>16/03/2026</a:t>
            </a:fld>
            <a:endParaRPr lang="es-MX"/>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MX"/>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AD6CF54-55E7-4971-A2F9-680D05A85056}" type="slidenum">
              <a:rPr lang="es-MX" smtClean="0"/>
              <a:t>‹Nº›</a:t>
            </a:fld>
            <a:endParaRPr lang="es-MX"/>
          </a:p>
        </p:txBody>
      </p:sp>
    </p:spTree>
    <p:extLst>
      <p:ext uri="{BB962C8B-B14F-4D97-AF65-F5344CB8AC3E}">
        <p14:creationId xmlns:p14="http://schemas.microsoft.com/office/powerpoint/2010/main" val="1754478932"/>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DA17EC6-CC7B-AF2B-4DD2-B3E58152C4B8}"/>
              </a:ext>
            </a:extLst>
          </p:cNvPr>
          <p:cNvSpPr txBox="1"/>
          <p:nvPr/>
        </p:nvSpPr>
        <p:spPr>
          <a:xfrm>
            <a:off x="1171575" y="1933422"/>
            <a:ext cx="4622292" cy="3159904"/>
          </a:xfrm>
          <a:prstGeom prst="rect">
            <a:avLst/>
          </a:prstGeom>
          <a:noFill/>
        </p:spPr>
        <p:txBody>
          <a:bodyPr wrap="square">
            <a:spAutoFit/>
          </a:bodyPr>
          <a:lstStyle/>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Nombre del alumno: </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Cynthia Jasmine Morales Torres</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Numero de control</a:t>
            </a:r>
            <a:r>
              <a:rPr lang="es-MX" dirty="0">
                <a:latin typeface="Arial" panose="020B0604020202020204" pitchFamily="34" charset="0"/>
                <a:ea typeface="Calibri" panose="020F0502020204030204" pitchFamily="34" charset="0"/>
                <a:cs typeface="Arial" panose="020B0604020202020204" pitchFamily="34" charset="0"/>
              </a:rPr>
              <a:t>:</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231260014</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Semestre: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Sexto semestre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Especialidad:</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Ingeniería en Sistemas Computacionales.</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972D1C82-FD08-09E7-858B-368DAE4F280E}"/>
              </a:ext>
            </a:extLst>
          </p:cNvPr>
          <p:cNvSpPr txBox="1"/>
          <p:nvPr/>
        </p:nvSpPr>
        <p:spPr>
          <a:xfrm>
            <a:off x="6039612" y="1961844"/>
            <a:ext cx="6099048" cy="3159904"/>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Nombre del docente: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Ing. Francisco Javier Mingo Velázquez</a:t>
            </a:r>
          </a:p>
          <a:p>
            <a:pPr algn="ctr">
              <a:lnSpc>
                <a:spcPct val="107000"/>
              </a:lnSpc>
              <a:spcAft>
                <a:spcPts val="800"/>
              </a:spcAft>
            </a:pPr>
            <a:r>
              <a:rPr lang="es-MX" b="1" dirty="0">
                <a:effectLst/>
                <a:latin typeface="Arial" panose="020B0604020202020204" pitchFamily="34" charset="0"/>
                <a:ea typeface="Calibri" panose="020F0502020204030204" pitchFamily="34" charset="0"/>
                <a:cs typeface="Arial" panose="020B0604020202020204" pitchFamily="34" charset="0"/>
              </a:rPr>
              <a:t>Materia: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effectLst/>
                <a:latin typeface="Arial" panose="020B0604020202020204" pitchFamily="34" charset="0"/>
                <a:ea typeface="Calibri" panose="020F0502020204030204" pitchFamily="34" charset="0"/>
                <a:cs typeface="Arial" panose="020B0604020202020204" pitchFamily="34" charset="0"/>
              </a:rPr>
              <a:t>Lenguajes y Autómatas 1</a:t>
            </a:r>
            <a:endParaRPr lang="es-MX"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Nombre del trabajo:</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3</a:t>
            </a:r>
            <a:r>
              <a:rPr lang="es-MX" sz="1800" dirty="0">
                <a:effectLst/>
                <a:latin typeface="Arial" panose="020B0604020202020204" pitchFamily="34" charset="0"/>
                <a:ea typeface="Calibri" panose="020F0502020204030204" pitchFamily="34" charset="0"/>
                <a:cs typeface="Arial" panose="020B0604020202020204" pitchFamily="34" charset="0"/>
              </a:rPr>
              <a:t>.2 Reporte de Practica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Fecha de entrega:</a:t>
            </a:r>
          </a:p>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25/02/2026</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9" name="CuadroTexto 8">
            <a:extLst>
              <a:ext uri="{FF2B5EF4-FFF2-40B4-BE49-F238E27FC236}">
                <a16:creationId xmlns:a16="http://schemas.microsoft.com/office/drawing/2014/main" id="{E48EEED6-BB25-2650-73ED-595C36FACD8E}"/>
              </a:ext>
            </a:extLst>
          </p:cNvPr>
          <p:cNvSpPr txBox="1"/>
          <p:nvPr/>
        </p:nvSpPr>
        <p:spPr>
          <a:xfrm>
            <a:off x="3046476" y="5423776"/>
            <a:ext cx="6099048" cy="766172"/>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Frontera Comalapa, Chiapas. A 25 de Febrero del 2026.</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1" name="CuadroTexto 10">
            <a:extLst>
              <a:ext uri="{FF2B5EF4-FFF2-40B4-BE49-F238E27FC236}">
                <a16:creationId xmlns:a16="http://schemas.microsoft.com/office/drawing/2014/main" id="{0A7C7014-1F48-BF58-2172-DE1950DA5209}"/>
              </a:ext>
            </a:extLst>
          </p:cNvPr>
          <p:cNvSpPr txBox="1"/>
          <p:nvPr/>
        </p:nvSpPr>
        <p:spPr>
          <a:xfrm>
            <a:off x="2990088" y="836800"/>
            <a:ext cx="6099048" cy="766172"/>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Instituto Tecnológico de Frontera Comalapa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Modalidad Mixta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grpSp>
        <p:nvGrpSpPr>
          <p:cNvPr id="12" name="Grupo 11">
            <a:extLst>
              <a:ext uri="{FF2B5EF4-FFF2-40B4-BE49-F238E27FC236}">
                <a16:creationId xmlns:a16="http://schemas.microsoft.com/office/drawing/2014/main" id="{CEDD0DEE-A8A9-E8F6-8843-CC9A6768280D}"/>
              </a:ext>
            </a:extLst>
          </p:cNvPr>
          <p:cNvGrpSpPr/>
          <p:nvPr/>
        </p:nvGrpSpPr>
        <p:grpSpPr>
          <a:xfrm>
            <a:off x="2860812" y="132537"/>
            <a:ext cx="6357600" cy="637319"/>
            <a:chOff x="0" y="0"/>
            <a:chExt cx="5454045" cy="554990"/>
          </a:xfrm>
        </p:grpSpPr>
        <p:pic>
          <p:nvPicPr>
            <p:cNvPr id="13" name="Imagen 12">
              <a:extLst>
                <a:ext uri="{FF2B5EF4-FFF2-40B4-BE49-F238E27FC236}">
                  <a16:creationId xmlns:a16="http://schemas.microsoft.com/office/drawing/2014/main" id="{21A35753-4A7F-DA90-523E-17E386C81476}"/>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0" b="100000" l="0" r="98790">
                          <a14:foregroundMark x1="69758" y1="22660" x2="69758" y2="22660"/>
                          <a14:foregroundMark x1="74194" y1="18227" x2="74194" y2="18227"/>
                          <a14:foregroundMark x1="84274" y1="16256" x2="84274" y2="16256"/>
                          <a14:foregroundMark x1="92339" y1="19704" x2="92339" y2="19704"/>
                          <a14:foregroundMark x1="95968" y1="25123" x2="95968" y2="25123"/>
                          <a14:foregroundMark x1="90323" y1="27094" x2="90323" y2="27094"/>
                          <a14:foregroundMark x1="80645" y1="21182" x2="80645" y2="21182"/>
                          <a14:foregroundMark x1="75806" y1="30542" x2="75806" y2="30542"/>
                          <a14:foregroundMark x1="75806" y1="36946" x2="75806" y2="36946"/>
                          <a14:foregroundMark x1="80242" y1="36453" x2="80242" y2="36453"/>
                          <a14:foregroundMark x1="80645" y1="30542" x2="80645" y2="30542"/>
                          <a14:foregroundMark x1="84677" y1="30049" x2="84677" y2="30049"/>
                          <a14:foregroundMark x1="84677" y1="36946" x2="84677" y2="36946"/>
                          <a14:foregroundMark x1="75403" y1="42857" x2="75403" y2="42857"/>
                          <a14:foregroundMark x1="81048" y1="46305" x2="81048" y2="46305"/>
                          <a14:foregroundMark x1="70161" y1="52217" x2="70161" y2="52217"/>
                          <a14:foregroundMark x1="77419" y1="51724" x2="77419" y2="51724"/>
                          <a14:foregroundMark x1="81452" y1="52217" x2="81452" y2="52217"/>
                          <a14:foregroundMark x1="85484" y1="51232" x2="85484" y2="51232"/>
                          <a14:foregroundMark x1="90323" y1="42365" x2="90323" y2="42365"/>
                        </a14:backgroundRemoval>
                      </a14:imgEffect>
                    </a14:imgLayer>
                  </a14:imgProps>
                </a:ext>
                <a:ext uri="{28A0092B-C50C-407E-A947-70E740481C1C}">
                  <a14:useLocalDpi xmlns:a14="http://schemas.microsoft.com/office/drawing/2010/main" val="0"/>
                </a:ext>
              </a:extLst>
            </a:blip>
            <a:srcRect b="29873"/>
            <a:stretch/>
          </p:blipFill>
          <p:spPr bwMode="auto">
            <a:xfrm>
              <a:off x="4486940" y="0"/>
              <a:ext cx="967105" cy="554990"/>
            </a:xfrm>
            <a:prstGeom prst="rect">
              <a:avLst/>
            </a:prstGeom>
            <a:ln>
              <a:noFill/>
            </a:ln>
            <a:extLst>
              <a:ext uri="{53640926-AAD7-44D8-BBD7-CCE9431645EC}">
                <a14:shadowObscured xmlns:a14="http://schemas.microsoft.com/office/drawing/2010/main"/>
              </a:ext>
            </a:extLst>
          </p:spPr>
        </p:pic>
        <p:pic>
          <p:nvPicPr>
            <p:cNvPr id="14" name="Imagen 13">
              <a:extLst>
                <a:ext uri="{FF2B5EF4-FFF2-40B4-BE49-F238E27FC236}">
                  <a16:creationId xmlns:a16="http://schemas.microsoft.com/office/drawing/2014/main" id="{54EA99B7-C4CD-89D9-C1F7-CF6F0D973E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3442" y="0"/>
              <a:ext cx="1221740" cy="539115"/>
            </a:xfrm>
            <a:prstGeom prst="rect">
              <a:avLst/>
            </a:prstGeom>
          </p:spPr>
        </p:pic>
        <p:pic>
          <p:nvPicPr>
            <p:cNvPr id="15" name="Imagen 14">
              <a:extLst>
                <a:ext uri="{FF2B5EF4-FFF2-40B4-BE49-F238E27FC236}">
                  <a16:creationId xmlns:a16="http://schemas.microsoft.com/office/drawing/2014/main" id="{3C80BC28-6AD2-FEA9-193B-C360A0E4F0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615565" cy="541655"/>
            </a:xfrm>
            <a:prstGeom prst="rect">
              <a:avLst/>
            </a:prstGeom>
          </p:spPr>
        </p:pic>
        <p:cxnSp>
          <p:nvCxnSpPr>
            <p:cNvPr id="16" name="Conector recto 15">
              <a:extLst>
                <a:ext uri="{FF2B5EF4-FFF2-40B4-BE49-F238E27FC236}">
                  <a16:creationId xmlns:a16="http://schemas.microsoft.com/office/drawing/2014/main" id="{66DDA9BB-9EBF-0EA6-6D08-D6ACBABE67CD}"/>
                </a:ext>
              </a:extLst>
            </p:cNvPr>
            <p:cNvCxnSpPr/>
            <p:nvPr/>
          </p:nvCxnSpPr>
          <p:spPr>
            <a:xfrm>
              <a:off x="2849526" y="53163"/>
              <a:ext cx="0" cy="435935"/>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760277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0F2B81-287D-56FD-5144-0A32AAC9CE3D}"/>
              </a:ext>
            </a:extLst>
          </p:cNvPr>
          <p:cNvSpPr>
            <a:spLocks noGrp="1"/>
          </p:cNvSpPr>
          <p:nvPr>
            <p:ph type="title"/>
          </p:nvPr>
        </p:nvSpPr>
        <p:spPr/>
        <p:txBody>
          <a:bodyPr/>
          <a:lstStyle/>
          <a:p>
            <a:r>
              <a:rPr lang="es-MX" dirty="0"/>
              <a:t>introducción</a:t>
            </a:r>
          </a:p>
        </p:txBody>
      </p:sp>
      <p:sp>
        <p:nvSpPr>
          <p:cNvPr id="3" name="Marcador de contenido 2">
            <a:extLst>
              <a:ext uri="{FF2B5EF4-FFF2-40B4-BE49-F238E27FC236}">
                <a16:creationId xmlns:a16="http://schemas.microsoft.com/office/drawing/2014/main" id="{EF00EBA7-152F-4158-4600-EB670189C748}"/>
              </a:ext>
            </a:extLst>
          </p:cNvPr>
          <p:cNvSpPr>
            <a:spLocks noGrp="1"/>
          </p:cNvSpPr>
          <p:nvPr>
            <p:ph idx="1"/>
          </p:nvPr>
        </p:nvSpPr>
        <p:spPr/>
        <p:txBody>
          <a:bodyPr>
            <a:normAutofit fontScale="85000" lnSpcReduction="10000"/>
          </a:bodyPr>
          <a:lstStyle/>
          <a:p>
            <a:pPr algn="just"/>
            <a:r>
              <a:rPr lang="es-MX" dirty="0"/>
              <a:t>En el área de la Teoría de Autómatas, los autómatas finitos son modelos matemáticos utilizados para representar y analizar el comportamiento de sistemas computacionales que procesan cadenas de símbolos. Estos modelos permiten estudiar formalmente cómo una máquina reconoce ciertos patrones o lenguajes dentro de un alfabeto determinado.</a:t>
            </a:r>
          </a:p>
          <a:p>
            <a:pPr algn="just"/>
            <a:r>
              <a:rPr lang="es-MX" dirty="0"/>
              <a:t>Entre los conceptos fundamentales se encuentran la </a:t>
            </a:r>
            <a:r>
              <a:rPr lang="es-MX" b="1" dirty="0"/>
              <a:t>conversión de un Autómata Finito No Determinista (AFND) a un Autómata Finito Determinista (AFD)</a:t>
            </a:r>
            <a:r>
              <a:rPr lang="es-MX" dirty="0"/>
              <a:t>, la </a:t>
            </a:r>
            <a:r>
              <a:rPr lang="es-MX" b="1" dirty="0"/>
              <a:t>representación de expresiones regulares mediante autómatas finitos no deterministas</a:t>
            </a:r>
            <a:r>
              <a:rPr lang="es-MX" dirty="0"/>
              <a:t>, y la </a:t>
            </a:r>
            <a:r>
              <a:rPr lang="es-MX" b="1" dirty="0"/>
              <a:t>minimización de estados en un autómata finito</a:t>
            </a:r>
            <a:r>
              <a:rPr lang="es-MX" dirty="0"/>
              <a:t>. Estos procesos son esenciales para optimizar y simplificar los modelos de reconocimiento de lenguajes, permitiendo que los sistemas computacionales sean más eficientes en el análisis de cadenas.</a:t>
            </a:r>
          </a:p>
          <a:p>
            <a:pPr algn="just"/>
            <a:r>
              <a:rPr lang="es-MX" dirty="0"/>
              <a:t>Además, estas técnicas tienen aplicaciones importantes en áreas como los compiladores, los analizadores léxicos, el procesamiento de texto y el diseño de software. Herramientas como JFLAP facilitan la comprensión y aplicación práctica de estos conceptos al permitir visualizar y construir autómatas de forma interactiva.</a:t>
            </a:r>
          </a:p>
        </p:txBody>
      </p:sp>
    </p:spTree>
    <p:extLst>
      <p:ext uri="{BB962C8B-B14F-4D97-AF65-F5344CB8AC3E}">
        <p14:creationId xmlns:p14="http://schemas.microsoft.com/office/powerpoint/2010/main" val="809564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7C62BC-94CD-28B0-E6A7-8FCFC23031EC}"/>
              </a:ext>
            </a:extLst>
          </p:cNvPr>
          <p:cNvSpPr>
            <a:spLocks noGrp="1"/>
          </p:cNvSpPr>
          <p:nvPr>
            <p:ph type="title"/>
          </p:nvPr>
        </p:nvSpPr>
        <p:spPr/>
        <p:txBody>
          <a:bodyPr/>
          <a:lstStyle/>
          <a:p>
            <a:r>
              <a:rPr lang="es-MX" dirty="0"/>
              <a:t>justificación</a:t>
            </a:r>
          </a:p>
        </p:txBody>
      </p:sp>
      <p:sp>
        <p:nvSpPr>
          <p:cNvPr id="3" name="Marcador de contenido 2">
            <a:extLst>
              <a:ext uri="{FF2B5EF4-FFF2-40B4-BE49-F238E27FC236}">
                <a16:creationId xmlns:a16="http://schemas.microsoft.com/office/drawing/2014/main" id="{3E8B62F9-E916-3135-0DE0-DA66D440BD76}"/>
              </a:ext>
            </a:extLst>
          </p:cNvPr>
          <p:cNvSpPr>
            <a:spLocks noGrp="1"/>
          </p:cNvSpPr>
          <p:nvPr>
            <p:ph idx="1"/>
          </p:nvPr>
        </p:nvSpPr>
        <p:spPr/>
        <p:txBody>
          <a:bodyPr>
            <a:normAutofit fontScale="85000" lnSpcReduction="10000"/>
          </a:bodyPr>
          <a:lstStyle/>
          <a:p>
            <a:pPr algn="just"/>
            <a:r>
              <a:rPr lang="es-MX" dirty="0"/>
              <a:t>El estudio de la conversión de AFND a AFD, la representación de expresiones regulares mediante autómatas y la minimización de estados es fundamental para comprender cómo los sistemas computacionales reconocen y procesan patrones dentro de un lenguaje formal.</a:t>
            </a:r>
          </a:p>
          <a:p>
            <a:pPr algn="just"/>
            <a:r>
              <a:rPr lang="es-MX" dirty="0"/>
              <a:t>La conversión de un </a:t>
            </a:r>
            <a:r>
              <a:rPr lang="es-MX" b="1" dirty="0"/>
              <a:t>AFND a AFD</a:t>
            </a:r>
            <a:r>
              <a:rPr lang="es-MX" dirty="0"/>
              <a:t> permite transformar un modelo no determinista en uno determinista que puede ser implementado de forma más directa en sistemas computacionales. Por otro lado, la </a:t>
            </a:r>
            <a:r>
              <a:rPr lang="es-MX" b="1" dirty="0"/>
              <a:t>representación de expresiones regulares mediante AFND</a:t>
            </a:r>
            <a:r>
              <a:rPr lang="es-MX" dirty="0"/>
              <a:t> establece una relación directa entre las expresiones utilizadas para describir patrones y los autómatas que pueden reconocerlos.</a:t>
            </a:r>
          </a:p>
          <a:p>
            <a:pPr algn="just"/>
            <a:r>
              <a:rPr lang="es-MX" dirty="0"/>
              <a:t>Finalmente, la </a:t>
            </a:r>
            <a:r>
              <a:rPr lang="es-MX" b="1" dirty="0"/>
              <a:t>minimización de estados en un autómata finito</a:t>
            </a:r>
            <a:r>
              <a:rPr lang="es-MX" dirty="0"/>
              <a:t> tiene como objetivo reducir el número de estados sin modificar el lenguaje que reconoce el autómata. Esto permite optimizar el funcionamiento del modelo, reduciendo la complejidad y mejorando la eficiencia del sistema.</a:t>
            </a:r>
          </a:p>
          <a:p>
            <a:pPr algn="just"/>
            <a:r>
              <a:rPr lang="es-MX" dirty="0"/>
              <a:t>Comprender estos procesos es importante para el desarrollo de herramientas de software que requieren reconocimiento de patrones, como compiladores, validadores de datos y motores de búsqueda.</a:t>
            </a:r>
          </a:p>
        </p:txBody>
      </p:sp>
    </p:spTree>
    <p:extLst>
      <p:ext uri="{BB962C8B-B14F-4D97-AF65-F5344CB8AC3E}">
        <p14:creationId xmlns:p14="http://schemas.microsoft.com/office/powerpoint/2010/main" val="3247703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423124-E04B-35A1-75B0-E717479733B5}"/>
              </a:ext>
            </a:extLst>
          </p:cNvPr>
          <p:cNvSpPr>
            <a:spLocks noGrp="1"/>
          </p:cNvSpPr>
          <p:nvPr>
            <p:ph type="title"/>
          </p:nvPr>
        </p:nvSpPr>
        <p:spPr>
          <a:xfrm>
            <a:off x="1434663" y="409521"/>
            <a:ext cx="10069950" cy="678300"/>
          </a:xfrm>
        </p:spPr>
        <p:txBody>
          <a:bodyPr>
            <a:normAutofit/>
          </a:bodyPr>
          <a:lstStyle/>
          <a:p>
            <a:r>
              <a:rPr lang="es-MX" dirty="0"/>
              <a:t> Conversión de un (AFND) a (AFD).</a:t>
            </a:r>
          </a:p>
        </p:txBody>
      </p:sp>
      <p:pic>
        <p:nvPicPr>
          <p:cNvPr id="5" name="Marcador de contenido 4">
            <a:extLst>
              <a:ext uri="{FF2B5EF4-FFF2-40B4-BE49-F238E27FC236}">
                <a16:creationId xmlns:a16="http://schemas.microsoft.com/office/drawing/2014/main" id="{9B07EAE6-435C-1AC9-328A-1B8C85D03CB9}"/>
              </a:ext>
            </a:extLst>
          </p:cNvPr>
          <p:cNvPicPr>
            <a:picLocks noGrp="1" noChangeAspect="1"/>
          </p:cNvPicPr>
          <p:nvPr>
            <p:ph idx="1"/>
          </p:nvPr>
        </p:nvPicPr>
        <p:blipFill>
          <a:blip r:embed="rId2"/>
          <a:stretch>
            <a:fillRect/>
          </a:stretch>
        </p:blipFill>
        <p:spPr>
          <a:xfrm>
            <a:off x="455078" y="3557190"/>
            <a:ext cx="2736836" cy="2246769"/>
          </a:xfrm>
        </p:spPr>
      </p:pic>
      <p:sp>
        <p:nvSpPr>
          <p:cNvPr id="7" name="CuadroTexto 6">
            <a:extLst>
              <a:ext uri="{FF2B5EF4-FFF2-40B4-BE49-F238E27FC236}">
                <a16:creationId xmlns:a16="http://schemas.microsoft.com/office/drawing/2014/main" id="{8994E7B1-8ED1-7DE0-4667-4C3569D4D7AC}"/>
              </a:ext>
            </a:extLst>
          </p:cNvPr>
          <p:cNvSpPr txBox="1"/>
          <p:nvPr/>
        </p:nvSpPr>
        <p:spPr>
          <a:xfrm>
            <a:off x="455078" y="1340067"/>
            <a:ext cx="3751162" cy="2246769"/>
          </a:xfrm>
          <a:prstGeom prst="rect">
            <a:avLst/>
          </a:prstGeom>
          <a:noFill/>
        </p:spPr>
        <p:txBody>
          <a:bodyPr wrap="square">
            <a:spAutoFit/>
          </a:bodyPr>
          <a:lstStyle/>
          <a:p>
            <a:r>
              <a:rPr lang="es-MX" sz="1400" dirty="0"/>
              <a:t>El autómata utilizado en esta práctica contiene los siguientes elementos:</a:t>
            </a:r>
          </a:p>
          <a:p>
            <a:r>
              <a:rPr lang="es-MX" sz="1400" b="1" dirty="0"/>
              <a:t>Estados</a:t>
            </a:r>
            <a:endParaRPr lang="es-MX" sz="1400" dirty="0"/>
          </a:p>
          <a:p>
            <a:r>
              <a:rPr lang="es-MX" sz="1400" dirty="0"/>
              <a:t>q0, q1, q2, q3</a:t>
            </a:r>
          </a:p>
          <a:p>
            <a:r>
              <a:rPr lang="es-MX" sz="1400" b="1" dirty="0"/>
              <a:t>Alfabeto</a:t>
            </a:r>
            <a:endParaRPr lang="es-MX" sz="1400" dirty="0"/>
          </a:p>
          <a:p>
            <a:r>
              <a:rPr lang="es-MX" sz="1400" dirty="0"/>
              <a:t>{0,1}</a:t>
            </a:r>
          </a:p>
          <a:p>
            <a:r>
              <a:rPr lang="es-MX" sz="1400" b="1" dirty="0"/>
              <a:t>Estado inicial</a:t>
            </a:r>
            <a:endParaRPr lang="es-MX" sz="1400" dirty="0"/>
          </a:p>
          <a:p>
            <a:r>
              <a:rPr lang="es-MX" sz="1400" dirty="0"/>
              <a:t>q0</a:t>
            </a:r>
          </a:p>
          <a:p>
            <a:r>
              <a:rPr lang="es-MX" sz="1400" b="1" dirty="0"/>
              <a:t>Estado de aceptación</a:t>
            </a:r>
            <a:endParaRPr lang="es-MX" sz="1400" dirty="0"/>
          </a:p>
          <a:p>
            <a:r>
              <a:rPr lang="es-MX" sz="1400" dirty="0"/>
              <a:t>q2</a:t>
            </a:r>
          </a:p>
        </p:txBody>
      </p:sp>
      <p:sp>
        <p:nvSpPr>
          <p:cNvPr id="9" name="CuadroTexto 8">
            <a:extLst>
              <a:ext uri="{FF2B5EF4-FFF2-40B4-BE49-F238E27FC236}">
                <a16:creationId xmlns:a16="http://schemas.microsoft.com/office/drawing/2014/main" id="{1466B4A7-9AE9-1EFF-19DD-CCDCCCFC1EAF}"/>
              </a:ext>
            </a:extLst>
          </p:cNvPr>
          <p:cNvSpPr txBox="1"/>
          <p:nvPr/>
        </p:nvSpPr>
        <p:spPr>
          <a:xfrm>
            <a:off x="455078" y="5803959"/>
            <a:ext cx="3300776" cy="954107"/>
          </a:xfrm>
          <a:prstGeom prst="rect">
            <a:avLst/>
          </a:prstGeom>
          <a:solidFill>
            <a:schemeClr val="bg2">
              <a:lumMod val="50000"/>
            </a:schemeClr>
          </a:solidFill>
        </p:spPr>
        <p:txBody>
          <a:bodyPr wrap="square">
            <a:spAutoFit/>
          </a:bodyPr>
          <a:lstStyle/>
          <a:p>
            <a:r>
              <a:rPr lang="es-MX" sz="1400" dirty="0"/>
              <a:t>Este autómata es </a:t>
            </a:r>
            <a:r>
              <a:rPr lang="es-MX" sz="1400" b="1" dirty="0"/>
              <a:t>no determinista</a:t>
            </a:r>
            <a:r>
              <a:rPr lang="es-MX" sz="1400" dirty="0"/>
              <a:t> porque desde </a:t>
            </a:r>
            <a:r>
              <a:rPr lang="es-MX" sz="1400" b="1" dirty="0"/>
              <a:t>q0 con símbolo 0 se puede ir a dos estados diferentes (q0 y q1)</a:t>
            </a:r>
            <a:r>
              <a:rPr lang="es-MX" sz="1400" dirty="0"/>
              <a:t>.</a:t>
            </a:r>
          </a:p>
        </p:txBody>
      </p:sp>
      <p:sp>
        <p:nvSpPr>
          <p:cNvPr id="11" name="CuadroTexto 10">
            <a:extLst>
              <a:ext uri="{FF2B5EF4-FFF2-40B4-BE49-F238E27FC236}">
                <a16:creationId xmlns:a16="http://schemas.microsoft.com/office/drawing/2014/main" id="{D9B78C1D-06B2-2A0C-BE2D-55AD94C692BD}"/>
              </a:ext>
            </a:extLst>
          </p:cNvPr>
          <p:cNvSpPr txBox="1"/>
          <p:nvPr/>
        </p:nvSpPr>
        <p:spPr>
          <a:xfrm>
            <a:off x="4445612" y="1340067"/>
            <a:ext cx="3300776" cy="307777"/>
          </a:xfrm>
          <a:prstGeom prst="rect">
            <a:avLst/>
          </a:prstGeom>
          <a:noFill/>
        </p:spPr>
        <p:txBody>
          <a:bodyPr wrap="square">
            <a:spAutoFit/>
          </a:bodyPr>
          <a:lstStyle/>
          <a:p>
            <a:r>
              <a:rPr lang="es-MX" sz="1400" dirty="0"/>
              <a:t>En el menú superior se selecciona:</a:t>
            </a:r>
          </a:p>
        </p:txBody>
      </p:sp>
      <p:pic>
        <p:nvPicPr>
          <p:cNvPr id="13" name="Imagen 12">
            <a:extLst>
              <a:ext uri="{FF2B5EF4-FFF2-40B4-BE49-F238E27FC236}">
                <a16:creationId xmlns:a16="http://schemas.microsoft.com/office/drawing/2014/main" id="{D728B3EA-5B2A-C294-0091-BE53CACDDB60}"/>
              </a:ext>
            </a:extLst>
          </p:cNvPr>
          <p:cNvPicPr>
            <a:picLocks noChangeAspect="1"/>
          </p:cNvPicPr>
          <p:nvPr/>
        </p:nvPicPr>
        <p:blipFill>
          <a:blip r:embed="rId3"/>
          <a:stretch>
            <a:fillRect/>
          </a:stretch>
        </p:blipFill>
        <p:spPr>
          <a:xfrm>
            <a:off x="5199595" y="1839483"/>
            <a:ext cx="1792809" cy="1247935"/>
          </a:xfrm>
          <a:prstGeom prst="rect">
            <a:avLst/>
          </a:prstGeom>
        </p:spPr>
      </p:pic>
      <p:sp>
        <p:nvSpPr>
          <p:cNvPr id="15" name="CuadroTexto 14">
            <a:extLst>
              <a:ext uri="{FF2B5EF4-FFF2-40B4-BE49-F238E27FC236}">
                <a16:creationId xmlns:a16="http://schemas.microsoft.com/office/drawing/2014/main" id="{315724FB-34CF-A0B5-3ACC-B46B90256036}"/>
              </a:ext>
            </a:extLst>
          </p:cNvPr>
          <p:cNvSpPr txBox="1"/>
          <p:nvPr/>
        </p:nvSpPr>
        <p:spPr>
          <a:xfrm>
            <a:off x="4206240" y="3167390"/>
            <a:ext cx="3944404" cy="461665"/>
          </a:xfrm>
          <a:prstGeom prst="rect">
            <a:avLst/>
          </a:prstGeom>
          <a:noFill/>
        </p:spPr>
        <p:txBody>
          <a:bodyPr wrap="square">
            <a:spAutoFit/>
          </a:bodyPr>
          <a:lstStyle/>
          <a:p>
            <a:r>
              <a:rPr lang="es-MX" sz="1200" dirty="0"/>
              <a:t>JFLAP abrirá una nueva ventana donde se realizará la conversión paso a paso.</a:t>
            </a:r>
          </a:p>
        </p:txBody>
      </p:sp>
      <p:pic>
        <p:nvPicPr>
          <p:cNvPr id="17" name="Imagen 16">
            <a:extLst>
              <a:ext uri="{FF2B5EF4-FFF2-40B4-BE49-F238E27FC236}">
                <a16:creationId xmlns:a16="http://schemas.microsoft.com/office/drawing/2014/main" id="{1C1B44BB-A612-7764-4F6A-370888FCB455}"/>
              </a:ext>
            </a:extLst>
          </p:cNvPr>
          <p:cNvPicPr>
            <a:picLocks noChangeAspect="1"/>
          </p:cNvPicPr>
          <p:nvPr/>
        </p:nvPicPr>
        <p:blipFill>
          <a:blip r:embed="rId4"/>
          <a:stretch>
            <a:fillRect/>
          </a:stretch>
        </p:blipFill>
        <p:spPr>
          <a:xfrm>
            <a:off x="4535043" y="3746779"/>
            <a:ext cx="2736836" cy="2335924"/>
          </a:xfrm>
          <a:prstGeom prst="rect">
            <a:avLst/>
          </a:prstGeom>
        </p:spPr>
      </p:pic>
      <p:sp>
        <p:nvSpPr>
          <p:cNvPr id="19" name="CuadroTexto 18">
            <a:extLst>
              <a:ext uri="{FF2B5EF4-FFF2-40B4-BE49-F238E27FC236}">
                <a16:creationId xmlns:a16="http://schemas.microsoft.com/office/drawing/2014/main" id="{36E50FCF-7B14-F514-1713-EB40F2A6AA10}"/>
              </a:ext>
            </a:extLst>
          </p:cNvPr>
          <p:cNvSpPr txBox="1"/>
          <p:nvPr/>
        </p:nvSpPr>
        <p:spPr>
          <a:xfrm>
            <a:off x="7957402" y="2659558"/>
            <a:ext cx="3758225" cy="3693319"/>
          </a:xfrm>
          <a:prstGeom prst="rect">
            <a:avLst/>
          </a:prstGeom>
          <a:noFill/>
        </p:spPr>
        <p:txBody>
          <a:bodyPr wrap="square">
            <a:spAutoFit/>
          </a:bodyPr>
          <a:lstStyle/>
          <a:p>
            <a:r>
              <a:rPr lang="es-MX" dirty="0"/>
              <a:t>Nota: La conversión de AFND a AFD permite transformar un autómata no determinista en uno determinista que reconoce el mismo lenguaje. Con el uso de JFLAP se puede realizar este proceso de manera visual, permitiendo observar cada paso de la construcción por subconjuntos y facilitando la comprensión del funcionamiento de los autómatas finitos.</a:t>
            </a:r>
          </a:p>
        </p:txBody>
      </p:sp>
    </p:spTree>
    <p:extLst>
      <p:ext uri="{BB962C8B-B14F-4D97-AF65-F5344CB8AC3E}">
        <p14:creationId xmlns:p14="http://schemas.microsoft.com/office/powerpoint/2010/main" val="2146461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2C170F-B5BA-21C7-49CB-F71932AAA4D9}"/>
              </a:ext>
            </a:extLst>
          </p:cNvPr>
          <p:cNvSpPr>
            <a:spLocks noGrp="1"/>
          </p:cNvSpPr>
          <p:nvPr>
            <p:ph type="title"/>
          </p:nvPr>
        </p:nvSpPr>
        <p:spPr/>
        <p:txBody>
          <a:bodyPr/>
          <a:lstStyle/>
          <a:p>
            <a:r>
              <a:rPr lang="es-MX" dirty="0"/>
              <a:t>INICIO DE LA Practica </a:t>
            </a:r>
          </a:p>
        </p:txBody>
      </p:sp>
      <p:sp>
        <p:nvSpPr>
          <p:cNvPr id="3" name="Marcador de contenido 2">
            <a:extLst>
              <a:ext uri="{FF2B5EF4-FFF2-40B4-BE49-F238E27FC236}">
                <a16:creationId xmlns:a16="http://schemas.microsoft.com/office/drawing/2014/main" id="{6DAE4D4C-243F-1B30-462F-D49546B9DFAB}"/>
              </a:ext>
            </a:extLst>
          </p:cNvPr>
          <p:cNvSpPr>
            <a:spLocks noGrp="1"/>
          </p:cNvSpPr>
          <p:nvPr>
            <p:ph idx="1"/>
          </p:nvPr>
        </p:nvSpPr>
        <p:spPr>
          <a:xfrm>
            <a:off x="1451579" y="1361798"/>
            <a:ext cx="10515600" cy="484485"/>
          </a:xfrm>
        </p:spPr>
        <p:txBody>
          <a:bodyPr>
            <a:normAutofit/>
          </a:bodyPr>
          <a:lstStyle/>
          <a:p>
            <a:pPr marL="0" indent="0">
              <a:buNone/>
            </a:pPr>
            <a:r>
              <a:rPr lang="es-MX" dirty="0"/>
              <a:t>Comenzamos a abriendo nuestro JFLAP, para comenzar con la creación de los autómatas: </a:t>
            </a:r>
          </a:p>
        </p:txBody>
      </p:sp>
      <p:pic>
        <p:nvPicPr>
          <p:cNvPr id="5" name="Imagen 4">
            <a:extLst>
              <a:ext uri="{FF2B5EF4-FFF2-40B4-BE49-F238E27FC236}">
                <a16:creationId xmlns:a16="http://schemas.microsoft.com/office/drawing/2014/main" id="{717D0791-7021-16D7-9CB0-A031FCA9B686}"/>
              </a:ext>
            </a:extLst>
          </p:cNvPr>
          <p:cNvPicPr>
            <a:picLocks noChangeAspect="1"/>
          </p:cNvPicPr>
          <p:nvPr/>
        </p:nvPicPr>
        <p:blipFill>
          <a:blip r:embed="rId2"/>
          <a:stretch>
            <a:fillRect/>
          </a:stretch>
        </p:blipFill>
        <p:spPr>
          <a:xfrm>
            <a:off x="1124682" y="2146742"/>
            <a:ext cx="2507874" cy="3721100"/>
          </a:xfrm>
          <a:prstGeom prst="rect">
            <a:avLst/>
          </a:prstGeom>
        </p:spPr>
      </p:pic>
      <p:sp>
        <p:nvSpPr>
          <p:cNvPr id="6" name="CuadroTexto 5">
            <a:extLst>
              <a:ext uri="{FF2B5EF4-FFF2-40B4-BE49-F238E27FC236}">
                <a16:creationId xmlns:a16="http://schemas.microsoft.com/office/drawing/2014/main" id="{B422EDA4-BAB0-AFA0-41A1-FE0478BF7122}"/>
              </a:ext>
            </a:extLst>
          </p:cNvPr>
          <p:cNvSpPr txBox="1"/>
          <p:nvPr/>
        </p:nvSpPr>
        <p:spPr>
          <a:xfrm>
            <a:off x="4206067" y="1984782"/>
            <a:ext cx="4610100" cy="369332"/>
          </a:xfrm>
          <a:prstGeom prst="rect">
            <a:avLst/>
          </a:prstGeom>
          <a:noFill/>
        </p:spPr>
        <p:txBody>
          <a:bodyPr wrap="square" rtlCol="0">
            <a:spAutoFit/>
          </a:bodyPr>
          <a:lstStyle/>
          <a:p>
            <a:r>
              <a:rPr lang="es-MX" dirty="0"/>
              <a:t>Seleccionamos la opción “Finite </a:t>
            </a:r>
            <a:r>
              <a:rPr lang="es-MX" dirty="0" err="1"/>
              <a:t>Automaton</a:t>
            </a:r>
            <a:r>
              <a:rPr lang="es-MX" dirty="0"/>
              <a:t>”</a:t>
            </a:r>
          </a:p>
        </p:txBody>
      </p:sp>
      <p:cxnSp>
        <p:nvCxnSpPr>
          <p:cNvPr id="8" name="Conector recto de flecha 7">
            <a:extLst>
              <a:ext uri="{FF2B5EF4-FFF2-40B4-BE49-F238E27FC236}">
                <a16:creationId xmlns:a16="http://schemas.microsoft.com/office/drawing/2014/main" id="{DD6C4E04-42B7-40A8-4A67-2D96538A8CA5}"/>
              </a:ext>
            </a:extLst>
          </p:cNvPr>
          <p:cNvCxnSpPr>
            <a:cxnSpLocks/>
            <a:stCxn id="6" idx="1"/>
          </p:cNvCxnSpPr>
          <p:nvPr/>
        </p:nvCxnSpPr>
        <p:spPr>
          <a:xfrm flipH="1">
            <a:off x="2886075" y="2169448"/>
            <a:ext cx="1319992" cy="593929"/>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pic>
        <p:nvPicPr>
          <p:cNvPr id="11" name="Imagen 10">
            <a:extLst>
              <a:ext uri="{FF2B5EF4-FFF2-40B4-BE49-F238E27FC236}">
                <a16:creationId xmlns:a16="http://schemas.microsoft.com/office/drawing/2014/main" id="{19FD9D07-82C8-7735-D9B7-F43FDB302D27}"/>
              </a:ext>
            </a:extLst>
          </p:cNvPr>
          <p:cNvPicPr>
            <a:picLocks noChangeAspect="1"/>
          </p:cNvPicPr>
          <p:nvPr/>
        </p:nvPicPr>
        <p:blipFill>
          <a:blip r:embed="rId3"/>
          <a:stretch>
            <a:fillRect/>
          </a:stretch>
        </p:blipFill>
        <p:spPr>
          <a:xfrm>
            <a:off x="4336645" y="3195148"/>
            <a:ext cx="3241988" cy="2692726"/>
          </a:xfrm>
          <a:prstGeom prst="rect">
            <a:avLst/>
          </a:prstGeom>
        </p:spPr>
      </p:pic>
      <p:sp>
        <p:nvSpPr>
          <p:cNvPr id="12" name="CuadroTexto 11">
            <a:extLst>
              <a:ext uri="{FF2B5EF4-FFF2-40B4-BE49-F238E27FC236}">
                <a16:creationId xmlns:a16="http://schemas.microsoft.com/office/drawing/2014/main" id="{A86F4D71-C9BC-5C60-9A1E-5864A87640E3}"/>
              </a:ext>
            </a:extLst>
          </p:cNvPr>
          <p:cNvSpPr txBox="1"/>
          <p:nvPr/>
        </p:nvSpPr>
        <p:spPr>
          <a:xfrm>
            <a:off x="4353861" y="2498929"/>
            <a:ext cx="3964144" cy="646331"/>
          </a:xfrm>
          <a:prstGeom prst="rect">
            <a:avLst/>
          </a:prstGeom>
          <a:noFill/>
        </p:spPr>
        <p:txBody>
          <a:bodyPr wrap="square" rtlCol="0">
            <a:spAutoFit/>
          </a:bodyPr>
          <a:lstStyle/>
          <a:p>
            <a:r>
              <a:rPr lang="es-MX" dirty="0"/>
              <a:t>En seguida se abrirá la pantallita donde trabajaremos:</a:t>
            </a:r>
          </a:p>
        </p:txBody>
      </p:sp>
      <p:cxnSp>
        <p:nvCxnSpPr>
          <p:cNvPr id="14" name="Conector recto de flecha 13">
            <a:extLst>
              <a:ext uri="{FF2B5EF4-FFF2-40B4-BE49-F238E27FC236}">
                <a16:creationId xmlns:a16="http://schemas.microsoft.com/office/drawing/2014/main" id="{3BC035A8-65F0-667E-F25A-44BF1B369B58}"/>
              </a:ext>
            </a:extLst>
          </p:cNvPr>
          <p:cNvCxnSpPr/>
          <p:nvPr/>
        </p:nvCxnSpPr>
        <p:spPr>
          <a:xfrm>
            <a:off x="3458511" y="2822094"/>
            <a:ext cx="1238250" cy="139157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16" name="Imagen 15">
            <a:extLst>
              <a:ext uri="{FF2B5EF4-FFF2-40B4-BE49-F238E27FC236}">
                <a16:creationId xmlns:a16="http://schemas.microsoft.com/office/drawing/2014/main" id="{9AF62DCE-547C-6FF4-8FE9-5F7997757BA9}"/>
              </a:ext>
            </a:extLst>
          </p:cNvPr>
          <p:cNvPicPr>
            <a:picLocks noChangeAspect="1"/>
          </p:cNvPicPr>
          <p:nvPr/>
        </p:nvPicPr>
        <p:blipFill>
          <a:blip r:embed="rId4"/>
          <a:stretch>
            <a:fillRect/>
          </a:stretch>
        </p:blipFill>
        <p:spPr>
          <a:xfrm>
            <a:off x="8816167" y="4052407"/>
            <a:ext cx="2238687" cy="771633"/>
          </a:xfrm>
          <a:prstGeom prst="rect">
            <a:avLst/>
          </a:prstGeom>
        </p:spPr>
      </p:pic>
      <p:sp>
        <p:nvSpPr>
          <p:cNvPr id="17" name="CuadroTexto 16">
            <a:extLst>
              <a:ext uri="{FF2B5EF4-FFF2-40B4-BE49-F238E27FC236}">
                <a16:creationId xmlns:a16="http://schemas.microsoft.com/office/drawing/2014/main" id="{DCEF6CBB-57E8-E0FA-03D4-D579E01CF5D5}"/>
              </a:ext>
            </a:extLst>
          </p:cNvPr>
          <p:cNvSpPr txBox="1"/>
          <p:nvPr/>
        </p:nvSpPr>
        <p:spPr>
          <a:xfrm>
            <a:off x="8318005" y="2533736"/>
            <a:ext cx="3676650" cy="923330"/>
          </a:xfrm>
          <a:prstGeom prst="rect">
            <a:avLst/>
          </a:prstGeom>
          <a:noFill/>
        </p:spPr>
        <p:txBody>
          <a:bodyPr wrap="square" rtlCol="0">
            <a:spAutoFit/>
          </a:bodyPr>
          <a:lstStyle/>
          <a:p>
            <a:r>
              <a:rPr lang="es-MX" dirty="0"/>
              <a:t>En la parte del editor conseguiremos lo que necesitaremos para comenzar con la creación de nuestros estados:</a:t>
            </a:r>
          </a:p>
        </p:txBody>
      </p:sp>
      <p:sp>
        <p:nvSpPr>
          <p:cNvPr id="18" name="CuadroTexto 17">
            <a:extLst>
              <a:ext uri="{FF2B5EF4-FFF2-40B4-BE49-F238E27FC236}">
                <a16:creationId xmlns:a16="http://schemas.microsoft.com/office/drawing/2014/main" id="{E74537CD-3C96-7DCD-BF56-B5171736718D}"/>
              </a:ext>
            </a:extLst>
          </p:cNvPr>
          <p:cNvSpPr txBox="1"/>
          <p:nvPr/>
        </p:nvSpPr>
        <p:spPr>
          <a:xfrm>
            <a:off x="10416349" y="5381163"/>
            <a:ext cx="1550830" cy="646331"/>
          </a:xfrm>
          <a:prstGeom prst="rect">
            <a:avLst/>
          </a:prstGeom>
          <a:noFill/>
        </p:spPr>
        <p:txBody>
          <a:bodyPr wrap="square" rtlCol="0">
            <a:spAutoFit/>
          </a:bodyPr>
          <a:lstStyle/>
          <a:p>
            <a:r>
              <a:rPr lang="es-MX" dirty="0"/>
              <a:t>Partes mas esenciales </a:t>
            </a:r>
          </a:p>
        </p:txBody>
      </p:sp>
      <p:cxnSp>
        <p:nvCxnSpPr>
          <p:cNvPr id="20" name="Conector recto de flecha 19">
            <a:extLst>
              <a:ext uri="{FF2B5EF4-FFF2-40B4-BE49-F238E27FC236}">
                <a16:creationId xmlns:a16="http://schemas.microsoft.com/office/drawing/2014/main" id="{8B24B424-9D2A-E8B7-7A7A-F14B2700705C}"/>
              </a:ext>
            </a:extLst>
          </p:cNvPr>
          <p:cNvCxnSpPr/>
          <p:nvPr/>
        </p:nvCxnSpPr>
        <p:spPr>
          <a:xfrm flipH="1" flipV="1">
            <a:off x="9583086" y="4623242"/>
            <a:ext cx="1123950" cy="728751"/>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2" name="Conector recto de flecha 21">
            <a:extLst>
              <a:ext uri="{FF2B5EF4-FFF2-40B4-BE49-F238E27FC236}">
                <a16:creationId xmlns:a16="http://schemas.microsoft.com/office/drawing/2014/main" id="{66431D47-C792-2F93-793C-EDBCE986B386}"/>
              </a:ext>
            </a:extLst>
          </p:cNvPr>
          <p:cNvCxnSpPr>
            <a:cxnSpLocks/>
          </p:cNvCxnSpPr>
          <p:nvPr/>
        </p:nvCxnSpPr>
        <p:spPr>
          <a:xfrm flipH="1" flipV="1">
            <a:off x="9935510" y="4594072"/>
            <a:ext cx="771526" cy="757921"/>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821292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E7F55-5CA3-4497-CFE7-87C37F286882}"/>
              </a:ext>
            </a:extLst>
          </p:cNvPr>
          <p:cNvSpPr>
            <a:spLocks noGrp="1"/>
          </p:cNvSpPr>
          <p:nvPr>
            <p:ph type="title"/>
          </p:nvPr>
        </p:nvSpPr>
        <p:spPr/>
        <p:txBody>
          <a:bodyPr/>
          <a:lstStyle/>
          <a:p>
            <a:r>
              <a:rPr lang="es-MX" dirty="0"/>
              <a:t>ER USANDO AFND</a:t>
            </a:r>
          </a:p>
        </p:txBody>
      </p:sp>
      <p:pic>
        <p:nvPicPr>
          <p:cNvPr id="5" name="Marcador de contenido 4">
            <a:extLst>
              <a:ext uri="{FF2B5EF4-FFF2-40B4-BE49-F238E27FC236}">
                <a16:creationId xmlns:a16="http://schemas.microsoft.com/office/drawing/2014/main" id="{7EB79D0E-C7B4-8C34-C0B0-AFDC2F8035A0}"/>
              </a:ext>
            </a:extLst>
          </p:cNvPr>
          <p:cNvPicPr>
            <a:picLocks noGrp="1" noChangeAspect="1"/>
          </p:cNvPicPr>
          <p:nvPr>
            <p:ph idx="1"/>
          </p:nvPr>
        </p:nvPicPr>
        <p:blipFill>
          <a:blip r:embed="rId2"/>
          <a:stretch>
            <a:fillRect/>
          </a:stretch>
        </p:blipFill>
        <p:spPr>
          <a:xfrm>
            <a:off x="4600575" y="1831152"/>
            <a:ext cx="4229064" cy="3778250"/>
          </a:xfrm>
        </p:spPr>
      </p:pic>
      <p:sp>
        <p:nvSpPr>
          <p:cNvPr id="6" name="Rectangle 1">
            <a:extLst>
              <a:ext uri="{FF2B5EF4-FFF2-40B4-BE49-F238E27FC236}">
                <a16:creationId xmlns:a16="http://schemas.microsoft.com/office/drawing/2014/main" id="{0E2EB203-2DCE-6CCB-2893-086F69A3CEFA}"/>
              </a:ext>
            </a:extLst>
          </p:cNvPr>
          <p:cNvSpPr>
            <a:spLocks noChangeArrowheads="1"/>
          </p:cNvSpPr>
          <p:nvPr/>
        </p:nvSpPr>
        <p:spPr bwMode="auto">
          <a:xfrm rot="10800000" flipV="1">
            <a:off x="180975" y="1831152"/>
            <a:ext cx="44196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s-MX" altLang="es-MX" dirty="0"/>
              <a:t>El estado inicial tiene un ciclo con “a”</a:t>
            </a:r>
            <a:br>
              <a:rPr lang="es-MX" altLang="es-MX" dirty="0"/>
            </a:br>
            <a:r>
              <a:rPr lang="es-MX" altLang="es-MX" dirty="0"/>
              <a:t>→ Eso permite repetir “a” todas las veces que quieras (a*).</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es-MX" altLang="es-MX" dirty="0"/>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s-MX" altLang="es-MX" dirty="0"/>
              <a:t>Cuando aparece una “b”, pasa a un estado final.</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es-MX" altLang="es-MX" dirty="0"/>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s-MX" altLang="es-MX" dirty="0"/>
              <a:t>Si después de la “b” hay más símbolos, ya no acepta.</a:t>
            </a:r>
          </a:p>
        </p:txBody>
      </p:sp>
      <p:pic>
        <p:nvPicPr>
          <p:cNvPr id="8" name="Imagen 7">
            <a:extLst>
              <a:ext uri="{FF2B5EF4-FFF2-40B4-BE49-F238E27FC236}">
                <a16:creationId xmlns:a16="http://schemas.microsoft.com/office/drawing/2014/main" id="{717C5B67-6D80-2587-027E-059F1C5840F4}"/>
              </a:ext>
            </a:extLst>
          </p:cNvPr>
          <p:cNvPicPr>
            <a:picLocks noChangeAspect="1"/>
          </p:cNvPicPr>
          <p:nvPr/>
        </p:nvPicPr>
        <p:blipFill>
          <a:blip r:embed="rId3"/>
          <a:stretch>
            <a:fillRect/>
          </a:stretch>
        </p:blipFill>
        <p:spPr>
          <a:xfrm>
            <a:off x="9038962" y="1790089"/>
            <a:ext cx="2839986" cy="3778251"/>
          </a:xfrm>
          <a:prstGeom prst="rect">
            <a:avLst/>
          </a:prstGeom>
        </p:spPr>
      </p:pic>
    </p:spTree>
    <p:extLst>
      <p:ext uri="{BB962C8B-B14F-4D97-AF65-F5344CB8AC3E}">
        <p14:creationId xmlns:p14="http://schemas.microsoft.com/office/powerpoint/2010/main" val="1429871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18A38E-FAEB-4F6D-0A25-4A4DAB9F3CD9}"/>
              </a:ext>
            </a:extLst>
          </p:cNvPr>
          <p:cNvSpPr>
            <a:spLocks noGrp="1"/>
          </p:cNvSpPr>
          <p:nvPr>
            <p:ph type="title"/>
          </p:nvPr>
        </p:nvSpPr>
        <p:spPr>
          <a:xfrm>
            <a:off x="2592925" y="624110"/>
            <a:ext cx="8911687" cy="758866"/>
          </a:xfrm>
        </p:spPr>
        <p:txBody>
          <a:bodyPr/>
          <a:lstStyle/>
          <a:p>
            <a:r>
              <a:rPr lang="es-MX" dirty="0"/>
              <a:t>Minimización de estados en un AF</a:t>
            </a:r>
          </a:p>
        </p:txBody>
      </p:sp>
      <p:sp>
        <p:nvSpPr>
          <p:cNvPr id="7" name="CuadroTexto 6">
            <a:extLst>
              <a:ext uri="{FF2B5EF4-FFF2-40B4-BE49-F238E27FC236}">
                <a16:creationId xmlns:a16="http://schemas.microsoft.com/office/drawing/2014/main" id="{4C8EFD4A-0E23-BB46-B954-EBF8F4655A1D}"/>
              </a:ext>
            </a:extLst>
          </p:cNvPr>
          <p:cNvSpPr txBox="1"/>
          <p:nvPr/>
        </p:nvSpPr>
        <p:spPr>
          <a:xfrm>
            <a:off x="1772847" y="1726149"/>
            <a:ext cx="6096000" cy="2031325"/>
          </a:xfrm>
          <a:prstGeom prst="rect">
            <a:avLst/>
          </a:prstGeom>
          <a:noFill/>
        </p:spPr>
        <p:txBody>
          <a:bodyPr wrap="square">
            <a:spAutoFit/>
          </a:bodyPr>
          <a:lstStyle/>
          <a:p>
            <a:r>
              <a:rPr lang="es-MX" dirty="0"/>
              <a:t>Este archivo contiene un </a:t>
            </a:r>
            <a:r>
              <a:rPr lang="es-MX" b="1" dirty="0"/>
              <a:t>Autómata Finito Determinista (AFD) ya minimizado</a:t>
            </a:r>
            <a:r>
              <a:rPr lang="es-MX" dirty="0"/>
              <a:t>.</a:t>
            </a:r>
          </a:p>
          <a:p>
            <a:pPr>
              <a:buFont typeface="Arial" panose="020B0604020202020204" pitchFamily="34" charset="0"/>
              <a:buChar char="•"/>
            </a:pPr>
            <a:endParaRPr lang="es-MX" dirty="0"/>
          </a:p>
          <a:p>
            <a:pPr>
              <a:buFont typeface="Arial" panose="020B0604020202020204" pitchFamily="34" charset="0"/>
              <a:buChar char="•"/>
            </a:pPr>
            <a:r>
              <a:rPr lang="es-MX" dirty="0"/>
              <a:t>Antes tenía más estados.</a:t>
            </a:r>
          </a:p>
          <a:p>
            <a:pPr>
              <a:buFont typeface="Arial" panose="020B0604020202020204" pitchFamily="34" charset="0"/>
              <a:buChar char="•"/>
            </a:pPr>
            <a:r>
              <a:rPr lang="es-MX" dirty="0"/>
              <a:t>Se aplicó el proceso de minimización.</a:t>
            </a:r>
          </a:p>
          <a:p>
            <a:pPr>
              <a:buFont typeface="Arial" panose="020B0604020202020204" pitchFamily="34" charset="0"/>
              <a:buChar char="•"/>
            </a:pPr>
            <a:r>
              <a:rPr lang="es-MX" dirty="0"/>
              <a:t>Se eliminaron estados equivalentes.</a:t>
            </a:r>
          </a:p>
          <a:p>
            <a:pPr>
              <a:buFont typeface="Arial" panose="020B0604020202020204" pitchFamily="34" charset="0"/>
              <a:buChar char="•"/>
            </a:pPr>
            <a:r>
              <a:rPr lang="es-MX" dirty="0"/>
              <a:t>Se dejó el número mínimo de estados posible.</a:t>
            </a:r>
          </a:p>
        </p:txBody>
      </p:sp>
      <p:sp>
        <p:nvSpPr>
          <p:cNvPr id="9" name="CuadroTexto 8">
            <a:extLst>
              <a:ext uri="{FF2B5EF4-FFF2-40B4-BE49-F238E27FC236}">
                <a16:creationId xmlns:a16="http://schemas.microsoft.com/office/drawing/2014/main" id="{EE0C51B2-19AA-63AF-965C-EC0A20FA8FE0}"/>
              </a:ext>
            </a:extLst>
          </p:cNvPr>
          <p:cNvSpPr txBox="1"/>
          <p:nvPr/>
        </p:nvSpPr>
        <p:spPr>
          <a:xfrm>
            <a:off x="1849047" y="4345163"/>
            <a:ext cx="6096000" cy="1754326"/>
          </a:xfrm>
          <a:prstGeom prst="rect">
            <a:avLst/>
          </a:prstGeom>
          <a:noFill/>
        </p:spPr>
        <p:txBody>
          <a:bodyPr wrap="square">
            <a:spAutoFit/>
          </a:bodyPr>
          <a:lstStyle/>
          <a:p>
            <a:r>
              <a:rPr lang="es-MX" dirty="0"/>
              <a:t>Este autómata acepta:</a:t>
            </a:r>
          </a:p>
          <a:p>
            <a:r>
              <a:rPr lang="es-MX" dirty="0"/>
              <a:t>Cadenas que:</a:t>
            </a:r>
          </a:p>
          <a:p>
            <a:pPr>
              <a:buFont typeface="Arial" panose="020B0604020202020204" pitchFamily="34" charset="0"/>
              <a:buChar char="•"/>
            </a:pPr>
            <a:r>
              <a:rPr lang="es-MX" dirty="0"/>
              <a:t>Empiezan con “a”</a:t>
            </a:r>
          </a:p>
          <a:p>
            <a:pPr>
              <a:buFont typeface="Arial" panose="020B0604020202020204" pitchFamily="34" charset="0"/>
              <a:buChar char="•"/>
            </a:pPr>
            <a:r>
              <a:rPr lang="es-MX" dirty="0"/>
              <a:t>Luego tienen “b”</a:t>
            </a:r>
          </a:p>
          <a:p>
            <a:pPr>
              <a:buFont typeface="Arial" panose="020B0604020202020204" pitchFamily="34" charset="0"/>
              <a:buChar char="•"/>
            </a:pPr>
            <a:r>
              <a:rPr lang="es-MX" dirty="0"/>
              <a:t>Después pueden tener cualquier combinación de “a” o “b”</a:t>
            </a:r>
          </a:p>
        </p:txBody>
      </p:sp>
      <p:pic>
        <p:nvPicPr>
          <p:cNvPr id="12" name="Imagen 11">
            <a:extLst>
              <a:ext uri="{FF2B5EF4-FFF2-40B4-BE49-F238E27FC236}">
                <a16:creationId xmlns:a16="http://schemas.microsoft.com/office/drawing/2014/main" id="{9CDE28AB-638E-7073-152A-95B578F7A96D}"/>
              </a:ext>
            </a:extLst>
          </p:cNvPr>
          <p:cNvPicPr>
            <a:picLocks noChangeAspect="1"/>
          </p:cNvPicPr>
          <p:nvPr/>
        </p:nvPicPr>
        <p:blipFill>
          <a:blip r:embed="rId2"/>
          <a:stretch>
            <a:fillRect/>
          </a:stretch>
        </p:blipFill>
        <p:spPr>
          <a:xfrm>
            <a:off x="7348584" y="1457142"/>
            <a:ext cx="4323153" cy="2025665"/>
          </a:xfrm>
          <a:prstGeom prst="rect">
            <a:avLst/>
          </a:prstGeom>
        </p:spPr>
      </p:pic>
      <p:pic>
        <p:nvPicPr>
          <p:cNvPr id="14" name="Imagen 13">
            <a:extLst>
              <a:ext uri="{FF2B5EF4-FFF2-40B4-BE49-F238E27FC236}">
                <a16:creationId xmlns:a16="http://schemas.microsoft.com/office/drawing/2014/main" id="{5D694641-8C9D-BF5E-4A53-978BAD5F245C}"/>
              </a:ext>
            </a:extLst>
          </p:cNvPr>
          <p:cNvPicPr>
            <a:picLocks noChangeAspect="1"/>
          </p:cNvPicPr>
          <p:nvPr/>
        </p:nvPicPr>
        <p:blipFill>
          <a:blip r:embed="rId3"/>
          <a:stretch>
            <a:fillRect/>
          </a:stretch>
        </p:blipFill>
        <p:spPr>
          <a:xfrm>
            <a:off x="8508123" y="3750589"/>
            <a:ext cx="2424451" cy="2710241"/>
          </a:xfrm>
          <a:prstGeom prst="rect">
            <a:avLst/>
          </a:prstGeom>
        </p:spPr>
      </p:pic>
    </p:spTree>
    <p:extLst>
      <p:ext uri="{BB962C8B-B14F-4D97-AF65-F5344CB8AC3E}">
        <p14:creationId xmlns:p14="http://schemas.microsoft.com/office/powerpoint/2010/main" val="4241092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FB701B-3F71-F4A0-21D7-AE2FBB77852E}"/>
              </a:ext>
            </a:extLst>
          </p:cNvPr>
          <p:cNvSpPr>
            <a:spLocks noGrp="1"/>
          </p:cNvSpPr>
          <p:nvPr>
            <p:ph type="title"/>
          </p:nvPr>
        </p:nvSpPr>
        <p:spPr/>
        <p:txBody>
          <a:bodyPr/>
          <a:lstStyle/>
          <a:p>
            <a:r>
              <a:rPr lang="es-MX" dirty="0"/>
              <a:t>conclusión</a:t>
            </a:r>
          </a:p>
        </p:txBody>
      </p:sp>
      <p:sp>
        <p:nvSpPr>
          <p:cNvPr id="3" name="Marcador de contenido 2">
            <a:extLst>
              <a:ext uri="{FF2B5EF4-FFF2-40B4-BE49-F238E27FC236}">
                <a16:creationId xmlns:a16="http://schemas.microsoft.com/office/drawing/2014/main" id="{1437B72A-5CE6-8ED7-265E-E7865B6C569A}"/>
              </a:ext>
            </a:extLst>
          </p:cNvPr>
          <p:cNvSpPr>
            <a:spLocks noGrp="1"/>
          </p:cNvSpPr>
          <p:nvPr>
            <p:ph idx="1"/>
          </p:nvPr>
        </p:nvSpPr>
        <p:spPr/>
        <p:txBody>
          <a:bodyPr>
            <a:normAutofit fontScale="92500" lnSpcReduction="20000"/>
          </a:bodyPr>
          <a:lstStyle/>
          <a:p>
            <a:pPr algn="just"/>
            <a:r>
              <a:rPr lang="es-MX" dirty="0"/>
              <a:t>Los autómatas finitos constituyen una herramienta fundamental para el estudio y diseño de sistemas capaces de reconocer patrones y procesar información estructurada. A través de la conversión de AFND a AFD, la representación de expresiones regulares mediante autómatas y la minimización de estados, es posible transformar y optimizar modelos de reconocimiento de lenguajes formales.</a:t>
            </a:r>
          </a:p>
          <a:p>
            <a:pPr algn="just"/>
            <a:r>
              <a:rPr lang="es-MX" dirty="0"/>
              <a:t>Estos procedimientos permiten simplificar la estructura de los autómatas sin alterar el lenguaje que reconocen, facilitando su implementación en aplicaciones reales dentro de la informática. Asimismo, el uso de herramientas como JFLAP contribuye a una mejor comprensión de estos conceptos al permitir observar de manera visual el comportamiento de los autómatas y los procesos de transformación entre diferentes modelos.</a:t>
            </a:r>
          </a:p>
          <a:p>
            <a:pPr algn="just"/>
            <a:r>
              <a:rPr lang="es-MX" dirty="0"/>
              <a:t>En conclusión, el estudio de estos temas fortalece la comprensión de los fundamentos teóricos de la computación y proporciona bases importantes para el desarrollo de sistemas más eficientes en el procesamiento y reconocimiento de información.</a:t>
            </a:r>
          </a:p>
        </p:txBody>
      </p:sp>
    </p:spTree>
    <p:extLst>
      <p:ext uri="{BB962C8B-B14F-4D97-AF65-F5344CB8AC3E}">
        <p14:creationId xmlns:p14="http://schemas.microsoft.com/office/powerpoint/2010/main" val="1306250549"/>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632</TotalTime>
  <Words>908</Words>
  <Application>Microsoft Office PowerPoint</Application>
  <PresentationFormat>Panorámica</PresentationFormat>
  <Paragraphs>71</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Century Gothic</vt:lpstr>
      <vt:lpstr>Wingdings 3</vt:lpstr>
      <vt:lpstr>Espiral</vt:lpstr>
      <vt:lpstr>Presentación de PowerPoint</vt:lpstr>
      <vt:lpstr>introducción</vt:lpstr>
      <vt:lpstr>justificación</vt:lpstr>
      <vt:lpstr> Conversión de un (AFND) a (AFD).</vt:lpstr>
      <vt:lpstr>INICIO DE LA Practica </vt:lpstr>
      <vt:lpstr>ER USANDO AFND</vt:lpstr>
      <vt:lpstr>Minimización de estados en un AF</vt:lpstr>
      <vt:lpstr>conclusión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840 G5</dc:creator>
  <cp:lastModifiedBy>HP 840 G5</cp:lastModifiedBy>
  <cp:revision>6</cp:revision>
  <dcterms:created xsi:type="dcterms:W3CDTF">2026-02-21T18:58:17Z</dcterms:created>
  <dcterms:modified xsi:type="dcterms:W3CDTF">2026-03-16T15:47:36Z</dcterms:modified>
</cp:coreProperties>
</file>