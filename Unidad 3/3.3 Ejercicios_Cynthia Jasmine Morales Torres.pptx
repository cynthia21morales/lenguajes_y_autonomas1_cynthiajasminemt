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62" r:id="rId1"/>
  </p:sldMasterIdLst>
  <p:sldIdLst>
    <p:sldId id="256" r:id="rId2"/>
    <p:sldId id="257" r:id="rId3"/>
    <p:sldId id="258" r:id="rId4"/>
    <p:sldId id="260" r:id="rId5"/>
    <p:sldId id="267" r:id="rId6"/>
    <p:sldId id="266" r:id="rId7"/>
    <p:sldId id="268" r:id="rId8"/>
    <p:sldId id="259"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3" d="100"/>
          <a:sy n="53" d="100"/>
        </p:scale>
        <p:origin x="82" y="45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71ED7BC1-F8D8-4A44-BF93-EB302641ED64}" type="datetimeFigureOut">
              <a:rPr lang="es-MX" smtClean="0"/>
              <a:t>16/03/2026</a:t>
            </a:fld>
            <a:endParaRPr lang="es-MX"/>
          </a:p>
        </p:txBody>
      </p:sp>
      <p:sp>
        <p:nvSpPr>
          <p:cNvPr id="5" name="Footer Placeholder 4"/>
          <p:cNvSpPr>
            <a:spLocks noGrp="1"/>
          </p:cNvSpPr>
          <p:nvPr>
            <p:ph type="ftr" sz="quarter" idx="11"/>
          </p:nvPr>
        </p:nvSpPr>
        <p:spPr/>
        <p:txBody>
          <a:bodyPr/>
          <a:lstStyle/>
          <a:p>
            <a:endParaRPr lang="es-MX"/>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4FA4FED1-7FA2-438C-9FF5-DDC3A966B11A}" type="slidenum">
              <a:rPr lang="es-MX" smtClean="0"/>
              <a:t>‹Nº›</a:t>
            </a:fld>
            <a:endParaRPr lang="es-MX"/>
          </a:p>
        </p:txBody>
      </p:sp>
    </p:spTree>
    <p:extLst>
      <p:ext uri="{BB962C8B-B14F-4D97-AF65-F5344CB8AC3E}">
        <p14:creationId xmlns:p14="http://schemas.microsoft.com/office/powerpoint/2010/main" val="28840001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s-ES"/>
              <a:t>Haga clic para modificar el estilo de título del patrón</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71ED7BC1-F8D8-4A44-BF93-EB302641ED64}" type="datetimeFigureOut">
              <a:rPr lang="es-MX" smtClean="0"/>
              <a:t>16/03/2026</a:t>
            </a:fld>
            <a:endParaRPr lang="es-MX"/>
          </a:p>
        </p:txBody>
      </p:sp>
      <p:sp>
        <p:nvSpPr>
          <p:cNvPr id="5" name="Footer Placeholder 4"/>
          <p:cNvSpPr>
            <a:spLocks noGrp="1"/>
          </p:cNvSpPr>
          <p:nvPr>
            <p:ph type="ftr" sz="quarter" idx="11"/>
          </p:nvPr>
        </p:nvSpPr>
        <p:spPr/>
        <p:txBody>
          <a:bodyPr/>
          <a:lstStyle/>
          <a:p>
            <a:endParaRPr lang="es-MX"/>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4FA4FED1-7FA2-438C-9FF5-DDC3A966B11A}" type="slidenum">
              <a:rPr lang="es-MX" smtClean="0"/>
              <a:t>‹Nº›</a:t>
            </a:fld>
            <a:endParaRPr lang="es-MX"/>
          </a:p>
        </p:txBody>
      </p:sp>
    </p:spTree>
    <p:extLst>
      <p:ext uri="{BB962C8B-B14F-4D97-AF65-F5344CB8AC3E}">
        <p14:creationId xmlns:p14="http://schemas.microsoft.com/office/powerpoint/2010/main" val="3223774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71ED7BC1-F8D8-4A44-BF93-EB302641ED64}" type="datetimeFigureOut">
              <a:rPr lang="es-MX" smtClean="0"/>
              <a:t>16/03/2026</a:t>
            </a:fld>
            <a:endParaRPr lang="es-MX"/>
          </a:p>
        </p:txBody>
      </p:sp>
      <p:sp>
        <p:nvSpPr>
          <p:cNvPr id="5" name="Footer Placeholder 4"/>
          <p:cNvSpPr>
            <a:spLocks noGrp="1"/>
          </p:cNvSpPr>
          <p:nvPr>
            <p:ph type="ftr" sz="quarter" idx="11"/>
          </p:nvPr>
        </p:nvSpPr>
        <p:spPr/>
        <p:txBody>
          <a:bodyPr/>
          <a:lstStyle/>
          <a:p>
            <a:endParaRPr lang="es-MX"/>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4FA4FED1-7FA2-438C-9FF5-DDC3A966B11A}" type="slidenum">
              <a:rPr lang="es-MX" smtClean="0"/>
              <a:t>‹Nº›</a:t>
            </a:fld>
            <a:endParaRPr lang="es-MX"/>
          </a:p>
        </p:txBody>
      </p:sp>
    </p:spTree>
    <p:extLst>
      <p:ext uri="{BB962C8B-B14F-4D97-AF65-F5344CB8AC3E}">
        <p14:creationId xmlns:p14="http://schemas.microsoft.com/office/powerpoint/2010/main" val="34111644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71ED7BC1-F8D8-4A44-BF93-EB302641ED64}" type="datetimeFigureOut">
              <a:rPr lang="es-MX" smtClean="0"/>
              <a:t>16/03/2026</a:t>
            </a:fld>
            <a:endParaRPr lang="es-MX"/>
          </a:p>
        </p:txBody>
      </p:sp>
      <p:sp>
        <p:nvSpPr>
          <p:cNvPr id="6" name="Footer Placeholder 5"/>
          <p:cNvSpPr>
            <a:spLocks noGrp="1"/>
          </p:cNvSpPr>
          <p:nvPr>
            <p:ph type="ftr" sz="quarter" idx="11"/>
          </p:nvPr>
        </p:nvSpPr>
        <p:spPr/>
        <p:txBody>
          <a:bodyPr/>
          <a:lstStyle/>
          <a:p>
            <a:endParaRPr lang="es-MX"/>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4FA4FED1-7FA2-438C-9FF5-DDC3A966B11A}" type="slidenum">
              <a:rPr lang="es-MX" smtClean="0"/>
              <a:t>‹Nº›</a:t>
            </a:fld>
            <a:endParaRPr lang="es-MX"/>
          </a:p>
        </p:txBody>
      </p:sp>
    </p:spTree>
    <p:extLst>
      <p:ext uri="{BB962C8B-B14F-4D97-AF65-F5344CB8AC3E}">
        <p14:creationId xmlns:p14="http://schemas.microsoft.com/office/powerpoint/2010/main" val="4256051752"/>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71ED7BC1-F8D8-4A44-BF93-EB302641ED64}" type="datetimeFigureOut">
              <a:rPr lang="es-MX" smtClean="0"/>
              <a:t>16/03/2026</a:t>
            </a:fld>
            <a:endParaRPr lang="es-MX"/>
          </a:p>
        </p:txBody>
      </p:sp>
      <p:sp>
        <p:nvSpPr>
          <p:cNvPr id="8" name="Footer Placeholder 7"/>
          <p:cNvSpPr>
            <a:spLocks noGrp="1"/>
          </p:cNvSpPr>
          <p:nvPr>
            <p:ph type="ftr" sz="quarter" idx="11"/>
          </p:nvPr>
        </p:nvSpPr>
        <p:spPr/>
        <p:txBody>
          <a:bodyPr/>
          <a:lstStyle/>
          <a:p>
            <a:endParaRPr lang="es-MX"/>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4FA4FED1-7FA2-438C-9FF5-DDC3A966B11A}" type="slidenum">
              <a:rPr lang="es-MX" smtClean="0"/>
              <a:t>‹Nº›</a:t>
            </a:fld>
            <a:endParaRPr lang="es-MX"/>
          </a:p>
        </p:txBody>
      </p:sp>
    </p:spTree>
    <p:extLst>
      <p:ext uri="{BB962C8B-B14F-4D97-AF65-F5344CB8AC3E}">
        <p14:creationId xmlns:p14="http://schemas.microsoft.com/office/powerpoint/2010/main" val="816805690"/>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71ED7BC1-F8D8-4A44-BF93-EB302641ED64}" type="datetimeFigureOut">
              <a:rPr lang="es-MX" smtClean="0"/>
              <a:t>16/03/2026</a:t>
            </a:fld>
            <a:endParaRPr lang="es-MX"/>
          </a:p>
        </p:txBody>
      </p:sp>
      <p:sp>
        <p:nvSpPr>
          <p:cNvPr id="4" name="Footer Placeholder 3"/>
          <p:cNvSpPr>
            <a:spLocks noGrp="1"/>
          </p:cNvSpPr>
          <p:nvPr>
            <p:ph type="ftr" sz="quarter" idx="11"/>
          </p:nvPr>
        </p:nvSpPr>
        <p:spPr/>
        <p:txBody>
          <a:bodyPr/>
          <a:lstStyle/>
          <a:p>
            <a:endParaRPr lang="es-MX"/>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4FA4FED1-7FA2-438C-9FF5-DDC3A966B11A}" type="slidenum">
              <a:rPr lang="es-MX" smtClean="0"/>
              <a:t>‹Nº›</a:t>
            </a:fld>
            <a:endParaRPr lang="es-MX"/>
          </a:p>
        </p:txBody>
      </p:sp>
    </p:spTree>
    <p:extLst>
      <p:ext uri="{BB962C8B-B14F-4D97-AF65-F5344CB8AC3E}">
        <p14:creationId xmlns:p14="http://schemas.microsoft.com/office/powerpoint/2010/main" val="3593544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1ED7BC1-F8D8-4A44-BF93-EB302641ED64}" type="datetimeFigureOut">
              <a:rPr lang="es-MX" smtClean="0"/>
              <a:t>16/03/2026</a:t>
            </a:fld>
            <a:endParaRPr lang="es-MX"/>
          </a:p>
        </p:txBody>
      </p:sp>
      <p:sp>
        <p:nvSpPr>
          <p:cNvPr id="3" name="Footer Placeholder 2"/>
          <p:cNvSpPr>
            <a:spLocks noGrp="1"/>
          </p:cNvSpPr>
          <p:nvPr>
            <p:ph type="ftr" sz="quarter" idx="11"/>
          </p:nvPr>
        </p:nvSpPr>
        <p:spPr/>
        <p:txBody>
          <a:bodyPr/>
          <a:lstStyle/>
          <a:p>
            <a:endParaRPr lang="es-MX"/>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4FA4FED1-7FA2-438C-9FF5-DDC3A966B11A}" type="slidenum">
              <a:rPr lang="es-MX" smtClean="0"/>
              <a:t>‹Nº›</a:t>
            </a:fld>
            <a:endParaRPr lang="es-MX"/>
          </a:p>
        </p:txBody>
      </p:sp>
    </p:spTree>
    <p:extLst>
      <p:ext uri="{BB962C8B-B14F-4D97-AF65-F5344CB8AC3E}">
        <p14:creationId xmlns:p14="http://schemas.microsoft.com/office/powerpoint/2010/main" val="38895848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s-ES"/>
              <a:t>Haga clic para modificar el estilo de título del patrón</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71ED7BC1-F8D8-4A44-BF93-EB302641ED64}" type="datetimeFigureOut">
              <a:rPr lang="es-MX" smtClean="0"/>
              <a:t>16/03/2026</a:t>
            </a:fld>
            <a:endParaRPr lang="es-MX"/>
          </a:p>
        </p:txBody>
      </p:sp>
      <p:sp>
        <p:nvSpPr>
          <p:cNvPr id="6" name="Footer Placeholder 5"/>
          <p:cNvSpPr>
            <a:spLocks noGrp="1"/>
          </p:cNvSpPr>
          <p:nvPr>
            <p:ph type="ftr" sz="quarter" idx="11"/>
          </p:nvPr>
        </p:nvSpPr>
        <p:spPr/>
        <p:txBody>
          <a:bodyPr/>
          <a:lstStyle/>
          <a:p>
            <a:endParaRPr lang="es-MX"/>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4FA4FED1-7FA2-438C-9FF5-DDC3A966B11A}" type="slidenum">
              <a:rPr lang="es-MX" smtClean="0"/>
              <a:t>‹Nº›</a:t>
            </a:fld>
            <a:endParaRPr lang="es-MX"/>
          </a:p>
        </p:txBody>
      </p:sp>
    </p:spTree>
    <p:extLst>
      <p:ext uri="{BB962C8B-B14F-4D97-AF65-F5344CB8AC3E}">
        <p14:creationId xmlns:p14="http://schemas.microsoft.com/office/powerpoint/2010/main" val="2706170849"/>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71ED7BC1-F8D8-4A44-BF93-EB302641ED64}" type="datetimeFigureOut">
              <a:rPr lang="es-MX" smtClean="0"/>
              <a:t>16/03/2026</a:t>
            </a:fld>
            <a:endParaRPr lang="es-MX"/>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4FA4FED1-7FA2-438C-9FF5-DDC3A966B11A}" type="slidenum">
              <a:rPr lang="es-MX" smtClean="0"/>
              <a:t>‹Nº›</a:t>
            </a:fld>
            <a:endParaRPr lang="es-MX"/>
          </a:p>
        </p:txBody>
      </p:sp>
    </p:spTree>
    <p:extLst>
      <p:ext uri="{BB962C8B-B14F-4D97-AF65-F5344CB8AC3E}">
        <p14:creationId xmlns:p14="http://schemas.microsoft.com/office/powerpoint/2010/main" val="25096027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71ED7BC1-F8D8-4A44-BF93-EB302641ED64}" type="datetimeFigureOut">
              <a:rPr lang="es-MX" smtClean="0"/>
              <a:t>16/03/2026</a:t>
            </a:fld>
            <a:endParaRPr lang="es-MX"/>
          </a:p>
        </p:txBody>
      </p:sp>
      <p:sp>
        <p:nvSpPr>
          <p:cNvPr id="5" name="Footer Placeholder 4"/>
          <p:cNvSpPr>
            <a:spLocks noGrp="1"/>
          </p:cNvSpPr>
          <p:nvPr>
            <p:ph type="ftr" sz="quarter" idx="11"/>
          </p:nvPr>
        </p:nvSpPr>
        <p:spPr/>
        <p:txBody>
          <a:bodyPr/>
          <a:lstStyle/>
          <a:p>
            <a:endParaRPr lang="es-MX"/>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4FA4FED1-7FA2-438C-9FF5-DDC3A966B11A}" type="slidenum">
              <a:rPr lang="es-MX" smtClean="0"/>
              <a:t>‹Nº›</a:t>
            </a:fld>
            <a:endParaRPr lang="es-MX"/>
          </a:p>
        </p:txBody>
      </p:sp>
    </p:spTree>
    <p:extLst>
      <p:ext uri="{BB962C8B-B14F-4D97-AF65-F5344CB8AC3E}">
        <p14:creationId xmlns:p14="http://schemas.microsoft.com/office/powerpoint/2010/main" val="25390328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s-ES"/>
              <a:t>Haga clic para modificar el estilo de título del patrón</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71ED7BC1-F8D8-4A44-BF93-EB302641ED64}" type="datetimeFigureOut">
              <a:rPr lang="es-MX" smtClean="0"/>
              <a:t>16/03/2026</a:t>
            </a:fld>
            <a:endParaRPr lang="es-MX"/>
          </a:p>
        </p:txBody>
      </p:sp>
      <p:sp>
        <p:nvSpPr>
          <p:cNvPr id="5" name="Footer Placeholder 4"/>
          <p:cNvSpPr>
            <a:spLocks noGrp="1"/>
          </p:cNvSpPr>
          <p:nvPr>
            <p:ph type="ftr" sz="quarter" idx="11"/>
          </p:nvPr>
        </p:nvSpPr>
        <p:spPr/>
        <p:txBody>
          <a:bodyPr/>
          <a:lstStyle/>
          <a:p>
            <a:endParaRPr lang="es-MX"/>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4FA4FED1-7FA2-438C-9FF5-DDC3A966B11A}" type="slidenum">
              <a:rPr lang="es-MX" smtClean="0"/>
              <a:t>‹Nº›</a:t>
            </a:fld>
            <a:endParaRPr lang="es-MX"/>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8196468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s-ES"/>
              <a:t>Haga clic para modificar los estilos de texto del patrón</a:t>
            </a:r>
          </a:p>
        </p:txBody>
      </p:sp>
      <p:sp>
        <p:nvSpPr>
          <p:cNvPr id="5" name="Date Placeholder 4"/>
          <p:cNvSpPr>
            <a:spLocks noGrp="1"/>
          </p:cNvSpPr>
          <p:nvPr>
            <p:ph type="dt" sz="half" idx="10"/>
          </p:nvPr>
        </p:nvSpPr>
        <p:spPr/>
        <p:txBody>
          <a:bodyPr/>
          <a:lstStyle/>
          <a:p>
            <a:fld id="{71ED7BC1-F8D8-4A44-BF93-EB302641ED64}" type="datetimeFigureOut">
              <a:rPr lang="es-MX" smtClean="0"/>
              <a:t>16/03/2026</a:t>
            </a:fld>
            <a:endParaRPr lang="es-MX"/>
          </a:p>
        </p:txBody>
      </p:sp>
      <p:sp>
        <p:nvSpPr>
          <p:cNvPr id="6" name="Footer Placeholder 5"/>
          <p:cNvSpPr>
            <a:spLocks noGrp="1"/>
          </p:cNvSpPr>
          <p:nvPr>
            <p:ph type="ftr" sz="quarter" idx="11"/>
          </p:nvPr>
        </p:nvSpPr>
        <p:spPr/>
        <p:txBody>
          <a:bodyPr/>
          <a:lstStyle/>
          <a:p>
            <a:endParaRPr lang="es-MX"/>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4FA4FED1-7FA2-438C-9FF5-DDC3A966B11A}" type="slidenum">
              <a:rPr lang="es-MX" smtClean="0"/>
              <a:t>‹Nº›</a:t>
            </a:fld>
            <a:endParaRPr lang="es-MX"/>
          </a:p>
        </p:txBody>
      </p:sp>
    </p:spTree>
    <p:extLst>
      <p:ext uri="{BB962C8B-B14F-4D97-AF65-F5344CB8AC3E}">
        <p14:creationId xmlns:p14="http://schemas.microsoft.com/office/powerpoint/2010/main" val="102132445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s-ES"/>
              <a:t>Haga clic para modificar el estilo de título del patrón</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s-ES"/>
              <a:t>Haga clic para modificar los estilos de texto del patrón</a:t>
            </a:r>
          </a:p>
        </p:txBody>
      </p:sp>
      <p:sp>
        <p:nvSpPr>
          <p:cNvPr id="5" name="Date Placeholder 4"/>
          <p:cNvSpPr>
            <a:spLocks noGrp="1"/>
          </p:cNvSpPr>
          <p:nvPr>
            <p:ph type="dt" sz="half" idx="10"/>
          </p:nvPr>
        </p:nvSpPr>
        <p:spPr/>
        <p:txBody>
          <a:bodyPr/>
          <a:lstStyle/>
          <a:p>
            <a:fld id="{71ED7BC1-F8D8-4A44-BF93-EB302641ED64}" type="datetimeFigureOut">
              <a:rPr lang="es-MX" smtClean="0"/>
              <a:t>16/03/2026</a:t>
            </a:fld>
            <a:endParaRPr lang="es-MX"/>
          </a:p>
        </p:txBody>
      </p:sp>
      <p:sp>
        <p:nvSpPr>
          <p:cNvPr id="6" name="Footer Placeholder 5"/>
          <p:cNvSpPr>
            <a:spLocks noGrp="1"/>
          </p:cNvSpPr>
          <p:nvPr>
            <p:ph type="ftr" sz="quarter" idx="11"/>
          </p:nvPr>
        </p:nvSpPr>
        <p:spPr/>
        <p:txBody>
          <a:bodyPr/>
          <a:lstStyle/>
          <a:p>
            <a:endParaRPr lang="es-MX"/>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4FA4FED1-7FA2-438C-9FF5-DDC3A966B11A}" type="slidenum">
              <a:rPr lang="es-MX" smtClean="0"/>
              <a:t>‹Nº›</a:t>
            </a:fld>
            <a:endParaRPr lang="es-MX"/>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9355710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s-ES"/>
              <a:t>Haga clic para modificar el estilo de título del patrón</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s-ES"/>
              <a:t>Haga clic para modificar los estilos de texto del patrón</a:t>
            </a:r>
          </a:p>
        </p:txBody>
      </p:sp>
      <p:sp>
        <p:nvSpPr>
          <p:cNvPr id="5" name="Date Placeholder 4"/>
          <p:cNvSpPr>
            <a:spLocks noGrp="1"/>
          </p:cNvSpPr>
          <p:nvPr>
            <p:ph type="dt" sz="half" idx="10"/>
          </p:nvPr>
        </p:nvSpPr>
        <p:spPr/>
        <p:txBody>
          <a:bodyPr/>
          <a:lstStyle/>
          <a:p>
            <a:fld id="{71ED7BC1-F8D8-4A44-BF93-EB302641ED64}" type="datetimeFigureOut">
              <a:rPr lang="es-MX" smtClean="0"/>
              <a:t>16/03/2026</a:t>
            </a:fld>
            <a:endParaRPr lang="es-MX"/>
          </a:p>
        </p:txBody>
      </p:sp>
      <p:sp>
        <p:nvSpPr>
          <p:cNvPr id="6" name="Footer Placeholder 5"/>
          <p:cNvSpPr>
            <a:spLocks noGrp="1"/>
          </p:cNvSpPr>
          <p:nvPr>
            <p:ph type="ftr" sz="quarter" idx="11"/>
          </p:nvPr>
        </p:nvSpPr>
        <p:spPr/>
        <p:txBody>
          <a:bodyPr/>
          <a:lstStyle/>
          <a:p>
            <a:endParaRPr lang="es-MX"/>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4FA4FED1-7FA2-438C-9FF5-DDC3A966B11A}" type="slidenum">
              <a:rPr lang="es-MX" smtClean="0"/>
              <a:t>‹Nº›</a:t>
            </a:fld>
            <a:endParaRPr lang="es-MX"/>
          </a:p>
        </p:txBody>
      </p:sp>
    </p:spTree>
    <p:extLst>
      <p:ext uri="{BB962C8B-B14F-4D97-AF65-F5344CB8AC3E}">
        <p14:creationId xmlns:p14="http://schemas.microsoft.com/office/powerpoint/2010/main" val="26216937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71ED7BC1-F8D8-4A44-BF93-EB302641ED64}" type="datetimeFigureOut">
              <a:rPr lang="es-MX" smtClean="0"/>
              <a:t>16/03/2026</a:t>
            </a:fld>
            <a:endParaRPr lang="es-MX"/>
          </a:p>
        </p:txBody>
      </p:sp>
      <p:sp>
        <p:nvSpPr>
          <p:cNvPr id="5" name="Footer Placeholder 4"/>
          <p:cNvSpPr>
            <a:spLocks noGrp="1"/>
          </p:cNvSpPr>
          <p:nvPr>
            <p:ph type="ftr" sz="quarter" idx="11"/>
          </p:nvPr>
        </p:nvSpPr>
        <p:spPr/>
        <p:txBody>
          <a:bodyPr/>
          <a:lstStyle/>
          <a:p>
            <a:endParaRPr lang="es-MX"/>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4FA4FED1-7FA2-438C-9FF5-DDC3A966B11A}" type="slidenum">
              <a:rPr lang="es-MX" smtClean="0"/>
              <a:t>‹Nº›</a:t>
            </a:fld>
            <a:endParaRPr lang="es-MX"/>
          </a:p>
        </p:txBody>
      </p:sp>
    </p:spTree>
    <p:extLst>
      <p:ext uri="{BB962C8B-B14F-4D97-AF65-F5344CB8AC3E}">
        <p14:creationId xmlns:p14="http://schemas.microsoft.com/office/powerpoint/2010/main" val="31825971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71ED7BC1-F8D8-4A44-BF93-EB302641ED64}" type="datetimeFigureOut">
              <a:rPr lang="es-MX" smtClean="0"/>
              <a:t>16/03/2026</a:t>
            </a:fld>
            <a:endParaRPr lang="es-MX"/>
          </a:p>
        </p:txBody>
      </p:sp>
      <p:sp>
        <p:nvSpPr>
          <p:cNvPr id="5" name="Footer Placeholder 4"/>
          <p:cNvSpPr>
            <a:spLocks noGrp="1"/>
          </p:cNvSpPr>
          <p:nvPr>
            <p:ph type="ftr" sz="quarter" idx="11"/>
          </p:nvPr>
        </p:nvSpPr>
        <p:spPr/>
        <p:txBody>
          <a:bodyPr/>
          <a:lstStyle/>
          <a:p>
            <a:endParaRPr lang="es-MX"/>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4FA4FED1-7FA2-438C-9FF5-DDC3A966B11A}" type="slidenum">
              <a:rPr lang="es-MX" smtClean="0"/>
              <a:t>‹Nº›</a:t>
            </a:fld>
            <a:endParaRPr lang="es-MX"/>
          </a:p>
        </p:txBody>
      </p:sp>
    </p:spTree>
    <p:extLst>
      <p:ext uri="{BB962C8B-B14F-4D97-AF65-F5344CB8AC3E}">
        <p14:creationId xmlns:p14="http://schemas.microsoft.com/office/powerpoint/2010/main" val="2017845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157"/>
            <a:ext cx="2356674" cy="6853096"/>
            <a:chOff x="6627813" y="195610"/>
            <a:chExt cx="1952625" cy="5678141"/>
          </a:xfrm>
        </p:grpSpPr>
        <p:sp>
          <p:nvSpPr>
            <p:cNvPr id="11" name="Freeform 27"/>
            <p:cNvSpPr/>
            <p:nvPr/>
          </p:nvSpPr>
          <p:spPr bwMode="auto">
            <a:xfrm>
              <a:off x="6627813" y="195610"/>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71ED7BC1-F8D8-4A44-BF93-EB302641ED64}" type="datetimeFigureOut">
              <a:rPr lang="es-MX" smtClean="0"/>
              <a:t>16/03/2026</a:t>
            </a:fld>
            <a:endParaRPr lang="es-MX"/>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s-MX"/>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4FA4FED1-7FA2-438C-9FF5-DDC3A966B11A}" type="slidenum">
              <a:rPr lang="es-MX" smtClean="0"/>
              <a:t>‹Nº›</a:t>
            </a:fld>
            <a:endParaRPr lang="es-MX"/>
          </a:p>
        </p:txBody>
      </p:sp>
    </p:spTree>
    <p:extLst>
      <p:ext uri="{BB962C8B-B14F-4D97-AF65-F5344CB8AC3E}">
        <p14:creationId xmlns:p14="http://schemas.microsoft.com/office/powerpoint/2010/main" val="2272394348"/>
      </p:ext>
    </p:extLst>
  </p:cSld>
  <p:clrMap bg1="lt1" tx1="dk1" bg2="lt2" tx2="dk2" accent1="accent1" accent2="accent2" accent3="accent3" accent4="accent4" accent5="accent5" accent6="accent6" hlink="hlink" folHlink="folHlink"/>
  <p:sldLayoutIdLst>
    <p:sldLayoutId id="2147484163" r:id="rId1"/>
    <p:sldLayoutId id="2147484164" r:id="rId2"/>
    <p:sldLayoutId id="2147484165" r:id="rId3"/>
    <p:sldLayoutId id="2147484166" r:id="rId4"/>
    <p:sldLayoutId id="2147484167" r:id="rId5"/>
    <p:sldLayoutId id="2147484168" r:id="rId6"/>
    <p:sldLayoutId id="2147484169" r:id="rId7"/>
    <p:sldLayoutId id="2147484170" r:id="rId8"/>
    <p:sldLayoutId id="2147484171" r:id="rId9"/>
    <p:sldLayoutId id="2147484172" r:id="rId10"/>
    <p:sldLayoutId id="2147484173" r:id="rId11"/>
    <p:sldLayoutId id="2147484174" r:id="rId12"/>
    <p:sldLayoutId id="2147484175" r:id="rId13"/>
    <p:sldLayoutId id="2147484176" r:id="rId14"/>
    <p:sldLayoutId id="2147484177" r:id="rId15"/>
    <p:sldLayoutId id="2147484178" r:id="rId16"/>
  </p:sldLayoutIdLst>
  <p:txStyles>
    <p:titleStyle>
      <a:lvl1pPr algn="l" defTabSz="457200" rtl="0" eaLnBrk="1" latinLnBrk="0" hangingPunct="1">
        <a:spcBef>
          <a:spcPct val="0"/>
        </a:spcBef>
        <a:buNone/>
        <a:defRPr sz="36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83C3B862-1A26-A91F-FB13-08DDB2853AC5}"/>
              </a:ext>
            </a:extLst>
          </p:cNvPr>
          <p:cNvSpPr txBox="1"/>
          <p:nvPr/>
        </p:nvSpPr>
        <p:spPr>
          <a:xfrm>
            <a:off x="1667686" y="1959462"/>
            <a:ext cx="4622292" cy="3159904"/>
          </a:xfrm>
          <a:prstGeom prst="rect">
            <a:avLst/>
          </a:prstGeom>
          <a:noFill/>
        </p:spPr>
        <p:txBody>
          <a:bodyPr wrap="square">
            <a:spAutoFit/>
          </a:bodyPr>
          <a:lstStyle/>
          <a:p>
            <a:pPr algn="ctr">
              <a:lnSpc>
                <a:spcPct val="107000"/>
              </a:lnSpc>
              <a:spcAft>
                <a:spcPts val="800"/>
              </a:spcAft>
            </a:pPr>
            <a:r>
              <a:rPr lang="es-MX" b="1" dirty="0">
                <a:latin typeface="Arial" panose="020B0604020202020204" pitchFamily="34" charset="0"/>
                <a:ea typeface="Calibri" panose="020F0502020204030204" pitchFamily="34" charset="0"/>
                <a:cs typeface="Arial" panose="020B0604020202020204" pitchFamily="34" charset="0"/>
              </a:rPr>
              <a:t>Nombre del alumno: </a:t>
            </a:r>
            <a:endParaRPr lang="es-MX" sz="1600" dirty="0">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s-MX" dirty="0">
                <a:latin typeface="Arial" panose="020B0604020202020204" pitchFamily="34" charset="0"/>
                <a:ea typeface="Calibri" panose="020F0502020204030204" pitchFamily="34" charset="0"/>
                <a:cs typeface="Arial" panose="020B0604020202020204" pitchFamily="34" charset="0"/>
              </a:rPr>
              <a:t>Cynthia Jasmine Morales Torres</a:t>
            </a:r>
            <a:endParaRPr lang="es-MX" sz="1600" dirty="0">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s-MX" b="1" dirty="0">
                <a:latin typeface="Arial" panose="020B0604020202020204" pitchFamily="34" charset="0"/>
                <a:ea typeface="Calibri" panose="020F0502020204030204" pitchFamily="34" charset="0"/>
                <a:cs typeface="Arial" panose="020B0604020202020204" pitchFamily="34" charset="0"/>
              </a:rPr>
              <a:t>Numero de control</a:t>
            </a:r>
            <a:r>
              <a:rPr lang="es-MX" dirty="0">
                <a:latin typeface="Arial" panose="020B0604020202020204" pitchFamily="34" charset="0"/>
                <a:ea typeface="Calibri" panose="020F0502020204030204" pitchFamily="34" charset="0"/>
                <a:cs typeface="Arial" panose="020B0604020202020204" pitchFamily="34" charset="0"/>
              </a:rPr>
              <a:t>:</a:t>
            </a:r>
            <a:endParaRPr lang="es-MX" sz="1600" dirty="0">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s-MX" dirty="0">
                <a:latin typeface="Arial" panose="020B0604020202020204" pitchFamily="34" charset="0"/>
                <a:ea typeface="Calibri" panose="020F0502020204030204" pitchFamily="34" charset="0"/>
                <a:cs typeface="Arial" panose="020B0604020202020204" pitchFamily="34" charset="0"/>
              </a:rPr>
              <a:t>231260014</a:t>
            </a:r>
            <a:endParaRPr lang="es-MX" sz="1600" dirty="0">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s-MX" sz="1800" b="1" dirty="0">
                <a:effectLst/>
                <a:latin typeface="Arial" panose="020B0604020202020204" pitchFamily="34" charset="0"/>
                <a:ea typeface="Calibri" panose="020F0502020204030204" pitchFamily="34" charset="0"/>
                <a:cs typeface="Arial" panose="020B0604020202020204" pitchFamily="34" charset="0"/>
              </a:rPr>
              <a:t>Semestre:  </a:t>
            </a:r>
            <a:endParaRPr lang="es-MX" sz="16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s-MX" sz="1800" dirty="0">
                <a:effectLst/>
                <a:latin typeface="Arial" panose="020B0604020202020204" pitchFamily="34" charset="0"/>
                <a:ea typeface="Calibri" panose="020F0502020204030204" pitchFamily="34" charset="0"/>
                <a:cs typeface="Arial" panose="020B0604020202020204" pitchFamily="34" charset="0"/>
              </a:rPr>
              <a:t>Sexto semestre </a:t>
            </a:r>
            <a:endParaRPr lang="es-MX" sz="16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s-MX" sz="1800" b="1" dirty="0">
                <a:effectLst/>
                <a:latin typeface="Arial" panose="020B0604020202020204" pitchFamily="34" charset="0"/>
                <a:ea typeface="Calibri" panose="020F0502020204030204" pitchFamily="34" charset="0"/>
                <a:cs typeface="Arial" panose="020B0604020202020204" pitchFamily="34" charset="0"/>
              </a:rPr>
              <a:t>Especialidad:</a:t>
            </a:r>
            <a:endParaRPr lang="es-MX" sz="16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s-MX" sz="1800" dirty="0">
                <a:effectLst/>
                <a:latin typeface="Arial" panose="020B0604020202020204" pitchFamily="34" charset="0"/>
                <a:ea typeface="Calibri" panose="020F0502020204030204" pitchFamily="34" charset="0"/>
                <a:cs typeface="Arial" panose="020B0604020202020204" pitchFamily="34" charset="0"/>
              </a:rPr>
              <a:t>Ingeniería en Sistemas Computacionales.</a:t>
            </a:r>
            <a:endParaRPr lang="es-MX" sz="16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5" name="CuadroTexto 4">
            <a:extLst>
              <a:ext uri="{FF2B5EF4-FFF2-40B4-BE49-F238E27FC236}">
                <a16:creationId xmlns:a16="http://schemas.microsoft.com/office/drawing/2014/main" id="{BC687ECD-F4FB-9CDE-51EF-A46CB9249DD4}"/>
              </a:ext>
            </a:extLst>
          </p:cNvPr>
          <p:cNvSpPr txBox="1"/>
          <p:nvPr/>
        </p:nvSpPr>
        <p:spPr>
          <a:xfrm>
            <a:off x="6039612" y="1961844"/>
            <a:ext cx="6099048" cy="3159904"/>
          </a:xfrm>
          <a:prstGeom prst="rect">
            <a:avLst/>
          </a:prstGeom>
          <a:noFill/>
        </p:spPr>
        <p:txBody>
          <a:bodyPr wrap="square">
            <a:spAutoFit/>
          </a:bodyPr>
          <a:lstStyle/>
          <a:p>
            <a:pPr algn="ctr">
              <a:lnSpc>
                <a:spcPct val="107000"/>
              </a:lnSpc>
              <a:spcAft>
                <a:spcPts val="800"/>
              </a:spcAft>
            </a:pPr>
            <a:r>
              <a:rPr lang="es-MX" sz="1800" b="1" dirty="0">
                <a:effectLst/>
                <a:latin typeface="Arial" panose="020B0604020202020204" pitchFamily="34" charset="0"/>
                <a:ea typeface="Calibri" panose="020F0502020204030204" pitchFamily="34" charset="0"/>
                <a:cs typeface="Arial" panose="020B0604020202020204" pitchFamily="34" charset="0"/>
              </a:rPr>
              <a:t>Nombre del docente: </a:t>
            </a:r>
            <a:endParaRPr lang="es-MX" sz="16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s-MX" sz="1800" dirty="0">
                <a:effectLst/>
                <a:latin typeface="Arial" panose="020B0604020202020204" pitchFamily="34" charset="0"/>
                <a:ea typeface="Calibri" panose="020F0502020204030204" pitchFamily="34" charset="0"/>
                <a:cs typeface="Arial" panose="020B0604020202020204" pitchFamily="34" charset="0"/>
              </a:rPr>
              <a:t>Ing. Francisco Javier Mingo Velázquez</a:t>
            </a:r>
          </a:p>
          <a:p>
            <a:pPr algn="ctr">
              <a:lnSpc>
                <a:spcPct val="107000"/>
              </a:lnSpc>
              <a:spcAft>
                <a:spcPts val="800"/>
              </a:spcAft>
            </a:pPr>
            <a:r>
              <a:rPr lang="es-MX" b="1" dirty="0">
                <a:effectLst/>
                <a:latin typeface="Arial" panose="020B0604020202020204" pitchFamily="34" charset="0"/>
                <a:ea typeface="Calibri" panose="020F0502020204030204" pitchFamily="34" charset="0"/>
                <a:cs typeface="Arial" panose="020B0604020202020204" pitchFamily="34" charset="0"/>
              </a:rPr>
              <a:t>Materia:</a:t>
            </a:r>
            <a:endParaRPr lang="es-MX" sz="16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s-MX" dirty="0">
                <a:effectLst/>
                <a:latin typeface="Arial" panose="020B0604020202020204" pitchFamily="34" charset="0"/>
                <a:ea typeface="Calibri" panose="020F0502020204030204" pitchFamily="34" charset="0"/>
                <a:cs typeface="Arial" panose="020B0604020202020204" pitchFamily="34" charset="0"/>
              </a:rPr>
              <a:t>Lenguajes y Autómatas 1</a:t>
            </a:r>
            <a:endParaRPr lang="es-MX"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s-MX" sz="1800" b="1" dirty="0">
                <a:effectLst/>
                <a:latin typeface="Arial" panose="020B0604020202020204" pitchFamily="34" charset="0"/>
                <a:ea typeface="Calibri" panose="020F0502020204030204" pitchFamily="34" charset="0"/>
                <a:cs typeface="Arial" panose="020B0604020202020204" pitchFamily="34" charset="0"/>
              </a:rPr>
              <a:t>Nombre del trabajo:</a:t>
            </a:r>
            <a:endParaRPr lang="es-MX" sz="16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s-MX" dirty="0">
                <a:latin typeface="Arial" panose="020B0604020202020204" pitchFamily="34" charset="0"/>
                <a:ea typeface="Calibri" panose="020F0502020204030204" pitchFamily="34" charset="0"/>
                <a:cs typeface="Arial" panose="020B0604020202020204" pitchFamily="34" charset="0"/>
              </a:rPr>
              <a:t>3</a:t>
            </a:r>
            <a:r>
              <a:rPr lang="es-MX" sz="1800" dirty="0">
                <a:effectLst/>
                <a:latin typeface="Arial" panose="020B0604020202020204" pitchFamily="34" charset="0"/>
                <a:ea typeface="Calibri" panose="020F0502020204030204" pitchFamily="34" charset="0"/>
                <a:cs typeface="Arial" panose="020B0604020202020204" pitchFamily="34" charset="0"/>
              </a:rPr>
              <a:t>.3 Ejercicios </a:t>
            </a:r>
            <a:endParaRPr lang="es-MX" sz="16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s-MX" sz="1800" b="1" dirty="0">
                <a:effectLst/>
                <a:latin typeface="Arial" panose="020B0604020202020204" pitchFamily="34" charset="0"/>
                <a:ea typeface="Calibri" panose="020F0502020204030204" pitchFamily="34" charset="0"/>
                <a:cs typeface="Arial" panose="020B0604020202020204" pitchFamily="34" charset="0"/>
              </a:rPr>
              <a:t>Fecha de entrega:</a:t>
            </a:r>
          </a:p>
          <a:p>
            <a:pPr algn="ctr">
              <a:lnSpc>
                <a:spcPct val="107000"/>
              </a:lnSpc>
              <a:spcAft>
                <a:spcPts val="800"/>
              </a:spcAft>
            </a:pPr>
            <a:r>
              <a:rPr lang="es-MX" dirty="0">
                <a:latin typeface="Arial" panose="020B0604020202020204" pitchFamily="34" charset="0"/>
                <a:ea typeface="Calibri" panose="020F0502020204030204" pitchFamily="34" charset="0"/>
                <a:cs typeface="Arial" panose="020B0604020202020204" pitchFamily="34" charset="0"/>
              </a:rPr>
              <a:t>28/02/2026</a:t>
            </a:r>
            <a:endParaRPr lang="es-MX" sz="16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6" name="CuadroTexto 5">
            <a:extLst>
              <a:ext uri="{FF2B5EF4-FFF2-40B4-BE49-F238E27FC236}">
                <a16:creationId xmlns:a16="http://schemas.microsoft.com/office/drawing/2014/main" id="{A61D7300-629E-93C6-2412-55A29B35EEB3}"/>
              </a:ext>
            </a:extLst>
          </p:cNvPr>
          <p:cNvSpPr txBox="1"/>
          <p:nvPr/>
        </p:nvSpPr>
        <p:spPr>
          <a:xfrm>
            <a:off x="3046476" y="5423776"/>
            <a:ext cx="6099048" cy="766172"/>
          </a:xfrm>
          <a:prstGeom prst="rect">
            <a:avLst/>
          </a:prstGeom>
          <a:noFill/>
        </p:spPr>
        <p:txBody>
          <a:bodyPr wrap="square">
            <a:spAutoFit/>
          </a:bodyPr>
          <a:lstStyle/>
          <a:p>
            <a:pPr algn="ctr">
              <a:lnSpc>
                <a:spcPct val="107000"/>
              </a:lnSpc>
              <a:spcAft>
                <a:spcPts val="800"/>
              </a:spcAft>
            </a:pPr>
            <a:r>
              <a:rPr lang="es-MX" sz="1800" b="1" dirty="0">
                <a:effectLst/>
                <a:latin typeface="Arial" panose="020B0604020202020204" pitchFamily="34" charset="0"/>
                <a:ea typeface="Calibri" panose="020F0502020204030204" pitchFamily="34" charset="0"/>
                <a:cs typeface="Arial" panose="020B0604020202020204" pitchFamily="34" charset="0"/>
              </a:rPr>
              <a:t> </a:t>
            </a:r>
            <a:endParaRPr lang="es-MX" sz="16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s-MX" sz="1800" dirty="0">
                <a:effectLst/>
                <a:latin typeface="Arial" panose="020B0604020202020204" pitchFamily="34" charset="0"/>
                <a:ea typeface="Calibri" panose="020F0502020204030204" pitchFamily="34" charset="0"/>
                <a:cs typeface="Arial" panose="020B0604020202020204" pitchFamily="34" charset="0"/>
              </a:rPr>
              <a:t>Frontera Comalapa, Chiapas. A 28 de Febrero del 2026.</a:t>
            </a:r>
            <a:endParaRPr lang="es-MX" sz="16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7" name="CuadroTexto 6">
            <a:extLst>
              <a:ext uri="{FF2B5EF4-FFF2-40B4-BE49-F238E27FC236}">
                <a16:creationId xmlns:a16="http://schemas.microsoft.com/office/drawing/2014/main" id="{D8759BCE-F6C2-6B6B-A396-1A61998152C3}"/>
              </a:ext>
            </a:extLst>
          </p:cNvPr>
          <p:cNvSpPr txBox="1"/>
          <p:nvPr/>
        </p:nvSpPr>
        <p:spPr>
          <a:xfrm>
            <a:off x="3132886" y="1063842"/>
            <a:ext cx="6099048" cy="766172"/>
          </a:xfrm>
          <a:prstGeom prst="rect">
            <a:avLst/>
          </a:prstGeom>
          <a:noFill/>
        </p:spPr>
        <p:txBody>
          <a:bodyPr wrap="square">
            <a:spAutoFit/>
          </a:bodyPr>
          <a:lstStyle/>
          <a:p>
            <a:pPr algn="ctr">
              <a:lnSpc>
                <a:spcPct val="107000"/>
              </a:lnSpc>
              <a:spcAft>
                <a:spcPts val="800"/>
              </a:spcAft>
            </a:pPr>
            <a:r>
              <a:rPr lang="es-MX" sz="1800" b="1" dirty="0">
                <a:effectLst/>
                <a:latin typeface="Arial" panose="020B0604020202020204" pitchFamily="34" charset="0"/>
                <a:ea typeface="Calibri" panose="020F0502020204030204" pitchFamily="34" charset="0"/>
                <a:cs typeface="Arial" panose="020B0604020202020204" pitchFamily="34" charset="0"/>
              </a:rPr>
              <a:t>Instituto Tecnológico de Frontera Comalapa</a:t>
            </a:r>
            <a:endParaRPr lang="es-MX" sz="16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s-MX" sz="1800" b="1" dirty="0">
                <a:effectLst/>
                <a:latin typeface="Arial" panose="020B0604020202020204" pitchFamily="34" charset="0"/>
                <a:ea typeface="Calibri" panose="020F0502020204030204" pitchFamily="34" charset="0"/>
                <a:cs typeface="Arial" panose="020B0604020202020204" pitchFamily="34" charset="0"/>
              </a:rPr>
              <a:t>Modalidad Mixta</a:t>
            </a:r>
            <a:endParaRPr lang="es-MX" sz="1600" dirty="0">
              <a:effectLst/>
              <a:latin typeface="Arial" panose="020B0604020202020204" pitchFamily="34" charset="0"/>
              <a:ea typeface="Calibri" panose="020F0502020204030204" pitchFamily="34" charset="0"/>
              <a:cs typeface="Times New Roman" panose="02020603050405020304" pitchFamily="18" charset="0"/>
            </a:endParaRPr>
          </a:p>
        </p:txBody>
      </p:sp>
      <p:grpSp>
        <p:nvGrpSpPr>
          <p:cNvPr id="8" name="Grupo 7">
            <a:extLst>
              <a:ext uri="{FF2B5EF4-FFF2-40B4-BE49-F238E27FC236}">
                <a16:creationId xmlns:a16="http://schemas.microsoft.com/office/drawing/2014/main" id="{19C911F4-7092-A64A-DAA5-3736490F4052}"/>
              </a:ext>
            </a:extLst>
          </p:cNvPr>
          <p:cNvGrpSpPr/>
          <p:nvPr/>
        </p:nvGrpSpPr>
        <p:grpSpPr>
          <a:xfrm>
            <a:off x="2860812" y="132537"/>
            <a:ext cx="6357600" cy="637319"/>
            <a:chOff x="0" y="0"/>
            <a:chExt cx="5454045" cy="554990"/>
          </a:xfrm>
        </p:grpSpPr>
        <p:pic>
          <p:nvPicPr>
            <p:cNvPr id="9" name="Imagen 8">
              <a:extLst>
                <a:ext uri="{FF2B5EF4-FFF2-40B4-BE49-F238E27FC236}">
                  <a16:creationId xmlns:a16="http://schemas.microsoft.com/office/drawing/2014/main" id="{76C6F7EB-E733-41D7-3AD0-3FC551C5AFA4}"/>
                </a:ext>
              </a:extLst>
            </p:cNvPr>
            <p:cNvPicPr>
              <a:picLocks noChangeAspect="1"/>
            </p:cNvPicPr>
            <p:nvPr/>
          </p:nvPicPr>
          <p:blipFill rotWithShape="1">
            <a:blip r:embed="rId2" cstate="print">
              <a:extLst>
                <a:ext uri="{BEBA8EAE-BF5A-486C-A8C5-ECC9F3942E4B}">
                  <a14:imgProps xmlns:a14="http://schemas.microsoft.com/office/drawing/2010/main">
                    <a14:imgLayer r:embed="rId3">
                      <a14:imgEffect>
                        <a14:backgroundRemoval t="0" b="100000" l="0" r="98790">
                          <a14:foregroundMark x1="69758" y1="22660" x2="69758" y2="22660"/>
                          <a14:foregroundMark x1="74194" y1="18227" x2="74194" y2="18227"/>
                          <a14:foregroundMark x1="84274" y1="16256" x2="84274" y2="16256"/>
                          <a14:foregroundMark x1="92339" y1="19704" x2="92339" y2="19704"/>
                          <a14:foregroundMark x1="95968" y1="25123" x2="95968" y2="25123"/>
                          <a14:foregroundMark x1="90323" y1="27094" x2="90323" y2="27094"/>
                          <a14:foregroundMark x1="80645" y1="21182" x2="80645" y2="21182"/>
                          <a14:foregroundMark x1="75806" y1="30542" x2="75806" y2="30542"/>
                          <a14:foregroundMark x1="75806" y1="36946" x2="75806" y2="36946"/>
                          <a14:foregroundMark x1="80242" y1="36453" x2="80242" y2="36453"/>
                          <a14:foregroundMark x1="80645" y1="30542" x2="80645" y2="30542"/>
                          <a14:foregroundMark x1="84677" y1="30049" x2="84677" y2="30049"/>
                          <a14:foregroundMark x1="84677" y1="36946" x2="84677" y2="36946"/>
                          <a14:foregroundMark x1="75403" y1="42857" x2="75403" y2="42857"/>
                          <a14:foregroundMark x1="81048" y1="46305" x2="81048" y2="46305"/>
                          <a14:foregroundMark x1="70161" y1="52217" x2="70161" y2="52217"/>
                          <a14:foregroundMark x1="77419" y1="51724" x2="77419" y2="51724"/>
                          <a14:foregroundMark x1="81452" y1="52217" x2="81452" y2="52217"/>
                          <a14:foregroundMark x1="85484" y1="51232" x2="85484" y2="51232"/>
                          <a14:foregroundMark x1="90323" y1="42365" x2="90323" y2="42365"/>
                        </a14:backgroundRemoval>
                      </a14:imgEffect>
                    </a14:imgLayer>
                  </a14:imgProps>
                </a:ext>
                <a:ext uri="{28A0092B-C50C-407E-A947-70E740481C1C}">
                  <a14:useLocalDpi xmlns:a14="http://schemas.microsoft.com/office/drawing/2010/main" val="0"/>
                </a:ext>
              </a:extLst>
            </a:blip>
            <a:srcRect b="29873"/>
            <a:stretch/>
          </p:blipFill>
          <p:spPr bwMode="auto">
            <a:xfrm>
              <a:off x="4486940" y="0"/>
              <a:ext cx="967105" cy="554990"/>
            </a:xfrm>
            <a:prstGeom prst="rect">
              <a:avLst/>
            </a:prstGeom>
            <a:ln>
              <a:noFill/>
            </a:ln>
            <a:extLst>
              <a:ext uri="{53640926-AAD7-44D8-BBD7-CCE9431645EC}">
                <a14:shadowObscured xmlns:a14="http://schemas.microsoft.com/office/drawing/2010/main"/>
              </a:ext>
            </a:extLst>
          </p:spPr>
        </p:pic>
        <p:pic>
          <p:nvPicPr>
            <p:cNvPr id="10" name="Imagen 9">
              <a:extLst>
                <a:ext uri="{FF2B5EF4-FFF2-40B4-BE49-F238E27FC236}">
                  <a16:creationId xmlns:a16="http://schemas.microsoft.com/office/drawing/2014/main" id="{73D1D2DE-8B5A-44BF-2DFF-798304DC4B6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83442" y="0"/>
              <a:ext cx="1221740" cy="539115"/>
            </a:xfrm>
            <a:prstGeom prst="rect">
              <a:avLst/>
            </a:prstGeom>
          </p:spPr>
        </p:pic>
        <p:pic>
          <p:nvPicPr>
            <p:cNvPr id="11" name="Imagen 10">
              <a:extLst>
                <a:ext uri="{FF2B5EF4-FFF2-40B4-BE49-F238E27FC236}">
                  <a16:creationId xmlns:a16="http://schemas.microsoft.com/office/drawing/2014/main" id="{F9EEC5B2-8672-8EE1-09B6-10DE857D2B9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0"/>
              <a:ext cx="2615565" cy="541655"/>
            </a:xfrm>
            <a:prstGeom prst="rect">
              <a:avLst/>
            </a:prstGeom>
          </p:spPr>
        </p:pic>
        <p:cxnSp>
          <p:nvCxnSpPr>
            <p:cNvPr id="12" name="Conector recto 11">
              <a:extLst>
                <a:ext uri="{FF2B5EF4-FFF2-40B4-BE49-F238E27FC236}">
                  <a16:creationId xmlns:a16="http://schemas.microsoft.com/office/drawing/2014/main" id="{C2469C6F-A637-E480-29B7-A982A4D1BE90}"/>
                </a:ext>
              </a:extLst>
            </p:cNvPr>
            <p:cNvCxnSpPr/>
            <p:nvPr/>
          </p:nvCxnSpPr>
          <p:spPr>
            <a:xfrm>
              <a:off x="2849526" y="53163"/>
              <a:ext cx="0" cy="435935"/>
            </a:xfrm>
            <a:prstGeom prst="line">
              <a:avLst/>
            </a:prstGeom>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33412690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2527C42-EBDE-6624-1F73-CA5766ADF95A}"/>
              </a:ext>
            </a:extLst>
          </p:cNvPr>
          <p:cNvSpPr>
            <a:spLocks noGrp="1"/>
          </p:cNvSpPr>
          <p:nvPr>
            <p:ph type="title"/>
          </p:nvPr>
        </p:nvSpPr>
        <p:spPr>
          <a:xfrm>
            <a:off x="1642013" y="624110"/>
            <a:ext cx="8911687" cy="633190"/>
          </a:xfrm>
        </p:spPr>
        <p:txBody>
          <a:bodyPr>
            <a:normAutofit fontScale="90000"/>
          </a:bodyPr>
          <a:lstStyle/>
          <a:p>
            <a:r>
              <a:rPr lang="es-MX" dirty="0"/>
              <a:t>introducción</a:t>
            </a:r>
          </a:p>
        </p:txBody>
      </p:sp>
      <p:sp>
        <p:nvSpPr>
          <p:cNvPr id="3" name="Marcador de contenido 2">
            <a:extLst>
              <a:ext uri="{FF2B5EF4-FFF2-40B4-BE49-F238E27FC236}">
                <a16:creationId xmlns:a16="http://schemas.microsoft.com/office/drawing/2014/main" id="{CF0AFBFB-A135-FEF7-3508-6FEBD3B6A48F}"/>
              </a:ext>
            </a:extLst>
          </p:cNvPr>
          <p:cNvSpPr>
            <a:spLocks noGrp="1"/>
          </p:cNvSpPr>
          <p:nvPr>
            <p:ph idx="1"/>
          </p:nvPr>
        </p:nvSpPr>
        <p:spPr>
          <a:xfrm>
            <a:off x="1638300" y="1578428"/>
            <a:ext cx="8915400" cy="1736271"/>
          </a:xfrm>
        </p:spPr>
        <p:txBody>
          <a:bodyPr>
            <a:normAutofit/>
          </a:bodyPr>
          <a:lstStyle/>
          <a:p>
            <a:pPr marL="0" indent="0" algn="just">
              <a:buNone/>
            </a:pPr>
            <a:r>
              <a:rPr lang="es-MX" dirty="0"/>
              <a:t>Los lenguajes formales y autómatas representan fundamentos clave en ingeniería en sistemas computacionales, modelando el reconocimiento de patrones específicos en secuencias simbólicas. Aquí se aplican conceptos mediante la construcción de autómatas que procesan expresiones regulares y demás, utilizando simulación interactiva para validar su comportamiento.</a:t>
            </a:r>
          </a:p>
        </p:txBody>
      </p:sp>
    </p:spTree>
    <p:extLst>
      <p:ext uri="{BB962C8B-B14F-4D97-AF65-F5344CB8AC3E}">
        <p14:creationId xmlns:p14="http://schemas.microsoft.com/office/powerpoint/2010/main" val="15565446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9A3FFF9-7328-4FB8-3F88-425EA72AF18A}"/>
              </a:ext>
            </a:extLst>
          </p:cNvPr>
          <p:cNvSpPr>
            <a:spLocks noGrp="1"/>
          </p:cNvSpPr>
          <p:nvPr>
            <p:ph type="title"/>
          </p:nvPr>
        </p:nvSpPr>
        <p:spPr>
          <a:xfrm>
            <a:off x="1956110" y="575124"/>
            <a:ext cx="8911687" cy="1280890"/>
          </a:xfrm>
        </p:spPr>
        <p:txBody>
          <a:bodyPr/>
          <a:lstStyle/>
          <a:p>
            <a:r>
              <a:rPr lang="es-MX" dirty="0"/>
              <a:t>justificación</a:t>
            </a:r>
          </a:p>
        </p:txBody>
      </p:sp>
      <p:sp>
        <p:nvSpPr>
          <p:cNvPr id="3" name="Marcador de contenido 2">
            <a:extLst>
              <a:ext uri="{FF2B5EF4-FFF2-40B4-BE49-F238E27FC236}">
                <a16:creationId xmlns:a16="http://schemas.microsoft.com/office/drawing/2014/main" id="{42206156-5724-0822-475F-F5B524DE545F}"/>
              </a:ext>
            </a:extLst>
          </p:cNvPr>
          <p:cNvSpPr>
            <a:spLocks noGrp="1"/>
          </p:cNvSpPr>
          <p:nvPr>
            <p:ph idx="1"/>
          </p:nvPr>
        </p:nvSpPr>
        <p:spPr>
          <a:xfrm>
            <a:off x="1805440" y="1464129"/>
            <a:ext cx="8915400" cy="1964871"/>
          </a:xfrm>
        </p:spPr>
        <p:txBody>
          <a:bodyPr/>
          <a:lstStyle/>
          <a:p>
            <a:pPr marL="0" indent="0" algn="just">
              <a:buNone/>
            </a:pPr>
            <a:r>
              <a:rPr lang="es-MX" dirty="0"/>
              <a:t>Dominar autómatas finitos es vital para el diseño de compiladores, analizadores léxicos y sistemas de verificación, habilidades esenciales en desarrollo de software y optimización algorítmica. JFLAP permite un aprendizaje visual al depurar transiciones y probar cadenas de entrada, fortaleciendo la comprensión teórica para aplicaciones en ciberseguridad y procesamiento de datos.</a:t>
            </a:r>
          </a:p>
        </p:txBody>
      </p:sp>
    </p:spTree>
    <p:extLst>
      <p:ext uri="{BB962C8B-B14F-4D97-AF65-F5344CB8AC3E}">
        <p14:creationId xmlns:p14="http://schemas.microsoft.com/office/powerpoint/2010/main" val="23661004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AC79F17-1C41-CF06-393B-83A231BBF34E}"/>
              </a:ext>
            </a:extLst>
          </p:cNvPr>
          <p:cNvSpPr>
            <a:spLocks noGrp="1"/>
          </p:cNvSpPr>
          <p:nvPr>
            <p:ph type="title"/>
          </p:nvPr>
        </p:nvSpPr>
        <p:spPr>
          <a:xfrm>
            <a:off x="1447800" y="116216"/>
            <a:ext cx="10591800" cy="912484"/>
          </a:xfrm>
        </p:spPr>
        <p:txBody>
          <a:bodyPr/>
          <a:lstStyle/>
          <a:p>
            <a:r>
              <a:rPr lang="es-MX" dirty="0"/>
              <a:t>Recordatorio del reporte de practica anterior:</a:t>
            </a:r>
          </a:p>
        </p:txBody>
      </p:sp>
      <p:sp>
        <p:nvSpPr>
          <p:cNvPr id="3" name="Marcador de contenido 2">
            <a:extLst>
              <a:ext uri="{FF2B5EF4-FFF2-40B4-BE49-F238E27FC236}">
                <a16:creationId xmlns:a16="http://schemas.microsoft.com/office/drawing/2014/main" id="{6A926033-5E1C-2446-DB40-F708AE7960C7}"/>
              </a:ext>
            </a:extLst>
          </p:cNvPr>
          <p:cNvSpPr>
            <a:spLocks noGrp="1"/>
          </p:cNvSpPr>
          <p:nvPr>
            <p:ph idx="1"/>
          </p:nvPr>
        </p:nvSpPr>
        <p:spPr>
          <a:xfrm>
            <a:off x="2286000" y="836112"/>
            <a:ext cx="8915400" cy="733425"/>
          </a:xfrm>
        </p:spPr>
        <p:txBody>
          <a:bodyPr/>
          <a:lstStyle/>
          <a:p>
            <a:r>
              <a:rPr lang="es-MX" dirty="0"/>
              <a:t>En los ejercicios presentados trabajaremos con JFLAP y usaremos el mismo menú y demás como el editor y la simulación:</a:t>
            </a:r>
          </a:p>
        </p:txBody>
      </p:sp>
      <p:pic>
        <p:nvPicPr>
          <p:cNvPr id="5" name="Imagen 4">
            <a:extLst>
              <a:ext uri="{FF2B5EF4-FFF2-40B4-BE49-F238E27FC236}">
                <a16:creationId xmlns:a16="http://schemas.microsoft.com/office/drawing/2014/main" id="{8F4F7251-86E3-82AA-E6B1-34836A789BDD}"/>
              </a:ext>
            </a:extLst>
          </p:cNvPr>
          <p:cNvPicPr>
            <a:picLocks noChangeAspect="1"/>
          </p:cNvPicPr>
          <p:nvPr/>
        </p:nvPicPr>
        <p:blipFill>
          <a:blip r:embed="rId2"/>
          <a:stretch>
            <a:fillRect/>
          </a:stretch>
        </p:blipFill>
        <p:spPr>
          <a:xfrm>
            <a:off x="1038919" y="2969712"/>
            <a:ext cx="2319535" cy="3545687"/>
          </a:xfrm>
          <a:prstGeom prst="rect">
            <a:avLst/>
          </a:prstGeom>
        </p:spPr>
      </p:pic>
      <p:pic>
        <p:nvPicPr>
          <p:cNvPr id="7" name="Imagen 6">
            <a:extLst>
              <a:ext uri="{FF2B5EF4-FFF2-40B4-BE49-F238E27FC236}">
                <a16:creationId xmlns:a16="http://schemas.microsoft.com/office/drawing/2014/main" id="{A41970E9-EFC5-AECC-DD87-5B93B4BD6F18}"/>
              </a:ext>
            </a:extLst>
          </p:cNvPr>
          <p:cNvPicPr>
            <a:picLocks noChangeAspect="1"/>
          </p:cNvPicPr>
          <p:nvPr/>
        </p:nvPicPr>
        <p:blipFill>
          <a:blip r:embed="rId3"/>
          <a:stretch>
            <a:fillRect/>
          </a:stretch>
        </p:blipFill>
        <p:spPr>
          <a:xfrm>
            <a:off x="4615355" y="3059124"/>
            <a:ext cx="2816833" cy="3366865"/>
          </a:xfrm>
          <a:prstGeom prst="rect">
            <a:avLst/>
          </a:prstGeom>
        </p:spPr>
      </p:pic>
      <p:pic>
        <p:nvPicPr>
          <p:cNvPr id="9" name="Imagen 8">
            <a:extLst>
              <a:ext uri="{FF2B5EF4-FFF2-40B4-BE49-F238E27FC236}">
                <a16:creationId xmlns:a16="http://schemas.microsoft.com/office/drawing/2014/main" id="{98D1A0CD-9134-D4AE-51E0-52FC0840E349}"/>
              </a:ext>
            </a:extLst>
          </p:cNvPr>
          <p:cNvPicPr>
            <a:picLocks noChangeAspect="1"/>
          </p:cNvPicPr>
          <p:nvPr/>
        </p:nvPicPr>
        <p:blipFill>
          <a:blip r:embed="rId4"/>
          <a:stretch>
            <a:fillRect/>
          </a:stretch>
        </p:blipFill>
        <p:spPr>
          <a:xfrm>
            <a:off x="8298564" y="3095625"/>
            <a:ext cx="3000794" cy="1038370"/>
          </a:xfrm>
          <a:prstGeom prst="rect">
            <a:avLst/>
          </a:prstGeom>
        </p:spPr>
      </p:pic>
      <p:sp>
        <p:nvSpPr>
          <p:cNvPr id="10" name="CuadroTexto 9">
            <a:extLst>
              <a:ext uri="{FF2B5EF4-FFF2-40B4-BE49-F238E27FC236}">
                <a16:creationId xmlns:a16="http://schemas.microsoft.com/office/drawing/2014/main" id="{C0CA4F59-7100-A3B2-E756-454FC0E2385E}"/>
              </a:ext>
            </a:extLst>
          </p:cNvPr>
          <p:cNvSpPr txBox="1"/>
          <p:nvPr/>
        </p:nvSpPr>
        <p:spPr>
          <a:xfrm>
            <a:off x="687929" y="1900292"/>
            <a:ext cx="4610100" cy="369332"/>
          </a:xfrm>
          <a:prstGeom prst="rect">
            <a:avLst/>
          </a:prstGeom>
          <a:noFill/>
        </p:spPr>
        <p:txBody>
          <a:bodyPr wrap="square" rtlCol="0">
            <a:spAutoFit/>
          </a:bodyPr>
          <a:lstStyle/>
          <a:p>
            <a:r>
              <a:rPr lang="es-MX" dirty="0"/>
              <a:t>Seleccionamos la opción “Finite </a:t>
            </a:r>
            <a:r>
              <a:rPr lang="es-MX" dirty="0" err="1"/>
              <a:t>Automaton</a:t>
            </a:r>
            <a:r>
              <a:rPr lang="es-MX" dirty="0"/>
              <a:t>”</a:t>
            </a:r>
          </a:p>
        </p:txBody>
      </p:sp>
      <p:sp>
        <p:nvSpPr>
          <p:cNvPr id="11" name="CuadroTexto 10">
            <a:extLst>
              <a:ext uri="{FF2B5EF4-FFF2-40B4-BE49-F238E27FC236}">
                <a16:creationId xmlns:a16="http://schemas.microsoft.com/office/drawing/2014/main" id="{DC408F1D-B2F0-0102-5F5C-595594EEECAD}"/>
              </a:ext>
            </a:extLst>
          </p:cNvPr>
          <p:cNvSpPr txBox="1"/>
          <p:nvPr/>
        </p:nvSpPr>
        <p:spPr>
          <a:xfrm>
            <a:off x="4240754" y="2351113"/>
            <a:ext cx="3964144" cy="646331"/>
          </a:xfrm>
          <a:prstGeom prst="rect">
            <a:avLst/>
          </a:prstGeom>
          <a:noFill/>
        </p:spPr>
        <p:txBody>
          <a:bodyPr wrap="square" rtlCol="0">
            <a:spAutoFit/>
          </a:bodyPr>
          <a:lstStyle/>
          <a:p>
            <a:r>
              <a:rPr lang="es-MX" dirty="0"/>
              <a:t>En seguida se abrirá la pantallita donde trabajaremos:</a:t>
            </a:r>
          </a:p>
        </p:txBody>
      </p:sp>
      <p:sp>
        <p:nvSpPr>
          <p:cNvPr id="12" name="CuadroTexto 11">
            <a:extLst>
              <a:ext uri="{FF2B5EF4-FFF2-40B4-BE49-F238E27FC236}">
                <a16:creationId xmlns:a16="http://schemas.microsoft.com/office/drawing/2014/main" id="{5DA9243F-0C71-09F6-1934-20000EDF6E91}"/>
              </a:ext>
            </a:extLst>
          </p:cNvPr>
          <p:cNvSpPr txBox="1"/>
          <p:nvPr/>
        </p:nvSpPr>
        <p:spPr>
          <a:xfrm>
            <a:off x="8100123" y="4416703"/>
            <a:ext cx="3676650" cy="923330"/>
          </a:xfrm>
          <a:prstGeom prst="rect">
            <a:avLst/>
          </a:prstGeom>
          <a:noFill/>
        </p:spPr>
        <p:txBody>
          <a:bodyPr wrap="square" rtlCol="0">
            <a:spAutoFit/>
          </a:bodyPr>
          <a:lstStyle/>
          <a:p>
            <a:r>
              <a:rPr lang="es-MX" dirty="0"/>
              <a:t>En la parte del editor conseguiremos lo que necesitaremos para comenzar con la creación de nuestros estados:</a:t>
            </a:r>
          </a:p>
        </p:txBody>
      </p:sp>
    </p:spTree>
    <p:extLst>
      <p:ext uri="{BB962C8B-B14F-4D97-AF65-F5344CB8AC3E}">
        <p14:creationId xmlns:p14="http://schemas.microsoft.com/office/powerpoint/2010/main" val="36998587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4E6A6B0-D8EA-016C-0FA9-4067E1B30430}"/>
              </a:ext>
            </a:extLst>
          </p:cNvPr>
          <p:cNvSpPr>
            <a:spLocks noGrp="1"/>
          </p:cNvSpPr>
          <p:nvPr>
            <p:ph type="title"/>
          </p:nvPr>
        </p:nvSpPr>
        <p:spPr>
          <a:xfrm>
            <a:off x="2592925" y="306333"/>
            <a:ext cx="8911687" cy="1280890"/>
          </a:xfrm>
        </p:spPr>
        <p:txBody>
          <a:bodyPr>
            <a:normAutofit/>
          </a:bodyPr>
          <a:lstStyle/>
          <a:p>
            <a:r>
              <a:rPr lang="es-MX" dirty="0"/>
              <a:t> Conversión de un AFND a AFD.</a:t>
            </a:r>
          </a:p>
        </p:txBody>
      </p:sp>
      <p:pic>
        <p:nvPicPr>
          <p:cNvPr id="5" name="Marcador de contenido 4">
            <a:extLst>
              <a:ext uri="{FF2B5EF4-FFF2-40B4-BE49-F238E27FC236}">
                <a16:creationId xmlns:a16="http://schemas.microsoft.com/office/drawing/2014/main" id="{6CC9EE89-32D2-0941-E632-42006732CB4C}"/>
              </a:ext>
            </a:extLst>
          </p:cNvPr>
          <p:cNvPicPr>
            <a:picLocks noGrp="1" noChangeAspect="1"/>
          </p:cNvPicPr>
          <p:nvPr>
            <p:ph idx="1"/>
          </p:nvPr>
        </p:nvPicPr>
        <p:blipFill>
          <a:blip r:embed="rId2"/>
          <a:stretch>
            <a:fillRect/>
          </a:stretch>
        </p:blipFill>
        <p:spPr>
          <a:xfrm>
            <a:off x="210330" y="2264492"/>
            <a:ext cx="2244447" cy="2451718"/>
          </a:xfrm>
        </p:spPr>
      </p:pic>
      <p:pic>
        <p:nvPicPr>
          <p:cNvPr id="7" name="Imagen 6">
            <a:extLst>
              <a:ext uri="{FF2B5EF4-FFF2-40B4-BE49-F238E27FC236}">
                <a16:creationId xmlns:a16="http://schemas.microsoft.com/office/drawing/2014/main" id="{1706900E-5CE6-BE60-0D01-7802FFC658D9}"/>
              </a:ext>
            </a:extLst>
          </p:cNvPr>
          <p:cNvPicPr>
            <a:picLocks noChangeAspect="1"/>
          </p:cNvPicPr>
          <p:nvPr/>
        </p:nvPicPr>
        <p:blipFill>
          <a:blip r:embed="rId3"/>
          <a:stretch>
            <a:fillRect/>
          </a:stretch>
        </p:blipFill>
        <p:spPr>
          <a:xfrm>
            <a:off x="276779" y="5447700"/>
            <a:ext cx="2498487" cy="1296007"/>
          </a:xfrm>
          <a:prstGeom prst="rect">
            <a:avLst/>
          </a:prstGeom>
        </p:spPr>
      </p:pic>
      <p:pic>
        <p:nvPicPr>
          <p:cNvPr id="9" name="Imagen 8">
            <a:extLst>
              <a:ext uri="{FF2B5EF4-FFF2-40B4-BE49-F238E27FC236}">
                <a16:creationId xmlns:a16="http://schemas.microsoft.com/office/drawing/2014/main" id="{B842F759-7517-1E56-AD7B-DD03E3C85582}"/>
              </a:ext>
            </a:extLst>
          </p:cNvPr>
          <p:cNvPicPr>
            <a:picLocks noChangeAspect="1"/>
          </p:cNvPicPr>
          <p:nvPr/>
        </p:nvPicPr>
        <p:blipFill>
          <a:blip r:embed="rId4"/>
          <a:stretch>
            <a:fillRect/>
          </a:stretch>
        </p:blipFill>
        <p:spPr>
          <a:xfrm>
            <a:off x="3443817" y="1985768"/>
            <a:ext cx="3772227" cy="1539373"/>
          </a:xfrm>
          <a:prstGeom prst="rect">
            <a:avLst/>
          </a:prstGeom>
        </p:spPr>
      </p:pic>
      <p:pic>
        <p:nvPicPr>
          <p:cNvPr id="11" name="Imagen 10">
            <a:extLst>
              <a:ext uri="{FF2B5EF4-FFF2-40B4-BE49-F238E27FC236}">
                <a16:creationId xmlns:a16="http://schemas.microsoft.com/office/drawing/2014/main" id="{42D523C5-882D-8EF9-7743-4503D98AEE89}"/>
              </a:ext>
            </a:extLst>
          </p:cNvPr>
          <p:cNvPicPr>
            <a:picLocks noChangeAspect="1"/>
          </p:cNvPicPr>
          <p:nvPr/>
        </p:nvPicPr>
        <p:blipFill>
          <a:blip r:embed="rId5"/>
          <a:stretch>
            <a:fillRect/>
          </a:stretch>
        </p:blipFill>
        <p:spPr>
          <a:xfrm>
            <a:off x="3902200" y="4377824"/>
            <a:ext cx="2562448" cy="1848108"/>
          </a:xfrm>
          <a:prstGeom prst="rect">
            <a:avLst/>
          </a:prstGeom>
        </p:spPr>
      </p:pic>
      <p:pic>
        <p:nvPicPr>
          <p:cNvPr id="13" name="Imagen 12">
            <a:extLst>
              <a:ext uri="{FF2B5EF4-FFF2-40B4-BE49-F238E27FC236}">
                <a16:creationId xmlns:a16="http://schemas.microsoft.com/office/drawing/2014/main" id="{D2595A82-A7B3-8781-8C2D-59BD1BD5535E}"/>
              </a:ext>
            </a:extLst>
          </p:cNvPr>
          <p:cNvPicPr>
            <a:picLocks noChangeAspect="1"/>
          </p:cNvPicPr>
          <p:nvPr/>
        </p:nvPicPr>
        <p:blipFill>
          <a:blip r:embed="rId6"/>
          <a:stretch>
            <a:fillRect/>
          </a:stretch>
        </p:blipFill>
        <p:spPr>
          <a:xfrm>
            <a:off x="7591582" y="2583708"/>
            <a:ext cx="2562448" cy="2130878"/>
          </a:xfrm>
          <a:prstGeom prst="rect">
            <a:avLst/>
          </a:prstGeom>
        </p:spPr>
      </p:pic>
      <p:pic>
        <p:nvPicPr>
          <p:cNvPr id="15" name="Imagen 14">
            <a:extLst>
              <a:ext uri="{FF2B5EF4-FFF2-40B4-BE49-F238E27FC236}">
                <a16:creationId xmlns:a16="http://schemas.microsoft.com/office/drawing/2014/main" id="{54C08D2D-F56A-D212-2C52-45058B13366A}"/>
              </a:ext>
            </a:extLst>
          </p:cNvPr>
          <p:cNvPicPr>
            <a:picLocks noChangeAspect="1"/>
          </p:cNvPicPr>
          <p:nvPr/>
        </p:nvPicPr>
        <p:blipFill>
          <a:blip r:embed="rId7"/>
          <a:stretch>
            <a:fillRect/>
          </a:stretch>
        </p:blipFill>
        <p:spPr>
          <a:xfrm>
            <a:off x="10263760" y="2584776"/>
            <a:ext cx="1586090" cy="2020271"/>
          </a:xfrm>
          <a:prstGeom prst="rect">
            <a:avLst/>
          </a:prstGeom>
        </p:spPr>
      </p:pic>
      <p:sp>
        <p:nvSpPr>
          <p:cNvPr id="16" name="CuadroTexto 15">
            <a:extLst>
              <a:ext uri="{FF2B5EF4-FFF2-40B4-BE49-F238E27FC236}">
                <a16:creationId xmlns:a16="http://schemas.microsoft.com/office/drawing/2014/main" id="{6701E63D-D0DB-791A-BE9A-220D947C7443}"/>
              </a:ext>
            </a:extLst>
          </p:cNvPr>
          <p:cNvSpPr txBox="1"/>
          <p:nvPr/>
        </p:nvSpPr>
        <p:spPr>
          <a:xfrm>
            <a:off x="188685" y="1204686"/>
            <a:ext cx="3091543" cy="1077218"/>
          </a:xfrm>
          <a:prstGeom prst="rect">
            <a:avLst/>
          </a:prstGeom>
          <a:noFill/>
        </p:spPr>
        <p:txBody>
          <a:bodyPr wrap="square" rtlCol="0">
            <a:spAutoFit/>
          </a:bodyPr>
          <a:lstStyle/>
          <a:p>
            <a:r>
              <a:rPr lang="es-MX" sz="1600" dirty="0"/>
              <a:t>Comenzamos creando nuestros estados con sus transiciones como su estado inicial y final</a:t>
            </a:r>
          </a:p>
        </p:txBody>
      </p:sp>
      <p:sp>
        <p:nvSpPr>
          <p:cNvPr id="17" name="CuadroTexto 16">
            <a:extLst>
              <a:ext uri="{FF2B5EF4-FFF2-40B4-BE49-F238E27FC236}">
                <a16:creationId xmlns:a16="http://schemas.microsoft.com/office/drawing/2014/main" id="{B788842E-5541-1E62-393A-0B64BCA5FC2F}"/>
              </a:ext>
            </a:extLst>
          </p:cNvPr>
          <p:cNvSpPr txBox="1"/>
          <p:nvPr/>
        </p:nvSpPr>
        <p:spPr>
          <a:xfrm>
            <a:off x="210330" y="4714586"/>
            <a:ext cx="2765099" cy="830997"/>
          </a:xfrm>
          <a:prstGeom prst="rect">
            <a:avLst/>
          </a:prstGeom>
          <a:solidFill>
            <a:schemeClr val="accent2"/>
          </a:solidFill>
        </p:spPr>
        <p:txBody>
          <a:bodyPr wrap="square" rtlCol="0">
            <a:spAutoFit/>
          </a:bodyPr>
          <a:lstStyle/>
          <a:p>
            <a:r>
              <a:rPr lang="es-MX" sz="1600" dirty="0"/>
              <a:t>Nos </a:t>
            </a:r>
            <a:r>
              <a:rPr lang="es-MX" sz="1600" dirty="0" err="1"/>
              <a:t>dirijimos</a:t>
            </a:r>
            <a:r>
              <a:rPr lang="es-MX" sz="1600" dirty="0"/>
              <a:t> al menú y seleccionamos </a:t>
            </a:r>
            <a:r>
              <a:rPr lang="es-MX" sz="1600" dirty="0" err="1"/>
              <a:t>convert</a:t>
            </a:r>
            <a:r>
              <a:rPr lang="es-MX" sz="1600" dirty="0"/>
              <a:t> →</a:t>
            </a:r>
            <a:r>
              <a:rPr lang="es-MX" sz="1600" dirty="0" err="1"/>
              <a:t>convert</a:t>
            </a:r>
            <a:r>
              <a:rPr lang="es-MX" sz="1600" dirty="0"/>
              <a:t> </a:t>
            </a:r>
            <a:r>
              <a:rPr lang="es-MX" sz="1600" dirty="0" err="1"/>
              <a:t>to</a:t>
            </a:r>
            <a:r>
              <a:rPr lang="es-MX" sz="1600" dirty="0"/>
              <a:t> DFA</a:t>
            </a:r>
          </a:p>
        </p:txBody>
      </p:sp>
      <p:sp>
        <p:nvSpPr>
          <p:cNvPr id="18" name="CuadroTexto 17">
            <a:extLst>
              <a:ext uri="{FF2B5EF4-FFF2-40B4-BE49-F238E27FC236}">
                <a16:creationId xmlns:a16="http://schemas.microsoft.com/office/drawing/2014/main" id="{535BB09F-1AC6-0D1A-4C1D-4079D65910C4}"/>
              </a:ext>
            </a:extLst>
          </p:cNvPr>
          <p:cNvSpPr txBox="1"/>
          <p:nvPr/>
        </p:nvSpPr>
        <p:spPr>
          <a:xfrm>
            <a:off x="3356731" y="1095575"/>
            <a:ext cx="3919467" cy="830997"/>
          </a:xfrm>
          <a:prstGeom prst="rect">
            <a:avLst/>
          </a:prstGeom>
          <a:noFill/>
        </p:spPr>
        <p:txBody>
          <a:bodyPr wrap="square" rtlCol="0">
            <a:spAutoFit/>
          </a:bodyPr>
          <a:lstStyle/>
          <a:p>
            <a:r>
              <a:rPr lang="es-MX" sz="1600" dirty="0"/>
              <a:t>En seguida veremos un solo estado en una segunda pantalla y daremos </a:t>
            </a:r>
            <a:r>
              <a:rPr lang="es-MX" sz="1600" dirty="0" err="1"/>
              <a:t>click</a:t>
            </a:r>
            <a:r>
              <a:rPr lang="es-MX" sz="1600" dirty="0"/>
              <a:t> en complete</a:t>
            </a:r>
          </a:p>
        </p:txBody>
      </p:sp>
      <p:sp>
        <p:nvSpPr>
          <p:cNvPr id="19" name="CuadroTexto 18">
            <a:extLst>
              <a:ext uri="{FF2B5EF4-FFF2-40B4-BE49-F238E27FC236}">
                <a16:creationId xmlns:a16="http://schemas.microsoft.com/office/drawing/2014/main" id="{A7C24FD2-FE10-2588-ECAF-5BF3CA4BB1DB}"/>
              </a:ext>
            </a:extLst>
          </p:cNvPr>
          <p:cNvSpPr txBox="1"/>
          <p:nvPr/>
        </p:nvSpPr>
        <p:spPr>
          <a:xfrm>
            <a:off x="3562385" y="3610922"/>
            <a:ext cx="3919467" cy="584775"/>
          </a:xfrm>
          <a:prstGeom prst="rect">
            <a:avLst/>
          </a:prstGeom>
          <a:noFill/>
        </p:spPr>
        <p:txBody>
          <a:bodyPr wrap="square" rtlCol="0">
            <a:spAutoFit/>
          </a:bodyPr>
          <a:lstStyle/>
          <a:p>
            <a:r>
              <a:rPr lang="es-MX" sz="1600" dirty="0"/>
              <a:t>Se nos presentara nuestro AFD ya completamente listo</a:t>
            </a:r>
          </a:p>
        </p:txBody>
      </p:sp>
      <p:sp>
        <p:nvSpPr>
          <p:cNvPr id="20" name="CuadroTexto 19">
            <a:extLst>
              <a:ext uri="{FF2B5EF4-FFF2-40B4-BE49-F238E27FC236}">
                <a16:creationId xmlns:a16="http://schemas.microsoft.com/office/drawing/2014/main" id="{030B498F-0F0D-D764-D3C6-557857BBF291}"/>
              </a:ext>
            </a:extLst>
          </p:cNvPr>
          <p:cNvSpPr txBox="1"/>
          <p:nvPr/>
        </p:nvSpPr>
        <p:spPr>
          <a:xfrm>
            <a:off x="7758385" y="1068990"/>
            <a:ext cx="3919467" cy="1323439"/>
          </a:xfrm>
          <a:prstGeom prst="rect">
            <a:avLst/>
          </a:prstGeom>
          <a:noFill/>
        </p:spPr>
        <p:txBody>
          <a:bodyPr wrap="square" rtlCol="0">
            <a:spAutoFit/>
          </a:bodyPr>
          <a:lstStyle/>
          <a:p>
            <a:r>
              <a:rPr lang="es-MX" sz="1600" dirty="0"/>
              <a:t>Damos </a:t>
            </a:r>
            <a:r>
              <a:rPr lang="es-MX" sz="1600" dirty="0" err="1"/>
              <a:t>click</a:t>
            </a:r>
            <a:r>
              <a:rPr lang="es-MX" sz="1600" dirty="0"/>
              <a:t> en Done? Y nos mandara un mensaje que </a:t>
            </a:r>
            <a:r>
              <a:rPr lang="es-MX" sz="1600" dirty="0" err="1"/>
              <a:t>que</a:t>
            </a:r>
            <a:r>
              <a:rPr lang="es-MX" sz="1600" dirty="0"/>
              <a:t> nuestro AFD ya esta lito y lo mandara a una pantalla individual y nueva para trabajar</a:t>
            </a:r>
          </a:p>
        </p:txBody>
      </p:sp>
    </p:spTree>
    <p:extLst>
      <p:ext uri="{BB962C8B-B14F-4D97-AF65-F5344CB8AC3E}">
        <p14:creationId xmlns:p14="http://schemas.microsoft.com/office/powerpoint/2010/main" val="37861261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6A48869-F84A-A93F-5F26-647900FB67D2}"/>
              </a:ext>
            </a:extLst>
          </p:cNvPr>
          <p:cNvSpPr>
            <a:spLocks noGrp="1"/>
          </p:cNvSpPr>
          <p:nvPr>
            <p:ph type="title"/>
          </p:nvPr>
        </p:nvSpPr>
        <p:spPr>
          <a:xfrm>
            <a:off x="1649951" y="567249"/>
            <a:ext cx="2788700" cy="671290"/>
          </a:xfrm>
        </p:spPr>
        <p:txBody>
          <a:bodyPr/>
          <a:lstStyle/>
          <a:p>
            <a:r>
              <a:rPr lang="es-MX" dirty="0"/>
              <a:t>Ejercicio 2 </a:t>
            </a:r>
          </a:p>
        </p:txBody>
      </p:sp>
      <p:sp>
        <p:nvSpPr>
          <p:cNvPr id="3" name="Marcador de contenido 2">
            <a:extLst>
              <a:ext uri="{FF2B5EF4-FFF2-40B4-BE49-F238E27FC236}">
                <a16:creationId xmlns:a16="http://schemas.microsoft.com/office/drawing/2014/main" id="{40178A39-A206-D0C9-70A3-1B67D673B151}"/>
              </a:ext>
            </a:extLst>
          </p:cNvPr>
          <p:cNvSpPr>
            <a:spLocks noGrp="1"/>
          </p:cNvSpPr>
          <p:nvPr>
            <p:ph idx="1"/>
          </p:nvPr>
        </p:nvSpPr>
        <p:spPr>
          <a:xfrm>
            <a:off x="407986" y="1257300"/>
            <a:ext cx="11574463" cy="466725"/>
          </a:xfrm>
        </p:spPr>
        <p:txBody>
          <a:bodyPr/>
          <a:lstStyle/>
          <a:p>
            <a:pPr marL="0" indent="0">
              <a:buNone/>
            </a:pPr>
            <a:r>
              <a:rPr lang="es-MX" dirty="0"/>
              <a:t>En JFLAP </a:t>
            </a:r>
            <a:r>
              <a:rPr lang="es-MX" b="1" dirty="0"/>
              <a:t>escribiremos una Expresión Regular</a:t>
            </a:r>
            <a:r>
              <a:rPr lang="es-MX" dirty="0"/>
              <a:t> y el programa la convierte automáticamente en un </a:t>
            </a:r>
            <a:r>
              <a:rPr lang="es-MX" b="1" dirty="0"/>
              <a:t>NFA</a:t>
            </a:r>
            <a:r>
              <a:rPr lang="es-MX" dirty="0"/>
              <a:t>.</a:t>
            </a:r>
          </a:p>
        </p:txBody>
      </p:sp>
      <p:pic>
        <p:nvPicPr>
          <p:cNvPr id="5" name="Imagen 4">
            <a:extLst>
              <a:ext uri="{FF2B5EF4-FFF2-40B4-BE49-F238E27FC236}">
                <a16:creationId xmlns:a16="http://schemas.microsoft.com/office/drawing/2014/main" id="{4D630B29-E017-A8D2-33F7-8843AE011810}"/>
              </a:ext>
            </a:extLst>
          </p:cNvPr>
          <p:cNvPicPr>
            <a:picLocks noChangeAspect="1"/>
          </p:cNvPicPr>
          <p:nvPr/>
        </p:nvPicPr>
        <p:blipFill>
          <a:blip r:embed="rId2"/>
          <a:stretch>
            <a:fillRect/>
          </a:stretch>
        </p:blipFill>
        <p:spPr>
          <a:xfrm>
            <a:off x="915088" y="2568923"/>
            <a:ext cx="1548142" cy="2324785"/>
          </a:xfrm>
          <a:prstGeom prst="rect">
            <a:avLst/>
          </a:prstGeom>
        </p:spPr>
      </p:pic>
      <p:sp>
        <p:nvSpPr>
          <p:cNvPr id="7" name="CuadroTexto 6">
            <a:extLst>
              <a:ext uri="{FF2B5EF4-FFF2-40B4-BE49-F238E27FC236}">
                <a16:creationId xmlns:a16="http://schemas.microsoft.com/office/drawing/2014/main" id="{E5C1D596-09F3-5422-EA72-D5D09FEED3CF}"/>
              </a:ext>
            </a:extLst>
          </p:cNvPr>
          <p:cNvSpPr txBox="1"/>
          <p:nvPr/>
        </p:nvSpPr>
        <p:spPr>
          <a:xfrm>
            <a:off x="248713" y="1820641"/>
            <a:ext cx="3304112" cy="738664"/>
          </a:xfrm>
          <a:prstGeom prst="rect">
            <a:avLst/>
          </a:prstGeom>
          <a:noFill/>
        </p:spPr>
        <p:txBody>
          <a:bodyPr wrap="square">
            <a:spAutoFit/>
          </a:bodyPr>
          <a:lstStyle/>
          <a:p>
            <a:r>
              <a:rPr lang="es-MX" sz="1400" b="1" dirty="0"/>
              <a:t>Paso 1: Abrir JFLAP</a:t>
            </a:r>
          </a:p>
          <a:p>
            <a:r>
              <a:rPr lang="es-MX" sz="1400" dirty="0"/>
              <a:t>Selecciona </a:t>
            </a:r>
            <a:r>
              <a:rPr lang="es-MX" sz="1400" b="1" dirty="0"/>
              <a:t>Regular </a:t>
            </a:r>
            <a:r>
              <a:rPr lang="es-MX" sz="1400" b="1" dirty="0" err="1"/>
              <a:t>Expression</a:t>
            </a:r>
            <a:r>
              <a:rPr lang="es-MX" sz="1400" b="1" dirty="0"/>
              <a:t> y se abrirá una ventanita</a:t>
            </a:r>
            <a:endParaRPr lang="es-MX" sz="1400" dirty="0"/>
          </a:p>
        </p:txBody>
      </p:sp>
      <p:sp>
        <p:nvSpPr>
          <p:cNvPr id="8" name="Rectángulo 7">
            <a:extLst>
              <a:ext uri="{FF2B5EF4-FFF2-40B4-BE49-F238E27FC236}">
                <a16:creationId xmlns:a16="http://schemas.microsoft.com/office/drawing/2014/main" id="{B37106A3-1871-2DF5-D8BF-3F799607BECB}"/>
              </a:ext>
            </a:extLst>
          </p:cNvPr>
          <p:cNvSpPr/>
          <p:nvPr/>
        </p:nvSpPr>
        <p:spPr>
          <a:xfrm>
            <a:off x="1020934" y="4416020"/>
            <a:ext cx="1258034" cy="232678"/>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es-MX"/>
          </a:p>
        </p:txBody>
      </p:sp>
      <p:pic>
        <p:nvPicPr>
          <p:cNvPr id="10" name="Imagen 9">
            <a:extLst>
              <a:ext uri="{FF2B5EF4-FFF2-40B4-BE49-F238E27FC236}">
                <a16:creationId xmlns:a16="http://schemas.microsoft.com/office/drawing/2014/main" id="{5E7B0C17-F534-0CBB-ACEF-F6BB3900588D}"/>
              </a:ext>
            </a:extLst>
          </p:cNvPr>
          <p:cNvPicPr>
            <a:picLocks noChangeAspect="1"/>
          </p:cNvPicPr>
          <p:nvPr/>
        </p:nvPicPr>
        <p:blipFill>
          <a:blip r:embed="rId3"/>
          <a:srcRect b="28358"/>
          <a:stretch/>
        </p:blipFill>
        <p:spPr>
          <a:xfrm>
            <a:off x="248713" y="5037359"/>
            <a:ext cx="3164211" cy="1523819"/>
          </a:xfrm>
          <a:prstGeom prst="rect">
            <a:avLst/>
          </a:prstGeom>
        </p:spPr>
      </p:pic>
      <p:sp>
        <p:nvSpPr>
          <p:cNvPr id="12" name="CuadroTexto 11">
            <a:extLst>
              <a:ext uri="{FF2B5EF4-FFF2-40B4-BE49-F238E27FC236}">
                <a16:creationId xmlns:a16="http://schemas.microsoft.com/office/drawing/2014/main" id="{66CEE31D-1A41-750A-2E64-0185CE857152}"/>
              </a:ext>
            </a:extLst>
          </p:cNvPr>
          <p:cNvSpPr txBox="1"/>
          <p:nvPr/>
        </p:nvSpPr>
        <p:spPr>
          <a:xfrm>
            <a:off x="4171950" y="1773793"/>
            <a:ext cx="3190875" cy="338554"/>
          </a:xfrm>
          <a:prstGeom prst="rect">
            <a:avLst/>
          </a:prstGeom>
          <a:noFill/>
        </p:spPr>
        <p:txBody>
          <a:bodyPr wrap="square">
            <a:spAutoFit/>
          </a:bodyPr>
          <a:lstStyle/>
          <a:p>
            <a:r>
              <a:rPr lang="es-MX" sz="1600" dirty="0"/>
              <a:t>Paso 2: Escribir la expresión</a:t>
            </a:r>
          </a:p>
        </p:txBody>
      </p:sp>
      <p:pic>
        <p:nvPicPr>
          <p:cNvPr id="14" name="Imagen 13">
            <a:extLst>
              <a:ext uri="{FF2B5EF4-FFF2-40B4-BE49-F238E27FC236}">
                <a16:creationId xmlns:a16="http://schemas.microsoft.com/office/drawing/2014/main" id="{E9C91C45-15D4-D3B1-92B0-C5DCC8855820}"/>
              </a:ext>
            </a:extLst>
          </p:cNvPr>
          <p:cNvPicPr>
            <a:picLocks noChangeAspect="1"/>
          </p:cNvPicPr>
          <p:nvPr/>
        </p:nvPicPr>
        <p:blipFill>
          <a:blip r:embed="rId4"/>
          <a:srcRect r="47056"/>
          <a:stretch/>
        </p:blipFill>
        <p:spPr>
          <a:xfrm>
            <a:off x="4695376" y="2168295"/>
            <a:ext cx="2314807" cy="1384957"/>
          </a:xfrm>
          <a:prstGeom prst="rect">
            <a:avLst/>
          </a:prstGeom>
        </p:spPr>
      </p:pic>
      <p:sp>
        <p:nvSpPr>
          <p:cNvPr id="16" name="CuadroTexto 15">
            <a:extLst>
              <a:ext uri="{FF2B5EF4-FFF2-40B4-BE49-F238E27FC236}">
                <a16:creationId xmlns:a16="http://schemas.microsoft.com/office/drawing/2014/main" id="{8AABF3DE-58A2-E2EB-717D-CA43FCB02D58}"/>
              </a:ext>
            </a:extLst>
          </p:cNvPr>
          <p:cNvSpPr txBox="1"/>
          <p:nvPr/>
        </p:nvSpPr>
        <p:spPr>
          <a:xfrm>
            <a:off x="4266967" y="3677386"/>
            <a:ext cx="2552933" cy="338554"/>
          </a:xfrm>
          <a:prstGeom prst="rect">
            <a:avLst/>
          </a:prstGeom>
          <a:noFill/>
        </p:spPr>
        <p:txBody>
          <a:bodyPr wrap="square">
            <a:spAutoFit/>
          </a:bodyPr>
          <a:lstStyle/>
          <a:p>
            <a:r>
              <a:rPr lang="es-MX" sz="1600" dirty="0"/>
              <a:t>Paso 3: Convertir a NFA</a:t>
            </a:r>
          </a:p>
        </p:txBody>
      </p:sp>
      <p:pic>
        <p:nvPicPr>
          <p:cNvPr id="18" name="Imagen 17">
            <a:extLst>
              <a:ext uri="{FF2B5EF4-FFF2-40B4-BE49-F238E27FC236}">
                <a16:creationId xmlns:a16="http://schemas.microsoft.com/office/drawing/2014/main" id="{7EC838E3-4777-D66E-41A3-00C0FA7F5F2A}"/>
              </a:ext>
            </a:extLst>
          </p:cNvPr>
          <p:cNvPicPr>
            <a:picLocks noChangeAspect="1"/>
          </p:cNvPicPr>
          <p:nvPr/>
        </p:nvPicPr>
        <p:blipFill>
          <a:blip r:embed="rId5"/>
          <a:stretch>
            <a:fillRect/>
          </a:stretch>
        </p:blipFill>
        <p:spPr>
          <a:xfrm>
            <a:off x="3594372" y="4124390"/>
            <a:ext cx="2410161" cy="1886213"/>
          </a:xfrm>
          <a:prstGeom prst="rect">
            <a:avLst/>
          </a:prstGeom>
        </p:spPr>
      </p:pic>
      <p:pic>
        <p:nvPicPr>
          <p:cNvPr id="20" name="Imagen 19">
            <a:extLst>
              <a:ext uri="{FF2B5EF4-FFF2-40B4-BE49-F238E27FC236}">
                <a16:creationId xmlns:a16="http://schemas.microsoft.com/office/drawing/2014/main" id="{5C8ED581-307A-1B80-4B02-B34C3F2227BA}"/>
              </a:ext>
            </a:extLst>
          </p:cNvPr>
          <p:cNvPicPr>
            <a:picLocks noChangeAspect="1"/>
          </p:cNvPicPr>
          <p:nvPr/>
        </p:nvPicPr>
        <p:blipFill>
          <a:blip r:embed="rId6"/>
          <a:stretch>
            <a:fillRect/>
          </a:stretch>
        </p:blipFill>
        <p:spPr>
          <a:xfrm>
            <a:off x="6004533" y="4124390"/>
            <a:ext cx="2010056" cy="2510188"/>
          </a:xfrm>
          <a:prstGeom prst="rect">
            <a:avLst/>
          </a:prstGeom>
        </p:spPr>
      </p:pic>
      <p:sp>
        <p:nvSpPr>
          <p:cNvPr id="21" name="Rectángulo 20">
            <a:extLst>
              <a:ext uri="{FF2B5EF4-FFF2-40B4-BE49-F238E27FC236}">
                <a16:creationId xmlns:a16="http://schemas.microsoft.com/office/drawing/2014/main" id="{0A710BED-AD76-CD2E-21B6-8CA10BA1A0A3}"/>
              </a:ext>
            </a:extLst>
          </p:cNvPr>
          <p:cNvSpPr/>
          <p:nvPr/>
        </p:nvSpPr>
        <p:spPr>
          <a:xfrm>
            <a:off x="3552825" y="3658396"/>
            <a:ext cx="4495800" cy="303269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3" name="CuadroTexto 22">
            <a:extLst>
              <a:ext uri="{FF2B5EF4-FFF2-40B4-BE49-F238E27FC236}">
                <a16:creationId xmlns:a16="http://schemas.microsoft.com/office/drawing/2014/main" id="{25B28B09-647B-090D-6082-F3AB043230F1}"/>
              </a:ext>
            </a:extLst>
          </p:cNvPr>
          <p:cNvSpPr txBox="1"/>
          <p:nvPr/>
        </p:nvSpPr>
        <p:spPr>
          <a:xfrm>
            <a:off x="8105965" y="1773793"/>
            <a:ext cx="4171760" cy="3323987"/>
          </a:xfrm>
          <a:prstGeom prst="rect">
            <a:avLst/>
          </a:prstGeom>
          <a:noFill/>
        </p:spPr>
        <p:txBody>
          <a:bodyPr wrap="square">
            <a:spAutoFit/>
          </a:bodyPr>
          <a:lstStyle/>
          <a:p>
            <a:r>
              <a:rPr lang="es-MX" sz="1400" b="1" dirty="0"/>
              <a:t>Paso 4: Generar el autómata</a:t>
            </a:r>
          </a:p>
          <a:p>
            <a:r>
              <a:rPr lang="es-MX" sz="1400" dirty="0"/>
              <a:t>Tenemos dos opciones:</a:t>
            </a:r>
          </a:p>
          <a:p>
            <a:r>
              <a:rPr lang="es-MX" sz="1400" dirty="0"/>
              <a:t>🔹 hacerlo paso por paso: Presiona </a:t>
            </a:r>
            <a:r>
              <a:rPr lang="es-MX" sz="1400" b="1" dirty="0"/>
              <a:t>Do Step,  </a:t>
            </a:r>
            <a:r>
              <a:rPr lang="es-MX" sz="1400" dirty="0"/>
              <a:t>se sigue presionando hasta que termine</a:t>
            </a:r>
          </a:p>
          <a:p>
            <a:endParaRPr lang="es-MX" sz="1400" dirty="0"/>
          </a:p>
          <a:p>
            <a:endParaRPr lang="es-MX" sz="1400" dirty="0"/>
          </a:p>
          <a:p>
            <a:endParaRPr lang="es-MX" sz="1400" dirty="0"/>
          </a:p>
          <a:p>
            <a:endParaRPr lang="es-MX" sz="1400" dirty="0"/>
          </a:p>
          <a:p>
            <a:endParaRPr lang="es-MX" sz="1400" dirty="0"/>
          </a:p>
          <a:p>
            <a:endParaRPr lang="es-MX" sz="1400" dirty="0"/>
          </a:p>
          <a:p>
            <a:endParaRPr lang="es-MX" sz="1400" dirty="0"/>
          </a:p>
          <a:p>
            <a:endParaRPr lang="es-MX" sz="1400" dirty="0"/>
          </a:p>
          <a:p>
            <a:endParaRPr lang="es-MX" sz="1400" dirty="0"/>
          </a:p>
          <a:p>
            <a:r>
              <a:rPr lang="es-MX" sz="1400" dirty="0"/>
              <a:t>🔹 automático:</a:t>
            </a:r>
          </a:p>
          <a:p>
            <a:pPr>
              <a:buFont typeface="Arial" panose="020B0604020202020204" pitchFamily="34" charset="0"/>
              <a:buChar char="•"/>
            </a:pPr>
            <a:r>
              <a:rPr lang="es-MX" sz="1400" dirty="0"/>
              <a:t>Presiona </a:t>
            </a:r>
            <a:r>
              <a:rPr lang="es-MX" sz="1400" b="1" dirty="0"/>
              <a:t>Do </a:t>
            </a:r>
            <a:r>
              <a:rPr lang="es-MX" sz="1400" b="1" dirty="0" err="1"/>
              <a:t>All</a:t>
            </a:r>
            <a:endParaRPr lang="es-MX" sz="1400" dirty="0"/>
          </a:p>
        </p:txBody>
      </p:sp>
      <p:sp>
        <p:nvSpPr>
          <p:cNvPr id="24" name="Rectángulo 23">
            <a:extLst>
              <a:ext uri="{FF2B5EF4-FFF2-40B4-BE49-F238E27FC236}">
                <a16:creationId xmlns:a16="http://schemas.microsoft.com/office/drawing/2014/main" id="{3421663D-2859-E52B-8DC1-CC197F4880FE}"/>
              </a:ext>
            </a:extLst>
          </p:cNvPr>
          <p:cNvSpPr/>
          <p:nvPr/>
        </p:nvSpPr>
        <p:spPr>
          <a:xfrm>
            <a:off x="144603" y="1773793"/>
            <a:ext cx="3304112" cy="486078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5" name="Rectángulo 24">
            <a:extLst>
              <a:ext uri="{FF2B5EF4-FFF2-40B4-BE49-F238E27FC236}">
                <a16:creationId xmlns:a16="http://schemas.microsoft.com/office/drawing/2014/main" id="{14573EEE-A31B-A97F-3405-588CF539464F}"/>
              </a:ext>
            </a:extLst>
          </p:cNvPr>
          <p:cNvSpPr/>
          <p:nvPr/>
        </p:nvSpPr>
        <p:spPr>
          <a:xfrm>
            <a:off x="3552825" y="1773793"/>
            <a:ext cx="4495800" cy="184708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6" name="Rectángulo 25">
            <a:extLst>
              <a:ext uri="{FF2B5EF4-FFF2-40B4-BE49-F238E27FC236}">
                <a16:creationId xmlns:a16="http://schemas.microsoft.com/office/drawing/2014/main" id="{8EE864D7-391D-73CE-A2E3-6E6DDFDB631A}"/>
              </a:ext>
            </a:extLst>
          </p:cNvPr>
          <p:cNvSpPr/>
          <p:nvPr/>
        </p:nvSpPr>
        <p:spPr>
          <a:xfrm>
            <a:off x="8152735" y="1767855"/>
            <a:ext cx="3972590" cy="486078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pic>
        <p:nvPicPr>
          <p:cNvPr id="28" name="Imagen 27">
            <a:extLst>
              <a:ext uri="{FF2B5EF4-FFF2-40B4-BE49-F238E27FC236}">
                <a16:creationId xmlns:a16="http://schemas.microsoft.com/office/drawing/2014/main" id="{4E4C34D1-89A3-79E7-BED9-3A8940572C88}"/>
              </a:ext>
            </a:extLst>
          </p:cNvPr>
          <p:cNvPicPr>
            <a:picLocks noChangeAspect="1"/>
          </p:cNvPicPr>
          <p:nvPr/>
        </p:nvPicPr>
        <p:blipFill>
          <a:blip r:embed="rId7"/>
          <a:stretch>
            <a:fillRect/>
          </a:stretch>
        </p:blipFill>
        <p:spPr>
          <a:xfrm>
            <a:off x="8152735" y="2697334"/>
            <a:ext cx="2451708" cy="1907534"/>
          </a:xfrm>
          <a:prstGeom prst="rect">
            <a:avLst/>
          </a:prstGeom>
        </p:spPr>
      </p:pic>
      <p:sp>
        <p:nvSpPr>
          <p:cNvPr id="32" name="CuadroTexto 31">
            <a:extLst>
              <a:ext uri="{FF2B5EF4-FFF2-40B4-BE49-F238E27FC236}">
                <a16:creationId xmlns:a16="http://schemas.microsoft.com/office/drawing/2014/main" id="{E6748CE1-30B0-6AAC-F668-322E4D6B2FF2}"/>
              </a:ext>
            </a:extLst>
          </p:cNvPr>
          <p:cNvSpPr txBox="1"/>
          <p:nvPr/>
        </p:nvSpPr>
        <p:spPr>
          <a:xfrm>
            <a:off x="3423547" y="41511"/>
            <a:ext cx="5543340" cy="584775"/>
          </a:xfrm>
          <a:prstGeom prst="rect">
            <a:avLst/>
          </a:prstGeom>
          <a:noFill/>
        </p:spPr>
        <p:txBody>
          <a:bodyPr wrap="square">
            <a:spAutoFit/>
          </a:bodyPr>
          <a:lstStyle/>
          <a:p>
            <a:r>
              <a:rPr lang="es-MX" sz="3200" dirty="0">
                <a:effectLst>
                  <a:outerShdw blurRad="38100" dist="38100" dir="2700000" algn="tl">
                    <a:srgbClr val="000000">
                      <a:alpha val="43137"/>
                    </a:srgbClr>
                  </a:outerShdw>
                </a:effectLst>
              </a:rPr>
              <a:t>Expresión Regular a AFND </a:t>
            </a:r>
          </a:p>
        </p:txBody>
      </p:sp>
      <p:pic>
        <p:nvPicPr>
          <p:cNvPr id="34" name="Imagen 33">
            <a:extLst>
              <a:ext uri="{FF2B5EF4-FFF2-40B4-BE49-F238E27FC236}">
                <a16:creationId xmlns:a16="http://schemas.microsoft.com/office/drawing/2014/main" id="{D4D517A3-EA74-7602-8E64-E0EDDD25F05D}"/>
              </a:ext>
            </a:extLst>
          </p:cNvPr>
          <p:cNvPicPr>
            <a:picLocks noChangeAspect="1"/>
          </p:cNvPicPr>
          <p:nvPr/>
        </p:nvPicPr>
        <p:blipFill>
          <a:blip r:embed="rId8"/>
          <a:stretch>
            <a:fillRect/>
          </a:stretch>
        </p:blipFill>
        <p:spPr>
          <a:xfrm>
            <a:off x="9667175" y="4648698"/>
            <a:ext cx="1915646" cy="1912480"/>
          </a:xfrm>
          <a:prstGeom prst="rect">
            <a:avLst/>
          </a:prstGeom>
        </p:spPr>
      </p:pic>
    </p:spTree>
    <p:extLst>
      <p:ext uri="{BB962C8B-B14F-4D97-AF65-F5344CB8AC3E}">
        <p14:creationId xmlns:p14="http://schemas.microsoft.com/office/powerpoint/2010/main" val="24679858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9541266-6784-A730-17A5-F760C0C9F21F}"/>
              </a:ext>
            </a:extLst>
          </p:cNvPr>
          <p:cNvSpPr>
            <a:spLocks noGrp="1"/>
          </p:cNvSpPr>
          <p:nvPr>
            <p:ph type="title"/>
          </p:nvPr>
        </p:nvSpPr>
        <p:spPr/>
        <p:txBody>
          <a:bodyPr/>
          <a:lstStyle/>
          <a:p>
            <a:r>
              <a:rPr lang="es-MX" dirty="0"/>
              <a:t>Minimización de estados a un AF</a:t>
            </a:r>
          </a:p>
        </p:txBody>
      </p:sp>
      <p:sp>
        <p:nvSpPr>
          <p:cNvPr id="3" name="Marcador de contenido 2">
            <a:extLst>
              <a:ext uri="{FF2B5EF4-FFF2-40B4-BE49-F238E27FC236}">
                <a16:creationId xmlns:a16="http://schemas.microsoft.com/office/drawing/2014/main" id="{4CE552DE-DC26-ABFA-4277-B7DB220D9EDD}"/>
              </a:ext>
            </a:extLst>
          </p:cNvPr>
          <p:cNvSpPr>
            <a:spLocks noGrp="1"/>
          </p:cNvSpPr>
          <p:nvPr>
            <p:ph idx="1"/>
          </p:nvPr>
        </p:nvSpPr>
        <p:spPr>
          <a:xfrm>
            <a:off x="330675" y="1387929"/>
            <a:ext cx="3991429" cy="609600"/>
          </a:xfrm>
        </p:spPr>
        <p:txBody>
          <a:bodyPr>
            <a:normAutofit lnSpcReduction="10000"/>
          </a:bodyPr>
          <a:lstStyle/>
          <a:p>
            <a:r>
              <a:rPr lang="es-MX" dirty="0"/>
              <a:t>Crearemos nuestro autómata finito de la siguiente manera </a:t>
            </a:r>
          </a:p>
        </p:txBody>
      </p:sp>
      <p:pic>
        <p:nvPicPr>
          <p:cNvPr id="5" name="Imagen 4">
            <a:extLst>
              <a:ext uri="{FF2B5EF4-FFF2-40B4-BE49-F238E27FC236}">
                <a16:creationId xmlns:a16="http://schemas.microsoft.com/office/drawing/2014/main" id="{49DCFD95-541B-FD41-EF6E-691AEA315237}"/>
              </a:ext>
            </a:extLst>
          </p:cNvPr>
          <p:cNvPicPr>
            <a:picLocks noChangeAspect="1"/>
          </p:cNvPicPr>
          <p:nvPr/>
        </p:nvPicPr>
        <p:blipFill>
          <a:blip r:embed="rId2"/>
          <a:stretch>
            <a:fillRect/>
          </a:stretch>
        </p:blipFill>
        <p:spPr>
          <a:xfrm>
            <a:off x="536100" y="2090057"/>
            <a:ext cx="3786004" cy="2606831"/>
          </a:xfrm>
          <a:prstGeom prst="rect">
            <a:avLst/>
          </a:prstGeom>
        </p:spPr>
      </p:pic>
      <p:sp>
        <p:nvSpPr>
          <p:cNvPr id="6" name="CuadroTexto 5">
            <a:extLst>
              <a:ext uri="{FF2B5EF4-FFF2-40B4-BE49-F238E27FC236}">
                <a16:creationId xmlns:a16="http://schemas.microsoft.com/office/drawing/2014/main" id="{D1F8AE17-DC74-5A69-79C5-D03FAF95DCB5}"/>
              </a:ext>
            </a:extLst>
          </p:cNvPr>
          <p:cNvSpPr txBox="1"/>
          <p:nvPr/>
        </p:nvSpPr>
        <p:spPr>
          <a:xfrm>
            <a:off x="536100" y="4833257"/>
            <a:ext cx="3991429" cy="923330"/>
          </a:xfrm>
          <a:prstGeom prst="rect">
            <a:avLst/>
          </a:prstGeom>
          <a:noFill/>
        </p:spPr>
        <p:txBody>
          <a:bodyPr wrap="square" rtlCol="0">
            <a:spAutoFit/>
          </a:bodyPr>
          <a:lstStyle/>
          <a:p>
            <a:r>
              <a:rPr lang="es-MX" dirty="0"/>
              <a:t>Se aplican estados de esta manera para poder realizar la minimización de estados</a:t>
            </a:r>
          </a:p>
        </p:txBody>
      </p:sp>
      <p:pic>
        <p:nvPicPr>
          <p:cNvPr id="8" name="Imagen 7">
            <a:extLst>
              <a:ext uri="{FF2B5EF4-FFF2-40B4-BE49-F238E27FC236}">
                <a16:creationId xmlns:a16="http://schemas.microsoft.com/office/drawing/2014/main" id="{C8744254-AAF1-DA5D-C131-AA44A7EE3238}"/>
              </a:ext>
            </a:extLst>
          </p:cNvPr>
          <p:cNvPicPr>
            <a:picLocks noChangeAspect="1"/>
          </p:cNvPicPr>
          <p:nvPr/>
        </p:nvPicPr>
        <p:blipFill>
          <a:blip r:embed="rId3"/>
          <a:stretch>
            <a:fillRect/>
          </a:stretch>
        </p:blipFill>
        <p:spPr>
          <a:xfrm>
            <a:off x="5217392" y="2218471"/>
            <a:ext cx="2201663" cy="1103706"/>
          </a:xfrm>
          <a:prstGeom prst="rect">
            <a:avLst/>
          </a:prstGeom>
        </p:spPr>
      </p:pic>
      <p:sp>
        <p:nvSpPr>
          <p:cNvPr id="9" name="CuadroTexto 8">
            <a:extLst>
              <a:ext uri="{FF2B5EF4-FFF2-40B4-BE49-F238E27FC236}">
                <a16:creationId xmlns:a16="http://schemas.microsoft.com/office/drawing/2014/main" id="{2FD21F79-98DA-9E43-9115-1281B84D89ED}"/>
              </a:ext>
            </a:extLst>
          </p:cNvPr>
          <p:cNvSpPr txBox="1"/>
          <p:nvPr/>
        </p:nvSpPr>
        <p:spPr>
          <a:xfrm>
            <a:off x="4717143" y="1387929"/>
            <a:ext cx="3991429" cy="923330"/>
          </a:xfrm>
          <a:prstGeom prst="rect">
            <a:avLst/>
          </a:prstGeom>
          <a:noFill/>
        </p:spPr>
        <p:txBody>
          <a:bodyPr wrap="square" rtlCol="0">
            <a:spAutoFit/>
          </a:bodyPr>
          <a:lstStyle/>
          <a:p>
            <a:r>
              <a:rPr lang="es-MX" dirty="0"/>
              <a:t>En la parte superior de nuestro editor nos iremos a </a:t>
            </a:r>
            <a:r>
              <a:rPr lang="es-MX" dirty="0" err="1"/>
              <a:t>convert</a:t>
            </a:r>
            <a:r>
              <a:rPr lang="es-MX" dirty="0"/>
              <a:t> y </a:t>
            </a:r>
            <a:r>
              <a:rPr lang="es-MX" dirty="0" err="1"/>
              <a:t>minimize</a:t>
            </a:r>
            <a:endParaRPr lang="es-MX" dirty="0"/>
          </a:p>
        </p:txBody>
      </p:sp>
      <p:pic>
        <p:nvPicPr>
          <p:cNvPr id="11" name="Imagen 10">
            <a:extLst>
              <a:ext uri="{FF2B5EF4-FFF2-40B4-BE49-F238E27FC236}">
                <a16:creationId xmlns:a16="http://schemas.microsoft.com/office/drawing/2014/main" id="{42401087-DEE3-5C20-0810-6F758F48664F}"/>
              </a:ext>
            </a:extLst>
          </p:cNvPr>
          <p:cNvPicPr>
            <a:picLocks noChangeAspect="1"/>
          </p:cNvPicPr>
          <p:nvPr/>
        </p:nvPicPr>
        <p:blipFill>
          <a:blip r:embed="rId4"/>
          <a:stretch>
            <a:fillRect/>
          </a:stretch>
        </p:blipFill>
        <p:spPr>
          <a:xfrm>
            <a:off x="4953880" y="4220221"/>
            <a:ext cx="3130965" cy="2350057"/>
          </a:xfrm>
          <a:prstGeom prst="rect">
            <a:avLst/>
          </a:prstGeom>
        </p:spPr>
      </p:pic>
      <p:sp>
        <p:nvSpPr>
          <p:cNvPr id="12" name="CuadroTexto 11">
            <a:extLst>
              <a:ext uri="{FF2B5EF4-FFF2-40B4-BE49-F238E27FC236}">
                <a16:creationId xmlns:a16="http://schemas.microsoft.com/office/drawing/2014/main" id="{08711680-3D93-4957-6F97-0ADCE0F08359}"/>
              </a:ext>
            </a:extLst>
          </p:cNvPr>
          <p:cNvSpPr txBox="1"/>
          <p:nvPr/>
        </p:nvSpPr>
        <p:spPr>
          <a:xfrm>
            <a:off x="4589688" y="3393472"/>
            <a:ext cx="3651271" cy="923330"/>
          </a:xfrm>
          <a:prstGeom prst="rect">
            <a:avLst/>
          </a:prstGeom>
          <a:noFill/>
        </p:spPr>
        <p:txBody>
          <a:bodyPr wrap="square" rtlCol="0">
            <a:spAutoFit/>
          </a:bodyPr>
          <a:lstStyle/>
          <a:p>
            <a:r>
              <a:rPr lang="es-MX" dirty="0"/>
              <a:t>Aquí se ya se realizo la minimización del autómata finito como se espero:</a:t>
            </a:r>
          </a:p>
        </p:txBody>
      </p:sp>
      <p:sp>
        <p:nvSpPr>
          <p:cNvPr id="13" name="CuadroTexto 12">
            <a:extLst>
              <a:ext uri="{FF2B5EF4-FFF2-40B4-BE49-F238E27FC236}">
                <a16:creationId xmlns:a16="http://schemas.microsoft.com/office/drawing/2014/main" id="{9BE33423-5C47-49AE-A4C1-9B36D0DF1C5F}"/>
              </a:ext>
            </a:extLst>
          </p:cNvPr>
          <p:cNvSpPr txBox="1"/>
          <p:nvPr/>
        </p:nvSpPr>
        <p:spPr>
          <a:xfrm>
            <a:off x="8708572" y="2927533"/>
            <a:ext cx="3106057" cy="1477328"/>
          </a:xfrm>
          <a:prstGeom prst="rect">
            <a:avLst/>
          </a:prstGeom>
          <a:noFill/>
        </p:spPr>
        <p:txBody>
          <a:bodyPr wrap="square" rtlCol="0">
            <a:spAutoFit/>
          </a:bodyPr>
          <a:lstStyle/>
          <a:p>
            <a:r>
              <a:rPr lang="es-MX" b="1" i="1" dirty="0"/>
              <a:t>Nota: en dado caos que el autómata no este bien elaborado o sea de otro tipo no se podrá realizar la minimización.</a:t>
            </a:r>
          </a:p>
        </p:txBody>
      </p:sp>
      <p:sp>
        <p:nvSpPr>
          <p:cNvPr id="14" name="Rectángulo 13">
            <a:extLst>
              <a:ext uri="{FF2B5EF4-FFF2-40B4-BE49-F238E27FC236}">
                <a16:creationId xmlns:a16="http://schemas.microsoft.com/office/drawing/2014/main" id="{AE805496-49DD-7040-F4B6-BD73E2949257}"/>
              </a:ext>
            </a:extLst>
          </p:cNvPr>
          <p:cNvSpPr/>
          <p:nvPr/>
        </p:nvSpPr>
        <p:spPr>
          <a:xfrm>
            <a:off x="63780" y="1251560"/>
            <a:ext cx="4463749" cy="4815411"/>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5" name="Rectángulo 14">
            <a:extLst>
              <a:ext uri="{FF2B5EF4-FFF2-40B4-BE49-F238E27FC236}">
                <a16:creationId xmlns:a16="http://schemas.microsoft.com/office/drawing/2014/main" id="{70040796-44FE-990C-E902-4BD0DE95730F}"/>
              </a:ext>
            </a:extLst>
          </p:cNvPr>
          <p:cNvSpPr/>
          <p:nvPr/>
        </p:nvSpPr>
        <p:spPr>
          <a:xfrm>
            <a:off x="4679929" y="1273627"/>
            <a:ext cx="3651271" cy="5444687"/>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Tree>
    <p:extLst>
      <p:ext uri="{BB962C8B-B14F-4D97-AF65-F5344CB8AC3E}">
        <p14:creationId xmlns:p14="http://schemas.microsoft.com/office/powerpoint/2010/main" val="9251148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AE0D446-7E95-EA1F-5B28-6C9E748B4E6C}"/>
              </a:ext>
            </a:extLst>
          </p:cNvPr>
          <p:cNvSpPr>
            <a:spLocks noGrp="1"/>
          </p:cNvSpPr>
          <p:nvPr>
            <p:ph type="title"/>
          </p:nvPr>
        </p:nvSpPr>
        <p:spPr>
          <a:xfrm>
            <a:off x="1642013" y="624110"/>
            <a:ext cx="8911687" cy="1280890"/>
          </a:xfrm>
        </p:spPr>
        <p:txBody>
          <a:bodyPr/>
          <a:lstStyle/>
          <a:p>
            <a:r>
              <a:rPr lang="es-MX" dirty="0"/>
              <a:t>conclusión</a:t>
            </a:r>
          </a:p>
        </p:txBody>
      </p:sp>
      <p:sp>
        <p:nvSpPr>
          <p:cNvPr id="3" name="Marcador de contenido 2">
            <a:extLst>
              <a:ext uri="{FF2B5EF4-FFF2-40B4-BE49-F238E27FC236}">
                <a16:creationId xmlns:a16="http://schemas.microsoft.com/office/drawing/2014/main" id="{DAB874C2-6128-A320-4EB3-4124BFEB906C}"/>
              </a:ext>
            </a:extLst>
          </p:cNvPr>
          <p:cNvSpPr>
            <a:spLocks noGrp="1"/>
          </p:cNvSpPr>
          <p:nvPr>
            <p:ph idx="1"/>
          </p:nvPr>
        </p:nvSpPr>
        <p:spPr>
          <a:xfrm>
            <a:off x="1638300" y="1905000"/>
            <a:ext cx="8915400" cy="1654629"/>
          </a:xfrm>
        </p:spPr>
        <p:txBody>
          <a:bodyPr/>
          <a:lstStyle/>
          <a:p>
            <a:pPr marL="0" indent="0" algn="just">
              <a:buNone/>
            </a:pPr>
            <a:r>
              <a:rPr lang="es-MX" dirty="0"/>
              <a:t>Estos ejercicios refuerzan el manejo de modelos finitos para lenguajes regulares, validando su equivalencia mediante conversiones y simulaciones precisas. Así, se consolidan competencias fundamentales en teoría de la computación, preparando para desafíos avanzados en programación y sistemas.</a:t>
            </a:r>
          </a:p>
        </p:txBody>
      </p:sp>
    </p:spTree>
    <p:extLst>
      <p:ext uri="{BB962C8B-B14F-4D97-AF65-F5344CB8AC3E}">
        <p14:creationId xmlns:p14="http://schemas.microsoft.com/office/powerpoint/2010/main" val="361202703"/>
      </p:ext>
    </p:extLst>
  </p:cSld>
  <p:clrMapOvr>
    <a:masterClrMapping/>
  </p:clrMapOvr>
</p:sld>
</file>

<file path=ppt/theme/theme1.xml><?xml version="1.0" encoding="utf-8"?>
<a:theme xmlns:a="http://schemas.openxmlformats.org/drawingml/2006/main" name="Espiral">
  <a:themeElements>
    <a:clrScheme name="Espiral">
      <a:dk1>
        <a:sysClr val="windowText" lastClr="000000"/>
      </a:dk1>
      <a:lt1>
        <a:sysClr val="window" lastClr="FFFFFF"/>
      </a:lt1>
      <a:dk2>
        <a:srgbClr val="2E5369"/>
      </a:dk2>
      <a:lt2>
        <a:srgbClr val="CFE2E7"/>
      </a:lt2>
      <a:accent1>
        <a:srgbClr val="353535"/>
      </a:accent1>
      <a:accent2>
        <a:srgbClr val="31B4E6"/>
      </a:accent2>
      <a:accent3>
        <a:srgbClr val="265991"/>
      </a:accent3>
      <a:accent4>
        <a:srgbClr val="7E40CC"/>
      </a:accent4>
      <a:accent5>
        <a:srgbClr val="B927E9"/>
      </a:accent5>
      <a:accent6>
        <a:srgbClr val="E833BF"/>
      </a:accent6>
      <a:hlink>
        <a:srgbClr val="2DA0F1"/>
      </a:hlink>
      <a:folHlink>
        <a:srgbClr val="7ED1E6"/>
      </a:folHlink>
    </a:clrScheme>
    <a:fontScheme name="Espiral">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Espiral">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4F34B87B-9C7A-41AE-A6CB-48536223DFFD}"/>
    </a:ext>
  </a:extLst>
</a:theme>
</file>

<file path=docProps/app.xml><?xml version="1.0" encoding="utf-8"?>
<Properties xmlns="http://schemas.openxmlformats.org/officeDocument/2006/extended-properties" xmlns:vt="http://schemas.openxmlformats.org/officeDocument/2006/docPropsVTypes">
  <Template>TM02892315[[fn=Espiral]]</Template>
  <TotalTime>994</TotalTime>
  <Words>521</Words>
  <Application>Microsoft Office PowerPoint</Application>
  <PresentationFormat>Panorámica</PresentationFormat>
  <Paragraphs>64</Paragraphs>
  <Slides>8</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8</vt:i4>
      </vt:variant>
    </vt:vector>
  </HeadingPairs>
  <TitlesOfParts>
    <vt:vector size="12" baseType="lpstr">
      <vt:lpstr>Arial</vt:lpstr>
      <vt:lpstr>Century Gothic</vt:lpstr>
      <vt:lpstr>Wingdings 3</vt:lpstr>
      <vt:lpstr>Espiral</vt:lpstr>
      <vt:lpstr>Presentación de PowerPoint</vt:lpstr>
      <vt:lpstr>introducción</vt:lpstr>
      <vt:lpstr>justificación</vt:lpstr>
      <vt:lpstr>Recordatorio del reporte de practica anterior:</vt:lpstr>
      <vt:lpstr> Conversión de un AFND a AFD.</vt:lpstr>
      <vt:lpstr>Ejercicio 2 </vt:lpstr>
      <vt:lpstr>Minimización de estados a un AF</vt:lpstr>
      <vt:lpstr>conclusión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HP 840 G5</dc:creator>
  <cp:lastModifiedBy>HP 840 G5</cp:lastModifiedBy>
  <cp:revision>14</cp:revision>
  <dcterms:created xsi:type="dcterms:W3CDTF">2026-02-21T22:39:36Z</dcterms:created>
  <dcterms:modified xsi:type="dcterms:W3CDTF">2026-03-16T15:27:40Z</dcterms:modified>
</cp:coreProperties>
</file>